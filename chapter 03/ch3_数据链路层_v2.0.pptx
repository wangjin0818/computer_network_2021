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1"/>
  </p:notesMasterIdLst>
  <p:sldIdLst>
    <p:sldId id="256" r:id="rId2"/>
    <p:sldId id="991" r:id="rId3"/>
    <p:sldId id="1004" r:id="rId4"/>
    <p:sldId id="1078" r:id="rId5"/>
    <p:sldId id="1097" r:id="rId6"/>
    <p:sldId id="1017" r:id="rId7"/>
    <p:sldId id="1018" r:id="rId8"/>
    <p:sldId id="1100" r:id="rId9"/>
    <p:sldId id="1101" r:id="rId10"/>
    <p:sldId id="1102" r:id="rId11"/>
    <p:sldId id="1103" r:id="rId12"/>
    <p:sldId id="1104" r:id="rId13"/>
    <p:sldId id="1105" r:id="rId14"/>
    <p:sldId id="1106" r:id="rId15"/>
    <p:sldId id="1108" r:id="rId16"/>
    <p:sldId id="1109" r:id="rId17"/>
    <p:sldId id="1110" r:id="rId18"/>
    <p:sldId id="1111" r:id="rId19"/>
    <p:sldId id="1028" r:id="rId20"/>
    <p:sldId id="1217" r:id="rId21"/>
    <p:sldId id="1218" r:id="rId22"/>
    <p:sldId id="1219" r:id="rId23"/>
    <p:sldId id="1221" r:id="rId24"/>
    <p:sldId id="1220" r:id="rId25"/>
    <p:sldId id="1222" r:id="rId26"/>
    <p:sldId id="1223" r:id="rId27"/>
    <p:sldId id="1244" r:id="rId28"/>
    <p:sldId id="1225" r:id="rId29"/>
    <p:sldId id="1240" r:id="rId30"/>
    <p:sldId id="1241" r:id="rId31"/>
    <p:sldId id="1242" r:id="rId32"/>
    <p:sldId id="1243" r:id="rId33"/>
    <p:sldId id="1224" r:id="rId34"/>
    <p:sldId id="1226" r:id="rId35"/>
    <p:sldId id="1227" r:id="rId36"/>
    <p:sldId id="1228" r:id="rId37"/>
    <p:sldId id="1229" r:id="rId38"/>
    <p:sldId id="1230" r:id="rId39"/>
    <p:sldId id="1231" r:id="rId40"/>
    <p:sldId id="1232" r:id="rId41"/>
    <p:sldId id="1008" r:id="rId42"/>
    <p:sldId id="1052" r:id="rId43"/>
    <p:sldId id="1179" r:id="rId44"/>
    <p:sldId id="1178" r:id="rId45"/>
    <p:sldId id="1180" r:id="rId46"/>
    <p:sldId id="1058" r:id="rId47"/>
    <p:sldId id="287" r:id="rId48"/>
    <p:sldId id="1059" r:id="rId49"/>
    <p:sldId id="284" r:id="rId50"/>
    <p:sldId id="285" r:id="rId51"/>
    <p:sldId id="286" r:id="rId52"/>
    <p:sldId id="1060" r:id="rId53"/>
    <p:sldId id="1239" r:id="rId54"/>
    <p:sldId id="1062" r:id="rId55"/>
    <p:sldId id="1063" r:id="rId56"/>
    <p:sldId id="292" r:id="rId57"/>
    <p:sldId id="297" r:id="rId58"/>
    <p:sldId id="304" r:id="rId59"/>
    <p:sldId id="1064" r:id="rId60"/>
    <p:sldId id="298" r:id="rId61"/>
    <p:sldId id="1065" r:id="rId62"/>
    <p:sldId id="299" r:id="rId63"/>
    <p:sldId id="296" r:id="rId64"/>
    <p:sldId id="300" r:id="rId65"/>
    <p:sldId id="1066" r:id="rId66"/>
    <p:sldId id="301" r:id="rId67"/>
    <p:sldId id="1238" r:id="rId68"/>
    <p:sldId id="1181" r:id="rId69"/>
    <p:sldId id="1183" r:id="rId70"/>
    <p:sldId id="1184" r:id="rId71"/>
    <p:sldId id="1185" r:id="rId72"/>
    <p:sldId id="1186" r:id="rId73"/>
    <p:sldId id="1188" r:id="rId74"/>
    <p:sldId id="1190" r:id="rId75"/>
    <p:sldId id="1191" r:id="rId76"/>
    <p:sldId id="1192" r:id="rId77"/>
    <p:sldId id="1193" r:id="rId78"/>
    <p:sldId id="1194" r:id="rId79"/>
    <p:sldId id="994" r:id="rId8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A2D3"/>
    <a:srgbClr val="6600FF"/>
    <a:srgbClr val="6666FF"/>
    <a:srgbClr val="6900B0"/>
    <a:srgbClr val="5B307E"/>
    <a:srgbClr val="FDCB0B"/>
    <a:srgbClr val="FFD700"/>
    <a:srgbClr val="F9BC12"/>
    <a:srgbClr val="FFD801"/>
    <a:srgbClr val="EFB9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08" autoAdjust="0"/>
    <p:restoredTop sz="88024" autoAdjust="0"/>
  </p:normalViewPr>
  <p:slideViewPr>
    <p:cSldViewPr snapToGrid="0" snapToObjects="1">
      <p:cViewPr varScale="1">
        <p:scale>
          <a:sx n="76" d="100"/>
          <a:sy n="76" d="100"/>
        </p:scale>
        <p:origin x="662" y="48"/>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2021/4/15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r>
              <a:rPr lang="en-US" altLang="zh-CN" dirty="0"/>
              <a:t>1</a:t>
            </a:r>
            <a:r>
              <a:rPr lang="zh-CN" altLang="en-US" dirty="0"/>
              <a:t>、数据链路层位于物理层之上</a:t>
            </a:r>
            <a:endParaRPr lang="en-US" altLang="zh-CN" dirty="0"/>
          </a:p>
          <a:p>
            <a:r>
              <a:rPr lang="en-US" altLang="zh-CN" dirty="0"/>
              <a:t>2</a:t>
            </a:r>
            <a:r>
              <a:rPr lang="zh-CN" altLang="en-US" dirty="0"/>
              <a:t>、对于局域网，数据链路层被划分成介质访问控制层和逻辑链路控制层</a:t>
            </a:r>
            <a:endParaRPr lang="en-US" altLang="zh-CN" dirty="0"/>
          </a:p>
          <a:p>
            <a:r>
              <a:rPr lang="en-US" altLang="zh-CN" dirty="0"/>
              <a:t>3</a:t>
            </a:r>
            <a:r>
              <a:rPr lang="zh-CN" altLang="en-US" dirty="0"/>
              <a:t>、本章主要以点到点链路为基础（相邻的两个节点之间），介绍数据链路层的基本功能和提供的服务类型，对于局域网的介质访问控制方法及相关局域网技术将在下一章进行介绍</a:t>
            </a: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a:t>
            </a:fld>
            <a:endParaRPr kumimoji="1" lang="zh-CN" altLang="en-US"/>
          </a:p>
        </p:txBody>
      </p:sp>
    </p:spTree>
    <p:extLst>
      <p:ext uri="{BB962C8B-B14F-4D97-AF65-F5344CB8AC3E}">
        <p14:creationId xmlns:p14="http://schemas.microsoft.com/office/powerpoint/2010/main" val="454041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数据链路层主要通过成帧（</a:t>
            </a:r>
            <a:r>
              <a:rPr lang="en-US" altLang="zh-CN" sz="1200" dirty="0"/>
              <a:t>framing</a:t>
            </a:r>
            <a:r>
              <a:rPr lang="zh-CN" altLang="en-US" sz="1200" dirty="0"/>
              <a:t>），提供差错控制 和 流量控制 能力，并对网络层提供服务。</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a:t>
            </a:fld>
            <a:endParaRPr kumimoji="1" lang="zh-CN" altLang="en-US"/>
          </a:p>
        </p:txBody>
      </p:sp>
    </p:spTree>
    <p:extLst>
      <p:ext uri="{BB962C8B-B14F-4D97-AF65-F5344CB8AC3E}">
        <p14:creationId xmlns:p14="http://schemas.microsoft.com/office/powerpoint/2010/main" val="4067662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1992427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数据链路层数据单元称为帧（</a:t>
            </a:r>
            <a:r>
              <a:rPr lang="en-US" altLang="zh-CN" dirty="0"/>
              <a:t>Frame</a:t>
            </a:r>
            <a:r>
              <a:rPr lang="zh-CN" altLang="en-US" dirty="0"/>
              <a:t>），通常由头标（</a:t>
            </a:r>
            <a:r>
              <a:rPr lang="en-US" altLang="zh-CN" dirty="0"/>
              <a:t>Header</a:t>
            </a:r>
            <a:r>
              <a:rPr lang="zh-CN" altLang="en-US" dirty="0"/>
              <a:t>）、尾标（</a:t>
            </a:r>
            <a:r>
              <a:rPr lang="en-US" altLang="zh-CN" dirty="0"/>
              <a:t>Trailer</a:t>
            </a:r>
            <a:r>
              <a:rPr lang="zh-CN" altLang="en-US" dirty="0"/>
              <a:t>）、有效载荷构成，有效载荷部分封装上层（网络层）数据单元（分组，</a:t>
            </a:r>
            <a:r>
              <a:rPr lang="en-US" altLang="zh-CN" dirty="0"/>
              <a:t>packet</a:t>
            </a:r>
            <a:r>
              <a:rPr lang="zh-CN" altLang="en-US" dirty="0"/>
              <a:t>），帧之间有帧分隔符（帧定界符）</a:t>
            </a: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7</a:t>
            </a:fld>
            <a:endParaRPr kumimoji="1" lang="zh-CN" altLang="en-US"/>
          </a:p>
        </p:txBody>
      </p:sp>
    </p:spTree>
    <p:extLst>
      <p:ext uri="{BB962C8B-B14F-4D97-AF65-F5344CB8AC3E}">
        <p14:creationId xmlns:p14="http://schemas.microsoft.com/office/powerpoint/2010/main" val="387174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、成帧中的一个关键问题：如何定界一个帧的开始？</a:t>
            </a:r>
            <a:endParaRPr lang="en-US" altLang="zh-CN" dirty="0"/>
          </a:p>
          <a:p>
            <a:r>
              <a:rPr lang="en-US" altLang="zh-CN" dirty="0"/>
              <a:t>2</a:t>
            </a:r>
            <a:r>
              <a:rPr lang="zh-CN" altLang="en-US" dirty="0"/>
              <a:t>、基于不同的定界方法，成帧方式可以包含所列四种类型，并在后面对四种类型进行介绍</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138979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、如果出现的差错，正好是一帧的计数，就会破坏帧的边界，导致一连串帧的错误，接收方会失去同步。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、字节计数法很少使用</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930017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用一个特殊字节标识帧的开始和结束。</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1802147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、字节填充：对有效载荷部分中出现定界符的处理，即在出现的定界字符之前插入转义字节</a:t>
            </a:r>
            <a:r>
              <a:rPr lang="en-US" altLang="zh-CN" dirty="0"/>
              <a:t>ESC</a:t>
            </a:r>
            <a:r>
              <a:rPr lang="zh-CN" altLang="en-US" dirty="0"/>
              <a:t>，称为字节填充。</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、发送方：仅对</a:t>
            </a:r>
            <a:r>
              <a:rPr lang="zh-CN" altLang="en-US" baseline="0" dirty="0"/>
              <a:t> 有效载荷 部分，进行填充。</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1802774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接收方：对所有接收到的数据进行检查。</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1952001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接收方：对所有接收到的数据进行检查。</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949251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用一个特殊位组合标识帧的开始和结束。</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548866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、比特填充：对有效载荷部分中出现定界符的处理，即避免连续六个</a:t>
            </a:r>
            <a:r>
              <a:rPr lang="en-US" altLang="zh-CN" dirty="0"/>
              <a:t>1</a:t>
            </a:r>
            <a:r>
              <a:rPr lang="zh-CN" altLang="en-US" dirty="0"/>
              <a:t>出现，在连续</a:t>
            </a:r>
            <a:r>
              <a:rPr lang="en-US" altLang="zh-CN" dirty="0"/>
              <a:t>5</a:t>
            </a:r>
            <a:r>
              <a:rPr lang="zh-CN" altLang="en-US" dirty="0"/>
              <a:t>个</a:t>
            </a:r>
            <a:r>
              <a:rPr lang="en-US" altLang="zh-CN" dirty="0"/>
              <a:t>1</a:t>
            </a:r>
            <a:r>
              <a:rPr lang="zh-CN" altLang="en-US" dirty="0"/>
              <a:t>比特之后插入</a:t>
            </a:r>
            <a:r>
              <a:rPr lang="en-US" altLang="zh-CN" dirty="0"/>
              <a:t>1</a:t>
            </a:r>
            <a:r>
              <a:rPr lang="zh-CN" altLang="en-US" dirty="0"/>
              <a:t>个</a:t>
            </a:r>
            <a:r>
              <a:rPr lang="en-US" altLang="zh-CN" dirty="0"/>
              <a:t>0</a:t>
            </a:r>
            <a:r>
              <a:rPr lang="zh-CN" altLang="en-US" dirty="0"/>
              <a:t>比特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、发送方：仅对</a:t>
            </a:r>
            <a:r>
              <a:rPr lang="zh-CN" altLang="en-US" baseline="0" dirty="0"/>
              <a:t> 有效载荷 部分，进行填充。</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1341559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、接收方：对所有接收到的数据进行检查。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、比特填充和字节填充均会带来帧的长度与携带的内容相关，即取决于填充字节或比特的数量</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580776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核心思想：使用特殊的定界符，保证在正常的编码中不太容易产生或不会产生相应的信号</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2200765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乱序在点到点链路中一般不会出现。</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1279943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pPr marL="171450" indent="-171450">
              <a:buFont typeface="Arial" panose="020B0604020202020204" pitchFamily="34" charset="0"/>
              <a:buChar char="•"/>
            </a:pPr>
            <a:r>
              <a:rPr lang="zh-CN" altLang="en-US" dirty="0"/>
              <a:t>发送发：每个比特传三份</a:t>
            </a:r>
            <a:endParaRPr lang="en-US" altLang="zh-CN" dirty="0"/>
          </a:p>
          <a:p>
            <a:pPr marL="171450" indent="-171450">
              <a:buFont typeface="Arial" panose="020B0604020202020204" pitchFamily="34" charset="0"/>
              <a:buChar char="•"/>
            </a:pPr>
            <a:r>
              <a:rPr lang="zh-CN" altLang="en-US" dirty="0"/>
              <a:t>接收方：</a:t>
            </a:r>
            <a:endParaRPr lang="en-US" altLang="zh-CN" dirty="0"/>
          </a:p>
          <a:p>
            <a:pPr marL="171450" indent="-171450">
              <a:buFont typeface="微软雅黑" panose="020B0503020204020204" pitchFamily="34" charset="-122"/>
              <a:buChar char="−"/>
            </a:pPr>
            <a:r>
              <a:rPr lang="zh-CN" altLang="en-US" dirty="0"/>
              <a:t>比较每个比特的三份，如果不一致，能识别出传输错误；</a:t>
            </a:r>
            <a:endParaRPr lang="en-US" altLang="zh-CN" dirty="0"/>
          </a:p>
          <a:p>
            <a:pPr marL="171450" indent="-171450">
              <a:buFont typeface="微软雅黑" panose="020B0503020204020204" pitchFamily="34" charset="-122"/>
              <a:buChar char="−"/>
            </a:pPr>
            <a:r>
              <a:rPr lang="zh-CN" altLang="en-US" dirty="0"/>
              <a:t>如果三比特中只有一位错，则可以以其中相同的两位为准，对不同的位进行纠正。</a:t>
            </a:r>
            <a:endParaRPr lang="en-US" altLang="zh-CN" dirty="0"/>
          </a:p>
          <a:p>
            <a:pPr marL="171450" indent="-171450">
              <a:buFont typeface="Arial" panose="020B0604020202020204" pitchFamily="34" charset="0"/>
              <a:buChar char="•"/>
            </a:pPr>
            <a:r>
              <a:rPr lang="zh-CN" altLang="en-US" dirty="0"/>
              <a:t>携带</a:t>
            </a:r>
            <a:r>
              <a:rPr lang="en-US" altLang="zh-CN" dirty="0"/>
              <a:t>2/3</a:t>
            </a:r>
            <a:r>
              <a:rPr lang="zh-CN" altLang="en-US" dirty="0"/>
              <a:t>的冗余信息，冗余信息量大，如蓝牙中的</a:t>
            </a:r>
            <a:r>
              <a:rPr lang="en-US" altLang="zh-CN" dirty="0"/>
              <a:t>1/3FEC</a:t>
            </a:r>
            <a:r>
              <a:rPr lang="zh-CN" altLang="en-US" dirty="0"/>
              <a:t>采用了类似的方法</a:t>
            </a:r>
            <a:endParaRPr lang="en-US" altLang="zh-CN" dirty="0"/>
          </a:p>
          <a:p>
            <a:pPr marL="0" indent="0">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1343805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选择错略具体策略取决于信道特征：例如，误码率较高的无线链路和误码率较低的光纤链路，需要不同的策略。</a:t>
            </a:r>
            <a:endParaRPr kumimoji="1"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37494739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根据信道的不同会选择不同的码率：在有噪声信道上可能为</a:t>
            </a:r>
            <a:r>
              <a:rPr lang="en-US" altLang="zh-CN" dirty="0"/>
              <a:t>1/2</a:t>
            </a:r>
            <a:r>
              <a:rPr lang="zh-CN" altLang="en-US" dirty="0"/>
              <a:t>，在高质量信道上可能接近</a:t>
            </a:r>
            <a:r>
              <a:rPr lang="en-US" altLang="zh-CN" dirty="0"/>
              <a:t>1</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25</a:t>
            </a:fld>
            <a:endParaRPr kumimoji="1" lang="zh-CN" altLang="en-US"/>
          </a:p>
        </p:txBody>
      </p:sp>
    </p:spTree>
    <p:extLst>
      <p:ext uri="{BB962C8B-B14F-4D97-AF65-F5344CB8AC3E}">
        <p14:creationId xmlns:p14="http://schemas.microsoft.com/office/powerpoint/2010/main" val="577936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4025868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0BE1D19-F9E4-41D8-88AB-F75072E4C5D4}" type="slidenum">
              <a:rPr lang="en-US" altLang="zh-CN"/>
              <a:pPr>
                <a:spcBef>
                  <a:spcPct val="0"/>
                </a:spcBef>
              </a:pPr>
              <a:t>27</a:t>
            </a:fld>
            <a:endParaRPr lang="en-US" altLang="zh-CN"/>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8031634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r>
              <a:rPr lang="en-US" altLang="zh-CN" dirty="0"/>
              <a:t>1</a:t>
            </a:r>
            <a:r>
              <a:rPr lang="zh-CN" altLang="en-US" dirty="0"/>
              <a:t>、海明码利用奇偶校验，是奇偶校验的扩展，首先向学生介绍基本的奇偶校验方法</a:t>
            </a:r>
            <a:endParaRPr lang="en-US" altLang="zh-CN" dirty="0"/>
          </a:p>
          <a:p>
            <a:r>
              <a:rPr lang="en-US" altLang="zh-CN" dirty="0"/>
              <a:t>2</a:t>
            </a:r>
            <a:r>
              <a:rPr lang="zh-CN" altLang="en-US" dirty="0"/>
              <a:t>、</a:t>
            </a:r>
            <a:r>
              <a:rPr lang="en-US" altLang="zh-CN" dirty="0"/>
              <a:t>1</a:t>
            </a:r>
            <a:r>
              <a:rPr lang="zh-CN" altLang="en-US" dirty="0"/>
              <a:t>位奇偶校验，只能检错，不能纠错，校验能力很弱，但可以作为更为复杂方案的重要基础</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3536168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22787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要点：可以引导学生思考接收端的计算方法：直接做除法运算，余数为</a:t>
            </a:r>
            <a:r>
              <a:rPr kumimoji="1" lang="en-US" altLang="zh-CN" dirty="0"/>
              <a:t>0</a:t>
            </a:r>
            <a:r>
              <a:rPr kumimoji="1" lang="zh-CN" altLang="en-US" dirty="0"/>
              <a:t>，则未监测出错误。</a:t>
            </a:r>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3966463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t>31</a:t>
            </a:fld>
            <a:endParaRPr kumimoji="1" lang="zh-CN" altLang="en-US"/>
          </a:p>
        </p:txBody>
      </p:sp>
    </p:spTree>
    <p:extLst>
      <p:ext uri="{BB962C8B-B14F-4D97-AF65-F5344CB8AC3E}">
        <p14:creationId xmlns:p14="http://schemas.microsoft.com/office/powerpoint/2010/main" val="23349028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B0F6816-A5B4-4674-8788-E4794043BB64}" type="slidenum">
              <a:rPr lang="en-US" altLang="zh-CN"/>
              <a:pPr>
                <a:spcBef>
                  <a:spcPct val="0"/>
                </a:spcBef>
              </a:pPr>
              <a:t>32</a:t>
            </a:fld>
            <a:endParaRPr lang="en-US" altLang="zh-CN"/>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4225072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33</a:t>
            </a:fld>
            <a:endParaRPr kumimoji="1" lang="zh-CN" altLang="en-US"/>
          </a:p>
        </p:txBody>
      </p:sp>
    </p:spTree>
    <p:extLst>
      <p:ext uri="{BB962C8B-B14F-4D97-AF65-F5344CB8AC3E}">
        <p14:creationId xmlns:p14="http://schemas.microsoft.com/office/powerpoint/2010/main" val="19942020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34</a:t>
            </a:fld>
            <a:endParaRPr kumimoji="1" lang="zh-CN" altLang="en-US"/>
          </a:p>
        </p:txBody>
      </p:sp>
    </p:spTree>
    <p:extLst>
      <p:ext uri="{BB962C8B-B14F-4D97-AF65-F5344CB8AC3E}">
        <p14:creationId xmlns:p14="http://schemas.microsoft.com/office/powerpoint/2010/main" val="29996091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35</a:t>
            </a:fld>
            <a:endParaRPr kumimoji="1" lang="zh-CN" altLang="en-US"/>
          </a:p>
        </p:txBody>
      </p:sp>
    </p:spTree>
    <p:extLst>
      <p:ext uri="{BB962C8B-B14F-4D97-AF65-F5344CB8AC3E}">
        <p14:creationId xmlns:p14="http://schemas.microsoft.com/office/powerpoint/2010/main" val="28842951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36</a:t>
            </a:fld>
            <a:endParaRPr kumimoji="1" lang="zh-CN" altLang="en-US"/>
          </a:p>
        </p:txBody>
      </p:sp>
    </p:spTree>
    <p:extLst>
      <p:ext uri="{BB962C8B-B14F-4D97-AF65-F5344CB8AC3E}">
        <p14:creationId xmlns:p14="http://schemas.microsoft.com/office/powerpoint/2010/main" val="4778658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37</a:t>
            </a:fld>
            <a:endParaRPr kumimoji="1" lang="zh-CN" altLang="en-US"/>
          </a:p>
        </p:txBody>
      </p:sp>
    </p:spTree>
    <p:extLst>
      <p:ext uri="{BB962C8B-B14F-4D97-AF65-F5344CB8AC3E}">
        <p14:creationId xmlns:p14="http://schemas.microsoft.com/office/powerpoint/2010/main" val="13476462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38</a:t>
            </a:fld>
            <a:endParaRPr kumimoji="1" lang="zh-CN" altLang="en-US"/>
          </a:p>
        </p:txBody>
      </p:sp>
    </p:spTree>
    <p:extLst>
      <p:ext uri="{BB962C8B-B14F-4D97-AF65-F5344CB8AC3E}">
        <p14:creationId xmlns:p14="http://schemas.microsoft.com/office/powerpoint/2010/main" val="36971549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39</a:t>
            </a:fld>
            <a:endParaRPr kumimoji="1" lang="zh-CN" altLang="en-US"/>
          </a:p>
        </p:txBody>
      </p:sp>
    </p:spTree>
    <p:extLst>
      <p:ext uri="{BB962C8B-B14F-4D97-AF65-F5344CB8AC3E}">
        <p14:creationId xmlns:p14="http://schemas.microsoft.com/office/powerpoint/2010/main" val="8729464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40</a:t>
            </a:fld>
            <a:endParaRPr kumimoji="1" lang="zh-CN" altLang="en-US"/>
          </a:p>
        </p:txBody>
      </p:sp>
    </p:spTree>
    <p:extLst>
      <p:ext uri="{BB962C8B-B14F-4D97-AF65-F5344CB8AC3E}">
        <p14:creationId xmlns:p14="http://schemas.microsoft.com/office/powerpoint/2010/main" val="12996142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主要有两种应用情形：</a:t>
            </a:r>
            <a:endParaRPr lang="en-US" altLang="zh-CN" dirty="0"/>
          </a:p>
          <a:p>
            <a:r>
              <a:rPr lang="zh-CN" altLang="en-US" dirty="0"/>
              <a:t>（</a:t>
            </a:r>
            <a:r>
              <a:rPr lang="en-US" altLang="zh-CN" dirty="0"/>
              <a:t>1) </a:t>
            </a:r>
            <a:r>
              <a:rPr lang="zh-CN" altLang="en-US" dirty="0"/>
              <a:t>拥有</a:t>
            </a:r>
            <a:r>
              <a:rPr lang="en-US" altLang="zh-CN" dirty="0"/>
              <a:t>LAN</a:t>
            </a:r>
            <a:r>
              <a:rPr lang="zh-CN" altLang="en-US" dirty="0"/>
              <a:t>的单位，每个</a:t>
            </a:r>
            <a:r>
              <a:rPr lang="en-US" altLang="zh-CN" dirty="0"/>
              <a:t>LAN</a:t>
            </a:r>
            <a:r>
              <a:rPr lang="zh-CN" altLang="en-US" dirty="0"/>
              <a:t>都有一个或者多个路由器与外界联系，它们通过租用线路，链接到远程的路由器，这些路由器与租用线路构成通信子网，</a:t>
            </a:r>
            <a:r>
              <a:rPr lang="en-US" altLang="zh-CN" dirty="0"/>
              <a:t>Internet</a:t>
            </a:r>
            <a:r>
              <a:rPr lang="zh-CN" altLang="en-US" dirty="0"/>
              <a:t>正是在这些通信子网上建立起来的。</a:t>
            </a:r>
            <a:endParaRPr lang="en-US" altLang="zh-CN" dirty="0"/>
          </a:p>
          <a:p>
            <a:r>
              <a:rPr lang="zh-CN" altLang="en-US" dirty="0"/>
              <a:t>（</a:t>
            </a:r>
            <a:r>
              <a:rPr lang="en-US" altLang="zh-CN" dirty="0"/>
              <a:t>2)</a:t>
            </a:r>
            <a:r>
              <a:rPr lang="en-US" altLang="zh-CN" baseline="0" dirty="0"/>
              <a:t> </a:t>
            </a:r>
            <a:r>
              <a:rPr lang="zh-CN" altLang="en-US" dirty="0"/>
              <a:t>个人用户的</a:t>
            </a:r>
            <a:r>
              <a:rPr lang="en-US" altLang="zh-CN" dirty="0"/>
              <a:t>PC</a:t>
            </a:r>
            <a:r>
              <a:rPr lang="zh-CN" altLang="en-US" dirty="0"/>
              <a:t>通过调制解调器呼叫</a:t>
            </a:r>
            <a:r>
              <a:rPr lang="en-US" altLang="zh-CN" dirty="0"/>
              <a:t>Internet</a:t>
            </a:r>
            <a:r>
              <a:rPr lang="zh-CN" altLang="en-US" dirty="0"/>
              <a:t>服务提供商的路由器，来实现与互联网的互连。用户终止会话之后，</a:t>
            </a:r>
            <a:r>
              <a:rPr lang="en-US" altLang="zh-CN" dirty="0"/>
              <a:t>PC</a:t>
            </a:r>
            <a:r>
              <a:rPr lang="zh-CN" altLang="en-US" dirty="0"/>
              <a:t>与路由器之间的链接也就终止。</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42</a:t>
            </a:fld>
            <a:endParaRPr kumimoji="1" lang="zh-CN" altLang="en-US"/>
          </a:p>
        </p:txBody>
      </p:sp>
    </p:spTree>
    <p:extLst>
      <p:ext uri="{BB962C8B-B14F-4D97-AF65-F5344CB8AC3E}">
        <p14:creationId xmlns:p14="http://schemas.microsoft.com/office/powerpoint/2010/main" val="8684970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详细功能说明：</a:t>
            </a:r>
            <a:endParaRPr lang="en-US" altLang="zh-CN" dirty="0"/>
          </a:p>
          <a:p>
            <a:r>
              <a:rPr lang="zh-CN" altLang="en-US" dirty="0"/>
              <a:t>（</a:t>
            </a:r>
            <a:r>
              <a:rPr lang="en-US" altLang="zh-CN" dirty="0"/>
              <a:t>1</a:t>
            </a:r>
            <a:r>
              <a:rPr lang="zh-CN" altLang="en-US" dirty="0"/>
              <a:t>）能够完成通信的简单协议</a:t>
            </a:r>
            <a:endParaRPr lang="en-US" altLang="zh-CN" dirty="0"/>
          </a:p>
          <a:p>
            <a:r>
              <a:rPr lang="zh-CN" altLang="en-US" dirty="0"/>
              <a:t>数据链路层的帧，不需要提供纠错，不需要序号，不需要流量控制。误码率高的无线链路上会有更复杂的链路层协议。</a:t>
            </a:r>
            <a:r>
              <a:rPr lang="en-US" altLang="zh-CN" dirty="0"/>
              <a:t>PPP</a:t>
            </a:r>
            <a:r>
              <a:rPr lang="zh-CN" altLang="en-US" dirty="0"/>
              <a:t>数据链路层：接收方收到一个帧，就进行</a:t>
            </a:r>
            <a:r>
              <a:rPr lang="en-US" altLang="zh-CN" dirty="0"/>
              <a:t>CRC</a:t>
            </a:r>
            <a:r>
              <a:rPr lang="zh-CN" altLang="en-US" dirty="0"/>
              <a:t>检验，如</a:t>
            </a:r>
            <a:r>
              <a:rPr lang="en-US" altLang="zh-CN" dirty="0"/>
              <a:t>CRC</a:t>
            </a:r>
            <a:r>
              <a:rPr lang="zh-CN" altLang="en-US" dirty="0"/>
              <a:t>检验正确，就收下这个帧；反之，丢弃帧，其它什么也不做。</a:t>
            </a:r>
            <a:endParaRPr lang="en-US" altLang="zh-CN" dirty="0"/>
          </a:p>
          <a:p>
            <a:r>
              <a:rPr lang="zh-CN" altLang="en-US" dirty="0"/>
              <a:t>（</a:t>
            </a:r>
            <a:r>
              <a:rPr lang="en-US" altLang="zh-CN" dirty="0"/>
              <a:t>2</a:t>
            </a:r>
            <a:r>
              <a:rPr lang="zh-CN" altLang="en-US" dirty="0"/>
              <a:t>）利用帧定界符封装成帧</a:t>
            </a:r>
          </a:p>
          <a:p>
            <a:r>
              <a:rPr lang="en-US" altLang="zh-CN" dirty="0"/>
              <a:t>PPP</a:t>
            </a:r>
            <a:r>
              <a:rPr lang="zh-CN" altLang="en-US" dirty="0"/>
              <a:t>协议必须使用特殊的字符作为帧定界符（标志一个帧的开始和结束的字符），以便使接收端从收到的比特流中能准确地找出帧的开始和结束位置。</a:t>
            </a:r>
          </a:p>
          <a:p>
            <a:r>
              <a:rPr lang="zh-CN" altLang="en-US" dirty="0"/>
              <a:t>（</a:t>
            </a:r>
            <a:r>
              <a:rPr lang="en-US" altLang="zh-CN" dirty="0"/>
              <a:t>3</a:t>
            </a:r>
            <a:r>
              <a:rPr lang="zh-CN" altLang="en-US" dirty="0"/>
              <a:t>）填充技术实现透明数据传输</a:t>
            </a:r>
          </a:p>
          <a:p>
            <a:r>
              <a:rPr lang="en-US" altLang="zh-CN" dirty="0"/>
              <a:t>PPP</a:t>
            </a:r>
            <a:r>
              <a:rPr lang="zh-CN" altLang="en-US" dirty="0"/>
              <a:t>协议必须保证数据传输的透明性。采取有效的措施解决，与帧定界符相同的比特组合（同步链路：零比特填充；异步链路：字节填充）。</a:t>
            </a:r>
          </a:p>
          <a:p>
            <a:r>
              <a:rPr lang="zh-CN" altLang="en-US" dirty="0"/>
              <a:t>（</a:t>
            </a:r>
            <a:r>
              <a:rPr lang="en-US" altLang="zh-CN" dirty="0"/>
              <a:t>4</a:t>
            </a:r>
            <a:r>
              <a:rPr lang="zh-CN" altLang="en-US" dirty="0"/>
              <a:t>）同时支持链路上的多种网络层协议</a:t>
            </a:r>
          </a:p>
          <a:p>
            <a:r>
              <a:rPr lang="en-US" altLang="zh-CN" dirty="0"/>
              <a:t>PPP</a:t>
            </a:r>
            <a:r>
              <a:rPr lang="zh-CN" altLang="en-US" dirty="0"/>
              <a:t>协议能够在同一条物理链路上同时支持多种网络层协议（如</a:t>
            </a:r>
            <a:r>
              <a:rPr lang="en-US" altLang="zh-CN" dirty="0"/>
              <a:t>IP</a:t>
            </a:r>
            <a:r>
              <a:rPr lang="zh-CN" altLang="en-US" dirty="0"/>
              <a:t>和</a:t>
            </a:r>
            <a:r>
              <a:rPr lang="en-US" altLang="zh-CN" dirty="0"/>
              <a:t>IPX</a:t>
            </a:r>
            <a:r>
              <a:rPr lang="zh-CN" altLang="en-US" dirty="0"/>
              <a:t>等）的运行。点对点链路连接的是局域网或路由器，</a:t>
            </a:r>
            <a:r>
              <a:rPr lang="en-US" altLang="zh-CN" dirty="0"/>
              <a:t>PPP</a:t>
            </a:r>
            <a:r>
              <a:rPr lang="zh-CN" altLang="en-US" dirty="0"/>
              <a:t>协议必须同时支持在链路所连接的局域网或路由器上运行的各种网络协议。</a:t>
            </a:r>
          </a:p>
          <a:p>
            <a:r>
              <a:rPr lang="zh-CN" altLang="en-US" dirty="0"/>
              <a:t>（</a:t>
            </a:r>
            <a:r>
              <a:rPr lang="en-US" altLang="zh-CN" dirty="0"/>
              <a:t>5</a:t>
            </a:r>
            <a:r>
              <a:rPr lang="zh-CN" altLang="en-US" dirty="0"/>
              <a:t>）能够在不同的链路上运行</a:t>
            </a:r>
          </a:p>
          <a:p>
            <a:r>
              <a:rPr lang="zh-CN" altLang="en-US" dirty="0"/>
              <a:t>要支持在多种类型的链路上运行。如：串行的链路、并行的链路、同步的或异步链路，低速或高速的，电信号或光信号的链路，动态交换的或静态非交换的链路。如</a:t>
            </a:r>
            <a:r>
              <a:rPr lang="en-US" altLang="zh-CN" dirty="0" err="1"/>
              <a:t>PPPoE</a:t>
            </a:r>
            <a:r>
              <a:rPr lang="zh-CN" altLang="en-US" dirty="0"/>
              <a:t>，就是支持以太网上运行的</a:t>
            </a:r>
            <a:r>
              <a:rPr lang="en-US" altLang="zh-CN" dirty="0"/>
              <a:t>PPP</a:t>
            </a:r>
            <a:r>
              <a:rPr lang="zh-CN" altLang="en-US" dirty="0"/>
              <a:t>协议。</a:t>
            </a:r>
            <a:endParaRPr lang="en-US" altLang="zh-CN" dirty="0"/>
          </a:p>
          <a:p>
            <a:r>
              <a:rPr lang="zh-CN" altLang="en-US" dirty="0"/>
              <a:t>（</a:t>
            </a:r>
            <a:r>
              <a:rPr lang="en-US" altLang="zh-CN" dirty="0"/>
              <a:t>6</a:t>
            </a:r>
            <a:r>
              <a:rPr lang="zh-CN" altLang="en-US" dirty="0"/>
              <a:t>）帧的差错检测</a:t>
            </a:r>
            <a:endParaRPr lang="en-US" altLang="zh-CN" dirty="0"/>
          </a:p>
          <a:p>
            <a:r>
              <a:rPr lang="en-US" altLang="zh-CN" dirty="0"/>
              <a:t>PPP</a:t>
            </a:r>
            <a:r>
              <a:rPr lang="zh-CN" altLang="en-US" dirty="0"/>
              <a:t>协议必须能够对接收端收到的帧进行检测，并立即丢弃有差错的帧。如果不这么做，差错的无用帧就还要在网络中继续转发，浪费资源。</a:t>
            </a:r>
          </a:p>
          <a:p>
            <a:r>
              <a:rPr lang="zh-CN" altLang="en-US" dirty="0"/>
              <a:t>（</a:t>
            </a:r>
            <a:r>
              <a:rPr lang="en-US" altLang="zh-CN" dirty="0"/>
              <a:t>7</a:t>
            </a:r>
            <a:r>
              <a:rPr lang="zh-CN" altLang="en-US" dirty="0"/>
              <a:t>）实时监测链路工作状态</a:t>
            </a:r>
            <a:endParaRPr lang="en-US" altLang="zh-CN" dirty="0"/>
          </a:p>
          <a:p>
            <a:r>
              <a:rPr lang="zh-CN" altLang="en-US" dirty="0"/>
              <a:t>必须具有一种机制能够及时的自动检测出链路是否处于正常工作状态。如：线路出现故障，又恢复正常时。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8</a:t>
            </a:r>
            <a:r>
              <a:rPr lang="zh-CN" altLang="en-US" dirty="0"/>
              <a:t>）设置链路最大传输单元（</a:t>
            </a:r>
            <a:r>
              <a:rPr lang="en-US" altLang="zh-CN" dirty="0"/>
              <a:t>MTU</a:t>
            </a:r>
            <a:r>
              <a:rPr lang="zh-CN" altLang="en-US" dirty="0"/>
              <a:t>）</a:t>
            </a:r>
          </a:p>
          <a:p>
            <a:r>
              <a:rPr lang="en-US" altLang="zh-CN" dirty="0"/>
              <a:t>PPP</a:t>
            </a:r>
            <a:r>
              <a:rPr lang="zh-CN" altLang="en-US" dirty="0"/>
              <a:t>协议必须对每种类型的点对点链路设置最大传送单元</a:t>
            </a:r>
            <a:r>
              <a:rPr lang="en-US" altLang="zh-CN" dirty="0"/>
              <a:t>MTU</a:t>
            </a:r>
            <a:r>
              <a:rPr lang="zh-CN" altLang="en-US" dirty="0"/>
              <a:t>的标准默认值（多数网络实现都规定了这种上限）。</a:t>
            </a:r>
            <a:r>
              <a:rPr lang="en-US" altLang="zh-CN" dirty="0"/>
              <a:t>MTU</a:t>
            </a:r>
            <a:r>
              <a:rPr lang="zh-CN" altLang="en-US" dirty="0"/>
              <a:t>是数据链路层的帧可以载荷的数据部分的最大长度，而不是帧的总长度。如果高层协议发送的分组（</a:t>
            </a:r>
            <a:r>
              <a:rPr lang="en-US" altLang="zh-CN" dirty="0"/>
              <a:t>IP</a:t>
            </a:r>
            <a:r>
              <a:rPr lang="zh-CN" altLang="en-US" dirty="0"/>
              <a:t>分组）过长超过</a:t>
            </a:r>
            <a:r>
              <a:rPr lang="en-US" altLang="zh-CN" dirty="0"/>
              <a:t>MTU</a:t>
            </a:r>
            <a:r>
              <a:rPr lang="zh-CN" altLang="en-US" dirty="0"/>
              <a:t>值，</a:t>
            </a:r>
            <a:r>
              <a:rPr lang="en-US" altLang="zh-CN" dirty="0"/>
              <a:t>PPP</a:t>
            </a:r>
            <a:r>
              <a:rPr lang="zh-CN" altLang="en-US" dirty="0"/>
              <a:t>协议就要丢弃这样的帧，并返回差错。（通常高层协议会根据链路层的</a:t>
            </a:r>
            <a:r>
              <a:rPr lang="en-US" altLang="zh-CN" dirty="0"/>
              <a:t>MTU</a:t>
            </a:r>
            <a:r>
              <a:rPr lang="zh-CN" altLang="en-US" dirty="0"/>
              <a:t>，进行分片）</a:t>
            </a:r>
          </a:p>
          <a:p>
            <a:r>
              <a:rPr lang="zh-CN" altLang="en-US" dirty="0"/>
              <a:t>（</a:t>
            </a:r>
            <a:r>
              <a:rPr lang="en-US" altLang="zh-CN" dirty="0"/>
              <a:t>9</a:t>
            </a:r>
            <a:r>
              <a:rPr lang="zh-CN" altLang="en-US" dirty="0"/>
              <a:t>）网络层地址协商机制</a:t>
            </a:r>
          </a:p>
          <a:p>
            <a:r>
              <a:rPr lang="en-US" altLang="zh-CN" dirty="0"/>
              <a:t>PPP</a:t>
            </a:r>
            <a:r>
              <a:rPr lang="zh-CN" altLang="en-US" dirty="0"/>
              <a:t>必须提供一种机制使通信的两个网络层的实体能够通过协商知道或能够配置彼此的网络层地址。如在拨号连接的链路中，仅仅在链路层建立了连接而不知道对方网络层地址，则还不能够保证网络层能够传送分组。</a:t>
            </a:r>
          </a:p>
          <a:p>
            <a:r>
              <a:rPr lang="zh-CN" altLang="en-US" dirty="0"/>
              <a:t>（</a:t>
            </a:r>
            <a:r>
              <a:rPr lang="en-US" altLang="zh-CN" dirty="0"/>
              <a:t>10</a:t>
            </a:r>
            <a:r>
              <a:rPr lang="zh-CN" altLang="en-US" dirty="0"/>
              <a:t>）数据压缩协商机制</a:t>
            </a:r>
          </a:p>
          <a:p>
            <a:r>
              <a:rPr lang="zh-CN" altLang="en-US" dirty="0"/>
              <a:t>提供一种方法来协商使用数据压缩算法。如压缩</a:t>
            </a:r>
            <a:r>
              <a:rPr lang="en-US" altLang="zh-CN" dirty="0"/>
              <a:t>TCP</a:t>
            </a:r>
            <a:r>
              <a:rPr lang="zh-CN" altLang="en-US" dirty="0"/>
              <a:t>和</a:t>
            </a:r>
            <a:r>
              <a:rPr lang="en-US" altLang="zh-CN" dirty="0"/>
              <a:t>IP</a:t>
            </a:r>
            <a:r>
              <a:rPr lang="zh-CN" altLang="en-US" dirty="0"/>
              <a:t>数据报头的，减少链路上发送的比特数。</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43</a:t>
            </a:fld>
            <a:endParaRPr kumimoji="1" lang="zh-CN" altLang="en-US"/>
          </a:p>
        </p:txBody>
      </p:sp>
    </p:spTree>
    <p:extLst>
      <p:ext uri="{BB962C8B-B14F-4D97-AF65-F5344CB8AC3E}">
        <p14:creationId xmlns:p14="http://schemas.microsoft.com/office/powerpoint/2010/main" val="6167038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200000"/>
              </a:lnSpc>
            </a:pPr>
            <a:r>
              <a:rPr lang="zh-CN" altLang="en-US" dirty="0"/>
              <a:t>（</a:t>
            </a:r>
            <a:r>
              <a:rPr lang="en-US" altLang="zh-CN" dirty="0"/>
              <a:t>1</a:t>
            </a:r>
            <a:r>
              <a:rPr lang="zh-CN" altLang="en-US" dirty="0"/>
              <a:t>）帧数据的纠错功能</a:t>
            </a:r>
            <a:endParaRPr lang="en-US" altLang="zh-CN" dirty="0"/>
          </a:p>
          <a:p>
            <a:r>
              <a:rPr lang="en-US" altLang="zh-CN" dirty="0"/>
              <a:t>TCP/IP</a:t>
            </a:r>
            <a:r>
              <a:rPr lang="zh-CN" altLang="en-US" dirty="0"/>
              <a:t>协议族中，可靠传输由</a:t>
            </a:r>
            <a:r>
              <a:rPr lang="en-US" altLang="zh-CN" dirty="0"/>
              <a:t>TCP</a:t>
            </a:r>
            <a:r>
              <a:rPr lang="zh-CN" altLang="en-US" dirty="0"/>
              <a:t>协议负责，数据链路层的</a:t>
            </a:r>
            <a:r>
              <a:rPr lang="en-US" altLang="zh-CN" dirty="0"/>
              <a:t>PPP</a:t>
            </a:r>
            <a:r>
              <a:rPr lang="zh-CN" altLang="en-US" dirty="0"/>
              <a:t>协议只进行检错。</a:t>
            </a:r>
            <a:r>
              <a:rPr lang="en-US" altLang="zh-CN" dirty="0"/>
              <a:t>PPP</a:t>
            </a:r>
            <a:r>
              <a:rPr lang="zh-CN" altLang="en-US" dirty="0"/>
              <a:t>协议是不可靠传输协议。</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2</a:t>
            </a:r>
            <a:r>
              <a:rPr lang="zh-CN" altLang="en-US" dirty="0"/>
              <a:t>）流量控制功能</a:t>
            </a:r>
            <a:endParaRPr lang="en-US" altLang="zh-CN" dirty="0"/>
          </a:p>
          <a:p>
            <a:r>
              <a:rPr lang="zh-CN" altLang="en-US" dirty="0"/>
              <a:t>在</a:t>
            </a:r>
            <a:r>
              <a:rPr lang="en-US" altLang="zh-CN" dirty="0"/>
              <a:t>TCP/IP</a:t>
            </a:r>
            <a:r>
              <a:rPr lang="zh-CN" altLang="en-US" dirty="0"/>
              <a:t>协议中，端到端的流量控制由</a:t>
            </a:r>
            <a:r>
              <a:rPr lang="en-US" altLang="zh-CN" dirty="0"/>
              <a:t>TCP</a:t>
            </a:r>
            <a:r>
              <a:rPr lang="zh-CN" altLang="en-US" dirty="0"/>
              <a:t>负责，</a:t>
            </a:r>
            <a:r>
              <a:rPr lang="en-US" altLang="zh-CN" dirty="0"/>
              <a:t>PPP</a:t>
            </a:r>
            <a:r>
              <a:rPr lang="zh-CN" altLang="en-US" dirty="0"/>
              <a:t>协议不需要重复进行流量控制。</a:t>
            </a:r>
          </a:p>
          <a:p>
            <a:r>
              <a:rPr lang="zh-CN" altLang="en-US" dirty="0"/>
              <a:t>（</a:t>
            </a:r>
            <a:r>
              <a:rPr lang="en-US" altLang="zh-CN" dirty="0"/>
              <a:t>3</a:t>
            </a:r>
            <a:r>
              <a:rPr lang="zh-CN" altLang="en-US" dirty="0"/>
              <a:t>）可靠传输功能</a:t>
            </a:r>
          </a:p>
          <a:p>
            <a:r>
              <a:rPr lang="en-US" altLang="zh-CN" dirty="0"/>
              <a:t>PPP</a:t>
            </a:r>
            <a:r>
              <a:rPr lang="zh-CN" altLang="en-US" dirty="0"/>
              <a:t>为不可靠协议，不使用帧的序号。不可靠网络中可能使用有序号的工作方式。</a:t>
            </a:r>
          </a:p>
          <a:p>
            <a:r>
              <a:rPr lang="zh-CN" altLang="en-US" dirty="0"/>
              <a:t>（</a:t>
            </a:r>
            <a:r>
              <a:rPr lang="en-US" altLang="zh-CN" dirty="0"/>
              <a:t>4</a:t>
            </a:r>
            <a:r>
              <a:rPr lang="zh-CN" altLang="en-US" dirty="0"/>
              <a:t>）多点连接功能</a:t>
            </a:r>
          </a:p>
          <a:p>
            <a:r>
              <a:rPr lang="en-US" altLang="zh-CN" dirty="0"/>
              <a:t>PPP</a:t>
            </a:r>
            <a:r>
              <a:rPr lang="zh-CN" altLang="en-US" dirty="0"/>
              <a:t>协议不支持多点线路，而只支持点对点的链路通信。</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5</a:t>
            </a:r>
            <a:r>
              <a:rPr lang="zh-CN" altLang="en-US" dirty="0"/>
              <a:t>）单工和半双工链路 </a:t>
            </a:r>
          </a:p>
          <a:p>
            <a:r>
              <a:rPr lang="en-US" altLang="zh-CN" dirty="0"/>
              <a:t>PPP</a:t>
            </a:r>
            <a:r>
              <a:rPr lang="zh-CN" altLang="en-US" dirty="0"/>
              <a:t>协议只支持全双工链路</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44</a:t>
            </a:fld>
            <a:endParaRPr kumimoji="1" lang="zh-CN" altLang="en-US"/>
          </a:p>
        </p:txBody>
      </p:sp>
    </p:spTree>
    <p:extLst>
      <p:ext uri="{BB962C8B-B14F-4D97-AF65-F5344CB8AC3E}">
        <p14:creationId xmlns:p14="http://schemas.microsoft.com/office/powerpoint/2010/main" val="22186039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PPP </a:t>
            </a:r>
            <a:r>
              <a:rPr lang="zh-CN" altLang="en-US" dirty="0"/>
              <a:t>帧的首部和尾部分别为 </a:t>
            </a:r>
            <a:r>
              <a:rPr lang="en-US" altLang="zh-CN" dirty="0"/>
              <a:t>4 </a:t>
            </a:r>
            <a:r>
              <a:rPr lang="zh-CN" altLang="en-US" dirty="0"/>
              <a:t>个字段和 </a:t>
            </a:r>
            <a:r>
              <a:rPr lang="en-US" altLang="zh-CN" dirty="0"/>
              <a:t>2 </a:t>
            </a:r>
            <a:r>
              <a:rPr lang="zh-CN" altLang="en-US" dirty="0"/>
              <a:t>个字段。</a:t>
            </a:r>
          </a:p>
          <a:p>
            <a:r>
              <a:rPr lang="zh-CN" altLang="en-US" dirty="0"/>
              <a:t>标志字段 </a:t>
            </a:r>
            <a:r>
              <a:rPr lang="en-US" altLang="zh-CN" dirty="0"/>
              <a:t>F = </a:t>
            </a:r>
            <a:r>
              <a:rPr lang="en-US" altLang="zh-CN" dirty="0" err="1"/>
              <a:t>0x7E</a:t>
            </a:r>
            <a:r>
              <a:rPr lang="en-US" altLang="zh-CN" dirty="0"/>
              <a:t> </a:t>
            </a:r>
            <a:r>
              <a:rPr lang="zh-CN" altLang="en-US" dirty="0"/>
              <a:t>（符号“</a:t>
            </a:r>
            <a:r>
              <a:rPr lang="en-US" altLang="zh-CN" dirty="0" err="1"/>
              <a:t>0x</a:t>
            </a:r>
            <a:r>
              <a:rPr lang="en-US" altLang="zh-CN" dirty="0"/>
              <a:t>”</a:t>
            </a:r>
            <a:r>
              <a:rPr lang="zh-CN" altLang="en-US" dirty="0"/>
              <a:t>表示后面的字符是用十六进制表示。十六进制的 </a:t>
            </a:r>
            <a:r>
              <a:rPr lang="en-US" altLang="zh-CN" dirty="0" err="1"/>
              <a:t>7E</a:t>
            </a:r>
            <a:r>
              <a:rPr lang="en-US" altLang="zh-CN" dirty="0"/>
              <a:t> </a:t>
            </a:r>
            <a:r>
              <a:rPr lang="zh-CN" altLang="en-US" dirty="0"/>
              <a:t>的二进制表示是 </a:t>
            </a:r>
            <a:r>
              <a:rPr lang="en-US" altLang="zh-CN" dirty="0"/>
              <a:t>01111110</a:t>
            </a:r>
            <a:r>
              <a:rPr lang="zh-CN" altLang="en-US" dirty="0"/>
              <a:t>）。</a:t>
            </a:r>
          </a:p>
          <a:p>
            <a:r>
              <a:rPr lang="zh-CN" altLang="en-US" dirty="0"/>
              <a:t>地址字段 </a:t>
            </a:r>
            <a:r>
              <a:rPr lang="en-US" altLang="zh-CN" dirty="0"/>
              <a:t>A </a:t>
            </a:r>
            <a:r>
              <a:rPr lang="zh-CN" altLang="en-US" dirty="0"/>
              <a:t>只置为 </a:t>
            </a:r>
            <a:r>
              <a:rPr lang="en-US" altLang="zh-CN" dirty="0" err="1"/>
              <a:t>0xFF</a:t>
            </a:r>
            <a:r>
              <a:rPr lang="zh-CN" altLang="en-US" dirty="0"/>
              <a:t>。地址字段实际上并不起作用。</a:t>
            </a:r>
          </a:p>
          <a:p>
            <a:r>
              <a:rPr lang="zh-CN" altLang="en-US" dirty="0"/>
              <a:t>控制字段 </a:t>
            </a:r>
            <a:r>
              <a:rPr lang="en-US" altLang="zh-CN" dirty="0"/>
              <a:t>C </a:t>
            </a:r>
            <a:r>
              <a:rPr lang="zh-CN" altLang="en-US" dirty="0"/>
              <a:t>通常置为 </a:t>
            </a:r>
            <a:r>
              <a:rPr lang="en-US" altLang="zh-CN" dirty="0" err="1"/>
              <a:t>0x03</a:t>
            </a:r>
            <a:r>
              <a:rPr lang="zh-CN" altLang="en-US" dirty="0"/>
              <a:t>。</a:t>
            </a:r>
          </a:p>
          <a:p>
            <a:r>
              <a:rPr lang="en-US" altLang="zh-CN" dirty="0"/>
              <a:t>PPP </a:t>
            </a:r>
            <a:r>
              <a:rPr lang="zh-CN" altLang="en-US" dirty="0"/>
              <a:t>是面向字节的，所有的 </a:t>
            </a:r>
            <a:r>
              <a:rPr lang="en-US" altLang="zh-CN" dirty="0"/>
              <a:t>PPP </a:t>
            </a:r>
            <a:r>
              <a:rPr lang="zh-CN" altLang="en-US" dirty="0"/>
              <a:t>帧的长度都是整数字节。</a:t>
            </a:r>
            <a:endParaRPr lang="en-US" altLang="zh-CN" dirty="0"/>
          </a:p>
          <a:p>
            <a:endParaRPr lang="en-US" altLang="zh-CN" dirty="0"/>
          </a:p>
          <a:p>
            <a:pPr>
              <a:lnSpc>
                <a:spcPts val="3600"/>
              </a:lnSpc>
            </a:pPr>
            <a:r>
              <a:rPr lang="en-US" altLang="zh-CN" dirty="0">
                <a:latin typeface="微软雅黑" panose="020B0503020204020204" pitchFamily="34" charset="-122"/>
                <a:ea typeface="微软雅黑" panose="020B0503020204020204" pitchFamily="34" charset="-122"/>
              </a:rPr>
              <a:t>PPP 2 </a:t>
            </a:r>
            <a:r>
              <a:rPr lang="zh-CN" altLang="en-US" dirty="0">
                <a:latin typeface="微软雅黑" panose="020B0503020204020204" pitchFamily="34" charset="-122"/>
                <a:ea typeface="微软雅黑" panose="020B0503020204020204" pitchFamily="34" charset="-122"/>
              </a:rPr>
              <a:t>个字节的协议字段</a:t>
            </a:r>
            <a:endParaRPr lang="en-US" altLang="zh-CN" dirty="0">
              <a:latin typeface="微软雅黑" panose="020B0503020204020204" pitchFamily="34" charset="-122"/>
              <a:ea typeface="微软雅黑" panose="020B0503020204020204" pitchFamily="34" charset="-122"/>
            </a:endParaRP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0x0021 </a:t>
            </a:r>
            <a:r>
              <a:rPr lang="zh-CN" altLang="en-US" dirty="0">
                <a:latin typeface="微软雅黑" panose="020B0503020204020204" pitchFamily="34" charset="-122"/>
                <a:ea typeface="微软雅黑" panose="020B0503020204020204" pitchFamily="34" charset="-122"/>
              </a:rPr>
              <a:t>时，信息字段是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数据报</a:t>
            </a: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0x8021 </a:t>
            </a:r>
            <a:r>
              <a:rPr lang="zh-CN" altLang="en-US" dirty="0">
                <a:latin typeface="微软雅黑" panose="020B0503020204020204" pitchFamily="34" charset="-122"/>
                <a:ea typeface="微软雅黑" panose="020B0503020204020204" pitchFamily="34" charset="-122"/>
              </a:rPr>
              <a:t>时，信息字段是网络控制数据 </a:t>
            </a:r>
            <a:r>
              <a:rPr lang="en-US" altLang="zh-CN" dirty="0">
                <a:latin typeface="微软雅黑" panose="020B0503020204020204" pitchFamily="34" charset="-122"/>
                <a:ea typeface="微软雅黑" panose="020B0503020204020204" pitchFamily="34" charset="-122"/>
              </a:rPr>
              <a:t>NCP</a:t>
            </a:r>
            <a:endParaRPr lang="zh-CN" altLang="en-US" dirty="0">
              <a:latin typeface="微软雅黑" panose="020B0503020204020204" pitchFamily="34" charset="-122"/>
              <a:ea typeface="微软雅黑" panose="020B0503020204020204" pitchFamily="34" charset="-122"/>
            </a:endParaRP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0xC021 </a:t>
            </a:r>
            <a:r>
              <a:rPr lang="zh-CN" altLang="en-US" dirty="0">
                <a:latin typeface="微软雅黑" panose="020B0503020204020204" pitchFamily="34" charset="-122"/>
                <a:ea typeface="微软雅黑" panose="020B0503020204020204" pitchFamily="34" charset="-122"/>
              </a:rPr>
              <a:t>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信息字段是链路控制数据 </a:t>
            </a:r>
            <a:r>
              <a:rPr lang="en-US" altLang="zh-CN" dirty="0">
                <a:latin typeface="微软雅黑" panose="020B0503020204020204" pitchFamily="34" charset="-122"/>
                <a:ea typeface="微软雅黑" panose="020B0503020204020204" pitchFamily="34" charset="-122"/>
              </a:rPr>
              <a:t>LCP</a:t>
            </a: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0xC023 </a:t>
            </a:r>
            <a:r>
              <a:rPr lang="zh-CN" altLang="en-US" dirty="0">
                <a:latin typeface="微软雅黑" panose="020B0503020204020204" pitchFamily="34" charset="-122"/>
                <a:ea typeface="微软雅黑" panose="020B0503020204020204" pitchFamily="34" charset="-122"/>
              </a:rPr>
              <a:t>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信息字段是口令鉴别协议数据</a:t>
            </a:r>
            <a:endParaRPr lang="en-US" altLang="zh-CN" dirty="0">
              <a:latin typeface="微软雅黑" panose="020B0503020204020204" pitchFamily="34" charset="-122"/>
              <a:ea typeface="微软雅黑" panose="020B0503020204020204" pitchFamily="34" charset="-122"/>
            </a:endParaRP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0xC025 </a:t>
            </a:r>
            <a:r>
              <a:rPr lang="zh-CN" altLang="en-US" dirty="0">
                <a:latin typeface="微软雅黑" panose="020B0503020204020204" pitchFamily="34" charset="-122"/>
                <a:ea typeface="微软雅黑" panose="020B0503020204020204" pitchFamily="34" charset="-122"/>
              </a:rPr>
              <a:t>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信息字段是链路质量报告</a:t>
            </a:r>
            <a:endParaRPr lang="en-US" altLang="zh-CN" dirty="0">
              <a:latin typeface="微软雅黑" panose="020B0503020204020204" pitchFamily="34" charset="-122"/>
              <a:ea typeface="微软雅黑" panose="020B0503020204020204" pitchFamily="34" charset="-122"/>
            </a:endParaRP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0xC223 </a:t>
            </a:r>
            <a:r>
              <a:rPr lang="zh-CN" altLang="en-US" dirty="0">
                <a:latin typeface="微软雅黑" panose="020B0503020204020204" pitchFamily="34" charset="-122"/>
                <a:ea typeface="微软雅黑" panose="020B0503020204020204" pitchFamily="34" charset="-122"/>
              </a:rPr>
              <a:t>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信息字段是口令握手鉴别协议</a:t>
            </a:r>
            <a:endParaRPr lang="en-US" altLang="zh-CN" dirty="0">
              <a:latin typeface="微软雅黑" panose="020B0503020204020204" pitchFamily="34" charset="-122"/>
              <a:ea typeface="微软雅黑" panose="020B0503020204020204" pitchFamily="34" charset="-122"/>
            </a:endParaRPr>
          </a:p>
          <a:p>
            <a:pPr lvl="1">
              <a:lnSpc>
                <a:spcPts val="3600"/>
              </a:lnSpc>
            </a:pP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46</a:t>
            </a:fld>
            <a:endParaRPr kumimoji="1" lang="zh-CN" altLang="en-US"/>
          </a:p>
        </p:txBody>
      </p:sp>
    </p:spTree>
    <p:extLst>
      <p:ext uri="{BB962C8B-B14F-4D97-AF65-F5344CB8AC3E}">
        <p14:creationId xmlns:p14="http://schemas.microsoft.com/office/powerpoint/2010/main" val="16947561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200000"/>
              </a:lnSpc>
            </a:pPr>
            <a:r>
              <a:rPr lang="zh-CN" altLang="en-US" sz="1200" dirty="0"/>
              <a:t>当用户拨号接入 </a:t>
            </a:r>
            <a:r>
              <a:rPr lang="en-US" altLang="zh-CN" sz="1200" dirty="0"/>
              <a:t>ISP </a:t>
            </a:r>
            <a:r>
              <a:rPr lang="zh-CN" altLang="en-US" sz="1200" dirty="0"/>
              <a:t>时，路由器的调制解调器对拨号做出确认，并建立一条物理连接。</a:t>
            </a:r>
          </a:p>
          <a:p>
            <a:pPr>
              <a:lnSpc>
                <a:spcPct val="200000"/>
              </a:lnSpc>
            </a:pPr>
            <a:r>
              <a:rPr lang="en-US" altLang="zh-CN" sz="1200" dirty="0"/>
              <a:t>PC </a:t>
            </a:r>
            <a:r>
              <a:rPr lang="zh-CN" altLang="en-US" sz="1200" dirty="0"/>
              <a:t>机向路由器发送一系列的 </a:t>
            </a:r>
            <a:r>
              <a:rPr lang="en-US" altLang="zh-CN" sz="1200" dirty="0"/>
              <a:t>LCP </a:t>
            </a:r>
            <a:r>
              <a:rPr lang="zh-CN" altLang="en-US" sz="1200" dirty="0"/>
              <a:t>分组（封装成多个 </a:t>
            </a:r>
            <a:r>
              <a:rPr lang="en-US" altLang="zh-CN" sz="1200" dirty="0"/>
              <a:t>PPP </a:t>
            </a:r>
            <a:r>
              <a:rPr lang="zh-CN" altLang="en-US" sz="1200" dirty="0"/>
              <a:t>帧）。</a:t>
            </a:r>
          </a:p>
          <a:p>
            <a:pPr>
              <a:lnSpc>
                <a:spcPct val="200000"/>
              </a:lnSpc>
            </a:pPr>
            <a:r>
              <a:rPr lang="zh-CN" altLang="en-US" sz="1200" dirty="0"/>
              <a:t>这些分组及其响应选择一些 </a:t>
            </a:r>
            <a:r>
              <a:rPr lang="en-US" altLang="zh-CN" sz="1200" dirty="0"/>
              <a:t>PPP </a:t>
            </a:r>
            <a:r>
              <a:rPr lang="zh-CN" altLang="en-US" sz="1200" dirty="0"/>
              <a:t>参数，并进行网络层配置，</a:t>
            </a:r>
            <a:r>
              <a:rPr lang="en-US" altLang="zh-CN" sz="1200" dirty="0"/>
              <a:t>NCP </a:t>
            </a:r>
            <a:r>
              <a:rPr lang="zh-CN" altLang="en-US" sz="1200" dirty="0"/>
              <a:t>给新接入的 </a:t>
            </a:r>
            <a:r>
              <a:rPr lang="en-US" altLang="zh-CN" sz="1200" dirty="0"/>
              <a:t>PC </a:t>
            </a:r>
            <a:r>
              <a:rPr lang="zh-CN" altLang="en-US" sz="1200" dirty="0"/>
              <a:t>机分配一个临时的 </a:t>
            </a:r>
            <a:r>
              <a:rPr lang="en-US" altLang="zh-CN" sz="1200" dirty="0"/>
              <a:t>IP </a:t>
            </a:r>
            <a:r>
              <a:rPr lang="zh-CN" altLang="en-US" sz="1200" dirty="0"/>
              <a:t>地址，使 </a:t>
            </a:r>
            <a:r>
              <a:rPr lang="en-US" altLang="zh-CN" sz="1200" dirty="0"/>
              <a:t>PC </a:t>
            </a:r>
            <a:r>
              <a:rPr lang="zh-CN" altLang="en-US" sz="1200" dirty="0"/>
              <a:t>机成为因特网上的一个主机。</a:t>
            </a:r>
          </a:p>
          <a:p>
            <a:pPr>
              <a:lnSpc>
                <a:spcPct val="200000"/>
              </a:lnSpc>
            </a:pPr>
            <a:r>
              <a:rPr lang="zh-CN" altLang="en-US" sz="1200" dirty="0"/>
              <a:t>通信完毕时，</a:t>
            </a:r>
            <a:r>
              <a:rPr lang="en-US" altLang="zh-CN" sz="1200" dirty="0"/>
              <a:t>NCP </a:t>
            </a:r>
            <a:r>
              <a:rPr lang="zh-CN" altLang="en-US" sz="1200" dirty="0"/>
              <a:t>释放网络层连接，收回原来分配出去的 </a:t>
            </a:r>
            <a:r>
              <a:rPr lang="en-US" altLang="zh-CN" sz="1200" dirty="0"/>
              <a:t>IP </a:t>
            </a:r>
            <a:r>
              <a:rPr lang="zh-CN" altLang="en-US" sz="1200" dirty="0"/>
              <a:t>地址。接着，</a:t>
            </a:r>
            <a:r>
              <a:rPr lang="en-US" altLang="zh-CN" sz="1200" dirty="0"/>
              <a:t>LCP </a:t>
            </a:r>
            <a:r>
              <a:rPr lang="zh-CN" altLang="en-US" sz="1200" dirty="0"/>
              <a:t>释放数据链路层连接。最后释放的是物理层的连接。</a:t>
            </a:r>
          </a:p>
          <a:p>
            <a:pPr>
              <a:lnSpc>
                <a:spcPct val="200000"/>
              </a:lnSpc>
            </a:pPr>
            <a:r>
              <a:rPr lang="zh-CN" altLang="en-US" sz="1200" dirty="0"/>
              <a:t>可见，</a:t>
            </a:r>
            <a:r>
              <a:rPr lang="en-US" altLang="zh-CN" sz="1200" dirty="0"/>
              <a:t>PPP </a:t>
            </a:r>
            <a:r>
              <a:rPr lang="zh-CN" altLang="en-US" sz="1200" dirty="0"/>
              <a:t>协议已不是纯粹的数据链路层的协议，它还包含了物理层和网络层的内容。</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52</a:t>
            </a:fld>
            <a:endParaRPr kumimoji="1" lang="zh-CN" altLang="en-US"/>
          </a:p>
        </p:txBody>
      </p:sp>
    </p:spTree>
    <p:extLst>
      <p:ext uri="{BB962C8B-B14F-4D97-AF65-F5344CB8AC3E}">
        <p14:creationId xmlns:p14="http://schemas.microsoft.com/office/powerpoint/2010/main" val="15316331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在此阶段，</a:t>
            </a:r>
            <a:r>
              <a:rPr lang="en-US" altLang="zh-CN" dirty="0"/>
              <a:t>LCP</a:t>
            </a:r>
            <a:r>
              <a:rPr lang="zh-CN" altLang="en-US" dirty="0"/>
              <a:t>自动机将处于初始或启动状态。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向链路建立阶段的转换将向</a:t>
            </a:r>
            <a:r>
              <a:rPr lang="en-US" altLang="zh-CN" dirty="0"/>
              <a:t>LCP</a:t>
            </a:r>
            <a:r>
              <a:rPr lang="zh-CN" altLang="en-US" dirty="0"/>
              <a:t>自动机发出</a:t>
            </a:r>
            <a:r>
              <a:rPr lang="en-US" altLang="zh-CN" dirty="0"/>
              <a:t>Up</a:t>
            </a:r>
            <a:r>
              <a:rPr lang="zh-CN" altLang="en-US" dirty="0"/>
              <a:t>事件的信号。</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55</a:t>
            </a:fld>
            <a:endParaRPr kumimoji="1" lang="zh-CN" altLang="en-US"/>
          </a:p>
        </p:txBody>
      </p:sp>
    </p:spTree>
    <p:extLst>
      <p:ext uri="{BB962C8B-B14F-4D97-AF65-F5344CB8AC3E}">
        <p14:creationId xmlns:p14="http://schemas.microsoft.com/office/powerpoint/2010/main" val="22818949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56</a:t>
            </a:fld>
            <a:endParaRPr kumimoji="1" lang="zh-CN" altLang="en-US"/>
          </a:p>
        </p:txBody>
      </p:sp>
    </p:spTree>
    <p:extLst>
      <p:ext uri="{BB962C8B-B14F-4D97-AF65-F5344CB8AC3E}">
        <p14:creationId xmlns:p14="http://schemas.microsoft.com/office/powerpoint/2010/main" val="2642182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所有配置选项都假定为默认值</a:t>
            </a:r>
          </a:p>
          <a:p>
            <a:r>
              <a:rPr lang="zh-CN" altLang="en-US" dirty="0"/>
              <a:t>在网络层协议阶段，单个网络层协议的配置由单独的网络控制协议</a:t>
            </a:r>
            <a:r>
              <a:rPr lang="en-US" altLang="zh-CN" dirty="0"/>
              <a:t>(NCPs)</a:t>
            </a:r>
            <a:r>
              <a:rPr lang="zh-CN" altLang="en-US" dirty="0"/>
              <a:t>处理</a:t>
            </a:r>
          </a:p>
          <a:p>
            <a:r>
              <a:rPr lang="zh-CN" altLang="en-US" dirty="0"/>
              <a:t>在此阶段，接收到的任何非</a:t>
            </a:r>
            <a:r>
              <a:rPr lang="en-US" altLang="zh-CN" dirty="0"/>
              <a:t>LCP</a:t>
            </a:r>
            <a:r>
              <a:rPr lang="zh-CN" altLang="en-US" dirty="0"/>
              <a:t>数据包都必须丢弃</a:t>
            </a:r>
          </a:p>
          <a:p>
            <a:r>
              <a:rPr lang="zh-CN" altLang="en-US" dirty="0"/>
              <a:t>收到</a:t>
            </a:r>
            <a:r>
              <a:rPr lang="en-US" altLang="zh-CN" dirty="0"/>
              <a:t>LCP</a:t>
            </a:r>
            <a:r>
              <a:rPr lang="zh-CN" altLang="en-US" dirty="0"/>
              <a:t>配置请求会导致从网络层协议阶段或身份验证阶段返回到链路建立阶段</a:t>
            </a:r>
          </a:p>
          <a:p>
            <a:r>
              <a:rPr lang="zh-CN" altLang="en-US" dirty="0"/>
              <a:t>注意：只有独立于特定网络层协议的配置选项才由</a:t>
            </a:r>
            <a:r>
              <a:rPr lang="en-US" altLang="zh-CN" dirty="0"/>
              <a:t>LCP</a:t>
            </a:r>
            <a:r>
              <a:rPr lang="zh-CN" altLang="en-US" dirty="0"/>
              <a:t>配置</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57</a:t>
            </a:fld>
            <a:endParaRPr kumimoji="1" lang="zh-CN" altLang="en-US"/>
          </a:p>
        </p:txBody>
      </p:sp>
    </p:spTree>
    <p:extLst>
      <p:ext uri="{BB962C8B-B14F-4D97-AF65-F5344CB8AC3E}">
        <p14:creationId xmlns:p14="http://schemas.microsoft.com/office/powerpoint/2010/main" val="4415578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不允许交换链路质量确定包来无限期地延迟身份验证。</a:t>
            </a:r>
            <a:endParaRPr lang="en-US" altLang="zh-CN" dirty="0"/>
          </a:p>
          <a:p>
            <a:r>
              <a:rPr lang="zh-CN" altLang="en-US" dirty="0"/>
              <a:t>如果使用口令鉴别协议</a:t>
            </a:r>
            <a:r>
              <a:rPr lang="en-US" altLang="zh-CN" dirty="0"/>
              <a:t>PAP</a:t>
            </a:r>
            <a:r>
              <a:rPr lang="zh-CN" altLang="en-US" dirty="0"/>
              <a:t>（</a:t>
            </a:r>
            <a:r>
              <a:rPr lang="en-US" altLang="zh-CN" dirty="0"/>
              <a:t>Password Authentication Protocol</a:t>
            </a:r>
            <a:r>
              <a:rPr lang="zh-CN" altLang="en-US" dirty="0"/>
              <a:t>），需要发起通信的一方发送身份标识符和口令。</a:t>
            </a:r>
          </a:p>
          <a:p>
            <a:r>
              <a:rPr lang="zh-CN" altLang="en-US" dirty="0"/>
              <a:t>或者复杂的口令握手鉴别协议（</a:t>
            </a:r>
            <a:r>
              <a:rPr lang="en-US" altLang="zh-CN" dirty="0"/>
              <a:t>Challenge-Handshake Authentication Protocol</a:t>
            </a:r>
            <a:r>
              <a:rPr lang="zh-CN" altLang="en-US" dirty="0"/>
              <a:t>）。</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60</a:t>
            </a:fld>
            <a:endParaRPr kumimoji="1" lang="zh-CN" altLang="en-US"/>
          </a:p>
        </p:txBody>
      </p:sp>
    </p:spTree>
    <p:extLst>
      <p:ext uri="{BB962C8B-B14F-4D97-AF65-F5344CB8AC3E}">
        <p14:creationId xmlns:p14="http://schemas.microsoft.com/office/powerpoint/2010/main" val="19368613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在“网络层协议”（</a:t>
            </a:r>
            <a:r>
              <a:rPr lang="en-US" altLang="zh-CN" dirty="0"/>
              <a:t>Network-Layer Protocol</a:t>
            </a:r>
            <a:r>
              <a:rPr lang="zh-CN" altLang="en-US" dirty="0"/>
              <a:t>）状态，</a:t>
            </a:r>
            <a:r>
              <a:rPr lang="en-US" altLang="zh-CN" dirty="0"/>
              <a:t>PPP</a:t>
            </a:r>
            <a:r>
              <a:rPr lang="zh-CN" altLang="en-US" dirty="0"/>
              <a:t>链路的两端的网络控制协议</a:t>
            </a:r>
            <a:r>
              <a:rPr lang="en-US" altLang="zh-CN" dirty="0"/>
              <a:t>NCP</a:t>
            </a:r>
            <a:r>
              <a:rPr lang="zh-CN" altLang="en-US" dirty="0"/>
              <a:t>根据网络层的不同协议互相交换网络层特定的网络控制分组，进行配置网络层。</a:t>
            </a:r>
            <a:r>
              <a:rPr lang="en-US" altLang="zh-CN" dirty="0"/>
              <a:t>PPP</a:t>
            </a:r>
            <a:r>
              <a:rPr lang="zh-CN" altLang="en-US" dirty="0"/>
              <a:t>两端可能运行了不同的网络层协议。</a:t>
            </a:r>
          </a:p>
          <a:p>
            <a:r>
              <a:rPr lang="zh-CN" altLang="en-US" dirty="0"/>
              <a:t>若在</a:t>
            </a:r>
            <a:r>
              <a:rPr lang="en-US" altLang="zh-CN" dirty="0"/>
              <a:t>PPP</a:t>
            </a:r>
            <a:r>
              <a:rPr lang="zh-CN" altLang="en-US" dirty="0"/>
              <a:t>链路上运行的是</a:t>
            </a:r>
            <a:r>
              <a:rPr lang="en-US" altLang="zh-CN" dirty="0"/>
              <a:t>IP</a:t>
            </a:r>
            <a:r>
              <a:rPr lang="zh-CN" altLang="en-US" dirty="0"/>
              <a:t>协议，则对</a:t>
            </a:r>
            <a:r>
              <a:rPr lang="en-US" altLang="zh-CN" dirty="0"/>
              <a:t>PPP</a:t>
            </a:r>
            <a:r>
              <a:rPr lang="zh-CN" altLang="en-US" dirty="0"/>
              <a:t>链路的每一端配置</a:t>
            </a:r>
            <a:r>
              <a:rPr lang="en-US" altLang="zh-CN" dirty="0"/>
              <a:t>IP</a:t>
            </a:r>
            <a:r>
              <a:rPr lang="zh-CN" altLang="en-US" dirty="0"/>
              <a:t>协议模块时要使用</a:t>
            </a:r>
            <a:r>
              <a:rPr lang="en-US" altLang="zh-CN" dirty="0"/>
              <a:t>NCP</a:t>
            </a:r>
            <a:r>
              <a:rPr lang="zh-CN" altLang="en-US" dirty="0"/>
              <a:t>中支持</a:t>
            </a:r>
            <a:r>
              <a:rPr lang="en-US" altLang="zh-CN" dirty="0"/>
              <a:t>IP</a:t>
            </a:r>
            <a:r>
              <a:rPr lang="zh-CN" altLang="en-US" dirty="0"/>
              <a:t>的协议</a:t>
            </a:r>
            <a:r>
              <a:rPr lang="en-US" altLang="zh-CN" dirty="0"/>
              <a:t>——IP</a:t>
            </a:r>
            <a:r>
              <a:rPr lang="zh-CN" altLang="en-US" dirty="0"/>
              <a:t>控制协议</a:t>
            </a:r>
            <a:r>
              <a:rPr lang="en-US" altLang="zh-CN" dirty="0" err="1"/>
              <a:t>IPCP</a:t>
            </a:r>
            <a:r>
              <a:rPr lang="zh-CN" altLang="en-US" dirty="0"/>
              <a:t>（</a:t>
            </a:r>
            <a:r>
              <a:rPr lang="en-US" altLang="zh-CN" dirty="0"/>
              <a:t>IP Control Protocol</a:t>
            </a:r>
            <a:r>
              <a:rPr lang="zh-CN" altLang="en-US" dirty="0"/>
              <a:t>）。</a:t>
            </a:r>
            <a:r>
              <a:rPr lang="en-US" altLang="zh-CN" dirty="0" err="1"/>
              <a:t>IPCP</a:t>
            </a:r>
            <a:r>
              <a:rPr lang="zh-CN" altLang="en-US" dirty="0"/>
              <a:t>分组封装成</a:t>
            </a:r>
            <a:r>
              <a:rPr lang="en-US" altLang="zh-CN" dirty="0"/>
              <a:t>PPP</a:t>
            </a:r>
            <a:r>
              <a:rPr lang="zh-CN" altLang="en-US" dirty="0"/>
              <a:t>帧，在链路上传送，协议字段为</a:t>
            </a:r>
            <a:r>
              <a:rPr lang="en-US" altLang="zh-CN" dirty="0" err="1"/>
              <a:t>0x8201</a:t>
            </a:r>
            <a:r>
              <a:rPr lang="zh-CN" altLang="en-US" dirty="0"/>
              <a:t>。</a:t>
            </a:r>
          </a:p>
          <a:p>
            <a:r>
              <a:rPr lang="zh-CN" altLang="en-US" dirty="0"/>
              <a:t>不同的</a:t>
            </a:r>
            <a:r>
              <a:rPr lang="en-US" altLang="zh-CN" dirty="0"/>
              <a:t>NCP</a:t>
            </a:r>
            <a:r>
              <a:rPr lang="zh-CN" altLang="en-US" dirty="0"/>
              <a:t>协议支持针对某种特定的网络层协议。 </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62</a:t>
            </a:fld>
            <a:endParaRPr kumimoji="1" lang="zh-CN" altLang="en-US"/>
          </a:p>
        </p:txBody>
      </p:sp>
    </p:spTree>
    <p:extLst>
      <p:ext uri="{BB962C8B-B14F-4D97-AF65-F5344CB8AC3E}">
        <p14:creationId xmlns:p14="http://schemas.microsoft.com/office/powerpoint/2010/main" val="2078272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a:t>
            </a:r>
            <a:r>
              <a:rPr lang="en-US" altLang="zh-CN" dirty="0"/>
              <a:t>Terminate--request</a:t>
            </a:r>
            <a:r>
              <a:rPr lang="zh-CN" altLang="en-US" dirty="0"/>
              <a:t>帧终止链路，收到对方的</a:t>
            </a:r>
            <a:r>
              <a:rPr lang="en-US" altLang="zh-CN" dirty="0"/>
              <a:t>Terminate-</a:t>
            </a:r>
            <a:r>
              <a:rPr lang="en-US" altLang="zh-CN" dirty="0" err="1"/>
              <a:t>Ack</a:t>
            </a:r>
            <a:r>
              <a:rPr lang="zh-CN" altLang="en-US" dirty="0"/>
              <a:t>帧</a:t>
            </a:r>
            <a:endParaRPr lang="en-US" altLang="zh-CN" dirty="0"/>
          </a:p>
          <a:p>
            <a:r>
              <a:rPr lang="zh-CN" altLang="en-US" dirty="0"/>
              <a:t>数据传输结束后，可以使用</a:t>
            </a:r>
            <a:r>
              <a:rPr lang="en-US" altLang="zh-CN" dirty="0"/>
              <a:t>Terminate-*</a:t>
            </a:r>
            <a:r>
              <a:rPr lang="zh-CN" altLang="en-US" dirty="0"/>
              <a:t>帧终止链路，收到对方的</a:t>
            </a:r>
            <a:r>
              <a:rPr lang="en-US" altLang="zh-CN" dirty="0"/>
              <a:t>Terminate-</a:t>
            </a:r>
            <a:r>
              <a:rPr lang="en-US" altLang="zh-CN" dirty="0" err="1"/>
              <a:t>Ack</a:t>
            </a:r>
            <a:r>
              <a:rPr lang="zh-CN" altLang="en-US" dirty="0"/>
              <a:t>帧后进入“链路终止”状态，当调制解调器的载波停止后，回到“链路静止”状态。</a:t>
            </a:r>
          </a:p>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66</a:t>
            </a:fld>
            <a:endParaRPr kumimoji="1" lang="zh-CN" altLang="en-US"/>
          </a:p>
        </p:txBody>
      </p:sp>
    </p:spTree>
    <p:extLst>
      <p:ext uri="{BB962C8B-B14F-4D97-AF65-F5344CB8AC3E}">
        <p14:creationId xmlns:p14="http://schemas.microsoft.com/office/powerpoint/2010/main" val="14976341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通过</a:t>
            </a:r>
            <a:r>
              <a:rPr lang="en-US" altLang="zh-CN" dirty="0"/>
              <a:t>Ethernet</a:t>
            </a:r>
            <a:r>
              <a:rPr lang="zh-CN" altLang="en-US" dirty="0"/>
              <a:t>和</a:t>
            </a:r>
            <a:r>
              <a:rPr lang="en-US" altLang="zh-CN" dirty="0"/>
              <a:t>PPP</a:t>
            </a:r>
            <a:r>
              <a:rPr lang="zh-CN" altLang="en-US" dirty="0"/>
              <a:t>的优点和缺点介绍，引入</a:t>
            </a:r>
            <a:r>
              <a:rPr lang="en-US" altLang="zh-CN" dirty="0" err="1"/>
              <a:t>PPPoE</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68</a:t>
            </a:fld>
            <a:endParaRPr kumimoji="1" lang="zh-CN" altLang="en-US"/>
          </a:p>
        </p:txBody>
      </p:sp>
    </p:spTree>
    <p:extLst>
      <p:ext uri="{BB962C8B-B14F-4D97-AF65-F5344CB8AC3E}">
        <p14:creationId xmlns:p14="http://schemas.microsoft.com/office/powerpoint/2010/main" val="33004101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a:t>
            </a:r>
            <a:r>
              <a:rPr lang="en-US" altLang="zh-CN" dirty="0"/>
              <a:t>Ethernet</a:t>
            </a:r>
            <a:r>
              <a:rPr lang="zh-CN" altLang="en-US" dirty="0"/>
              <a:t>和</a:t>
            </a:r>
            <a:r>
              <a:rPr lang="en-US" altLang="zh-CN" dirty="0"/>
              <a:t>PPP</a:t>
            </a:r>
            <a:r>
              <a:rPr lang="zh-CN" altLang="en-US" dirty="0"/>
              <a:t>的优点和缺点介绍，引入</a:t>
            </a:r>
            <a:r>
              <a:rPr lang="en-US" altLang="zh-CN" dirty="0" err="1"/>
              <a:t>PPPoE</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69</a:t>
            </a:fld>
            <a:endParaRPr kumimoji="1" lang="zh-CN" altLang="en-US"/>
          </a:p>
        </p:txBody>
      </p:sp>
    </p:spTree>
    <p:extLst>
      <p:ext uri="{BB962C8B-B14F-4D97-AF65-F5344CB8AC3E}">
        <p14:creationId xmlns:p14="http://schemas.microsoft.com/office/powerpoint/2010/main" val="10200197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组网方式</a:t>
            </a:r>
            <a:r>
              <a:rPr lang="en-US" altLang="zh-CN" dirty="0"/>
              <a:t>1</a:t>
            </a:r>
            <a:r>
              <a:rPr lang="zh-CN" altLang="en-US" dirty="0"/>
              <a:t>与家庭中常用的路由器拨号方式一致</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70</a:t>
            </a:fld>
            <a:endParaRPr kumimoji="1" lang="zh-CN" altLang="en-US"/>
          </a:p>
        </p:txBody>
      </p:sp>
    </p:spTree>
    <p:extLst>
      <p:ext uri="{BB962C8B-B14F-4D97-AF65-F5344CB8AC3E}">
        <p14:creationId xmlns:p14="http://schemas.microsoft.com/office/powerpoint/2010/main" val="37521621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组网方式</a:t>
            </a:r>
            <a:r>
              <a:rPr lang="en-US" altLang="zh-CN" dirty="0"/>
              <a:t>2</a:t>
            </a:r>
            <a:r>
              <a:rPr lang="zh-CN" altLang="en-US" dirty="0"/>
              <a:t>：通过计算机直接拨号上网</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71</a:t>
            </a:fld>
            <a:endParaRPr kumimoji="1" lang="zh-CN" altLang="en-US"/>
          </a:p>
        </p:txBody>
      </p:sp>
    </p:spTree>
    <p:extLst>
      <p:ext uri="{BB962C8B-B14F-4D97-AF65-F5344CB8AC3E}">
        <p14:creationId xmlns:p14="http://schemas.microsoft.com/office/powerpoint/2010/main" val="18977763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72</a:t>
            </a:fld>
            <a:endParaRPr kumimoji="1" lang="zh-CN" altLang="en-US"/>
          </a:p>
        </p:txBody>
      </p:sp>
    </p:spTree>
    <p:extLst>
      <p:ext uri="{BB962C8B-B14F-4D97-AF65-F5344CB8AC3E}">
        <p14:creationId xmlns:p14="http://schemas.microsoft.com/office/powerpoint/2010/main" val="14311145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通过代码字段值的不同，标识有效载荷数据的不同</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73</a:t>
            </a:fld>
            <a:endParaRPr kumimoji="1" lang="zh-CN" altLang="en-US"/>
          </a:p>
        </p:txBody>
      </p:sp>
    </p:spTree>
    <p:extLst>
      <p:ext uri="{BB962C8B-B14F-4D97-AF65-F5344CB8AC3E}">
        <p14:creationId xmlns:p14="http://schemas.microsoft.com/office/powerpoint/2010/main" val="29301950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74</a:t>
            </a:fld>
            <a:endParaRPr kumimoji="1" lang="zh-CN" altLang="en-US"/>
          </a:p>
        </p:txBody>
      </p:sp>
    </p:spTree>
    <p:extLst>
      <p:ext uri="{BB962C8B-B14F-4D97-AF65-F5344CB8AC3E}">
        <p14:creationId xmlns:p14="http://schemas.microsoft.com/office/powerpoint/2010/main" val="12936156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78</a:t>
            </a:fld>
            <a:endParaRPr kumimoji="1" lang="zh-CN" altLang="en-US"/>
          </a:p>
        </p:txBody>
      </p:sp>
    </p:spTree>
    <p:extLst>
      <p:ext uri="{BB962C8B-B14F-4D97-AF65-F5344CB8AC3E}">
        <p14:creationId xmlns:p14="http://schemas.microsoft.com/office/powerpoint/2010/main" val="1556199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p>
            <a:fld id="{0E59C439-FD35-4547-BEF5-304266CA27AE}" type="datetime1">
              <a:rPr kumimoji="1" lang="zh-CN" altLang="en-US" smtClean="0"/>
              <a:t>2021/4/15</a:t>
            </a:fld>
            <a:endParaRPr kumimoji="1" lang="zh-CN" altLang="en-US"/>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9307502" cy="567811"/>
          </a:xfrm>
          <a:prstGeom prst="rect">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计算机网络</a:t>
            </a:r>
          </a:p>
        </p:txBody>
      </p:sp>
      <p:sp>
        <p:nvSpPr>
          <p:cNvPr id="9" name="文本框 8">
            <a:extLst>
              <a:ext uri="{FF2B5EF4-FFF2-40B4-BE49-F238E27FC236}">
                <a16:creationId xmlns:a16="http://schemas.microsoft.com/office/drawing/2014/main" id="{56DF02C2-66E0-594F-914D-47F0EC7AA666}"/>
              </a:ext>
            </a:extLst>
          </p:cNvPr>
          <p:cNvSpPr txBox="1"/>
          <p:nvPr userDrawn="1"/>
        </p:nvSpPr>
        <p:spPr>
          <a:xfrm>
            <a:off x="9569811" y="90612"/>
            <a:ext cx="2297425" cy="369332"/>
          </a:xfrm>
          <a:prstGeom prst="rect">
            <a:avLst/>
          </a:prstGeom>
          <a:noFill/>
        </p:spPr>
        <p:txBody>
          <a:bodyPr wrap="none" rtlCol="0">
            <a:spAutoFit/>
          </a:bodyPr>
          <a:lstStyle/>
          <a:p>
            <a:pPr algn="r"/>
            <a:r>
              <a:rPr lang="zh-CN" altLang="en-US" sz="1800" spc="600" dirty="0">
                <a:solidFill>
                  <a:srgbClr val="5B307E"/>
                </a:solidFill>
                <a:latin typeface="微软雅黑" panose="020B0503020204020204" pitchFamily="34" charset="-122"/>
                <a:ea typeface="微软雅黑" panose="020B0503020204020204" pitchFamily="34" charset="-122"/>
              </a:rPr>
              <a:t>众筹</a:t>
            </a:r>
            <a:r>
              <a:rPr lang="en-US" altLang="zh-CN" sz="1800" b="0" spc="600" dirty="0">
                <a:solidFill>
                  <a:srgbClr val="5B307E"/>
                </a:solidFill>
                <a:latin typeface="微软雅黑" panose="020B0503020204020204" pitchFamily="34" charset="-122"/>
                <a:ea typeface="微软雅黑" panose="020B0503020204020204" pitchFamily="34" charset="-122"/>
              </a:rPr>
              <a:t>·</a:t>
            </a:r>
            <a:r>
              <a:rPr lang="zh-CN" altLang="en-US" sz="1800" spc="600" dirty="0">
                <a:solidFill>
                  <a:srgbClr val="5B307E"/>
                </a:solidFill>
                <a:latin typeface="微软雅黑" panose="020B0503020204020204" pitchFamily="34" charset="-122"/>
                <a:ea typeface="微软雅黑" panose="020B0503020204020204" pitchFamily="34" charset="-122"/>
              </a:rPr>
              <a:t>网络</a:t>
            </a:r>
            <a:r>
              <a:rPr lang="en-US" altLang="zh-CN" sz="1800" b="0" spc="600" dirty="0">
                <a:solidFill>
                  <a:srgbClr val="5B307E"/>
                </a:solidFill>
                <a:latin typeface="微软雅黑" panose="020B0503020204020204" pitchFamily="34" charset="-122"/>
                <a:ea typeface="微软雅黑" panose="020B0503020204020204" pitchFamily="34" charset="-122"/>
              </a:rPr>
              <a:t>·</a:t>
            </a:r>
            <a:r>
              <a:rPr lang="zh-CN" altLang="en-US" sz="1800" spc="600" dirty="0">
                <a:solidFill>
                  <a:srgbClr val="5B307E"/>
                </a:solidFill>
                <a:latin typeface="微软雅黑" panose="020B0503020204020204" pitchFamily="34" charset="-122"/>
                <a:ea typeface="微软雅黑" panose="020B0503020204020204" pitchFamily="34" charset="-122"/>
              </a:rPr>
              <a:t>分享</a:t>
            </a:r>
          </a:p>
        </p:txBody>
      </p:sp>
      <p:grpSp>
        <p:nvGrpSpPr>
          <p:cNvPr id="26" name="组合 25">
            <a:extLst>
              <a:ext uri="{FF2B5EF4-FFF2-40B4-BE49-F238E27FC236}">
                <a16:creationId xmlns:a16="http://schemas.microsoft.com/office/drawing/2014/main" id="{8AB2E87B-2061-474F-BD6B-FFB3E5285CE9}"/>
              </a:ext>
            </a:extLst>
          </p:cNvPr>
          <p:cNvGrpSpPr/>
          <p:nvPr userDrawn="1"/>
        </p:nvGrpSpPr>
        <p:grpSpPr>
          <a:xfrm>
            <a:off x="4771770" y="5979422"/>
            <a:ext cx="2648459" cy="742053"/>
            <a:chOff x="4858653" y="5979422"/>
            <a:chExt cx="2648459" cy="742053"/>
          </a:xfrm>
        </p:grpSpPr>
        <p:grpSp>
          <p:nvGrpSpPr>
            <p:cNvPr id="24" name="组合 23">
              <a:extLst>
                <a:ext uri="{FF2B5EF4-FFF2-40B4-BE49-F238E27FC236}">
                  <a16:creationId xmlns:a16="http://schemas.microsoft.com/office/drawing/2014/main" id="{ABB9B9B8-F63F-5C48-98A1-BF8860F585BF}"/>
                </a:ext>
              </a:extLst>
            </p:cNvPr>
            <p:cNvGrpSpPr/>
            <p:nvPr userDrawn="1"/>
          </p:nvGrpSpPr>
          <p:grpSpPr>
            <a:xfrm>
              <a:off x="4858653" y="5979422"/>
              <a:ext cx="867188" cy="742053"/>
              <a:chOff x="901977" y="761321"/>
              <a:chExt cx="1281319" cy="1139058"/>
            </a:xfrm>
          </p:grpSpPr>
          <p:sp>
            <p:nvSpPr>
              <p:cNvPr id="10" name="矩形 9">
                <a:extLst>
                  <a:ext uri="{FF2B5EF4-FFF2-40B4-BE49-F238E27FC236}">
                    <a16:creationId xmlns:a16="http://schemas.microsoft.com/office/drawing/2014/main" id="{D1B680A8-BC74-BA43-BB0D-C8F8C7B77C8F}"/>
                  </a:ext>
                </a:extLst>
              </p:cNvPr>
              <p:cNvSpPr/>
              <p:nvPr userDrawn="1"/>
            </p:nvSpPr>
            <p:spPr>
              <a:xfrm>
                <a:off x="901977" y="761321"/>
                <a:ext cx="1281319" cy="113905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grpSp>
            <p:nvGrpSpPr>
              <p:cNvPr id="11" name="组合 10">
                <a:extLst>
                  <a:ext uri="{FF2B5EF4-FFF2-40B4-BE49-F238E27FC236}">
                    <a16:creationId xmlns:a16="http://schemas.microsoft.com/office/drawing/2014/main" id="{3F50F50E-8A90-104F-B899-DE9D869B8A5F}"/>
                  </a:ext>
                </a:extLst>
              </p:cNvPr>
              <p:cNvGrpSpPr/>
              <p:nvPr userDrawn="1"/>
            </p:nvGrpSpPr>
            <p:grpSpPr>
              <a:xfrm>
                <a:off x="1031055" y="907676"/>
                <a:ext cx="1013957" cy="853426"/>
                <a:chOff x="1368170" y="664579"/>
                <a:chExt cx="550582" cy="439737"/>
              </a:xfrm>
              <a:solidFill>
                <a:schemeClr val="bg1"/>
              </a:solidFill>
            </p:grpSpPr>
            <p:sp>
              <p:nvSpPr>
                <p:cNvPr id="12" name="Freeform 1">
                  <a:extLst>
                    <a:ext uri="{FF2B5EF4-FFF2-40B4-BE49-F238E27FC236}">
                      <a16:creationId xmlns:a16="http://schemas.microsoft.com/office/drawing/2014/main" id="{D5F846F9-652E-1B4D-9692-FE9281D20E9C}"/>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 name="Freeform 2">
                  <a:extLst>
                    <a:ext uri="{FF2B5EF4-FFF2-40B4-BE49-F238E27FC236}">
                      <a16:creationId xmlns:a16="http://schemas.microsoft.com/office/drawing/2014/main" id="{29E72527-4F98-5C42-A871-1F1811E8F11A}"/>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Freeform 3">
                  <a:extLst>
                    <a:ext uri="{FF2B5EF4-FFF2-40B4-BE49-F238E27FC236}">
                      <a16:creationId xmlns:a16="http://schemas.microsoft.com/office/drawing/2014/main" id="{E5209C47-8580-2040-BA4C-C66647BCADD2}"/>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Freeform 4">
                  <a:extLst>
                    <a:ext uri="{FF2B5EF4-FFF2-40B4-BE49-F238E27FC236}">
                      <a16:creationId xmlns:a16="http://schemas.microsoft.com/office/drawing/2014/main" id="{8D752D59-1EE5-1646-B01E-BA47AB38FFE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Freeform 5">
                  <a:extLst>
                    <a:ext uri="{FF2B5EF4-FFF2-40B4-BE49-F238E27FC236}">
                      <a16:creationId xmlns:a16="http://schemas.microsoft.com/office/drawing/2014/main" id="{736C1717-3251-C843-B909-26D88513A992}"/>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Freeform 6">
                  <a:extLst>
                    <a:ext uri="{FF2B5EF4-FFF2-40B4-BE49-F238E27FC236}">
                      <a16:creationId xmlns:a16="http://schemas.microsoft.com/office/drawing/2014/main" id="{A3B338F7-55A4-4740-9066-F03D0DE3B4C8}"/>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Freeform 7">
                  <a:extLst>
                    <a:ext uri="{FF2B5EF4-FFF2-40B4-BE49-F238E27FC236}">
                      <a16:creationId xmlns:a16="http://schemas.microsoft.com/office/drawing/2014/main" id="{4141CE36-498C-CB43-8361-06B6ABAF9EAA}"/>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Freeform 8">
                  <a:extLst>
                    <a:ext uri="{FF2B5EF4-FFF2-40B4-BE49-F238E27FC236}">
                      <a16:creationId xmlns:a16="http://schemas.microsoft.com/office/drawing/2014/main" id="{8C0DB147-A359-BD41-A434-9663F54133EF}"/>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Freeform 9">
                  <a:extLst>
                    <a:ext uri="{FF2B5EF4-FFF2-40B4-BE49-F238E27FC236}">
                      <a16:creationId xmlns:a16="http://schemas.microsoft.com/office/drawing/2014/main" id="{C6F23298-B6AB-BA43-B481-2717E0BC3632}"/>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Freeform 10">
                  <a:extLst>
                    <a:ext uri="{FF2B5EF4-FFF2-40B4-BE49-F238E27FC236}">
                      <a16:creationId xmlns:a16="http://schemas.microsoft.com/office/drawing/2014/main" id="{358E77EF-FA74-0941-A231-8FD607054BB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Freeform 11">
                  <a:extLst>
                    <a:ext uri="{FF2B5EF4-FFF2-40B4-BE49-F238E27FC236}">
                      <a16:creationId xmlns:a16="http://schemas.microsoft.com/office/drawing/2014/main" id="{C4AC1E84-A6C9-AC43-8829-ADA26407D647}"/>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
          <p:nvSpPr>
            <p:cNvPr id="25" name="文本框 24">
              <a:extLst>
                <a:ext uri="{FF2B5EF4-FFF2-40B4-BE49-F238E27FC236}">
                  <a16:creationId xmlns:a16="http://schemas.microsoft.com/office/drawing/2014/main" id="{C343F0B3-495F-9444-816E-38B2C9F55C5E}"/>
                </a:ext>
              </a:extLst>
            </p:cNvPr>
            <p:cNvSpPr txBox="1"/>
            <p:nvPr userDrawn="1"/>
          </p:nvSpPr>
          <p:spPr>
            <a:xfrm>
              <a:off x="5783563" y="5979422"/>
              <a:ext cx="1723549" cy="723275"/>
            </a:xfrm>
            <a:prstGeom prst="rect">
              <a:avLst/>
            </a:prstGeom>
            <a:noFill/>
          </p:spPr>
          <p:txBody>
            <a:bodyPr wrap="none" rtlCol="0">
              <a:spAutoFit/>
            </a:bodyPr>
            <a:lstStyle/>
            <a:p>
              <a:pPr algn="ctr">
                <a:spcBef>
                  <a:spcPts val="600"/>
                </a:spcBef>
              </a:pPr>
              <a:r>
                <a:rPr lang="zh-CN" altLang="en-US" sz="1800" spc="600" dirty="0">
                  <a:solidFill>
                    <a:srgbClr val="5B307E"/>
                  </a:solidFill>
                  <a:latin typeface="微软雅黑" panose="020B0503020204020204" pitchFamily="34" charset="-122"/>
                  <a:ea typeface="微软雅黑" panose="020B0503020204020204" pitchFamily="34" charset="-122"/>
                </a:rPr>
                <a:t>计算机网络</a:t>
              </a:r>
              <a:endParaRPr lang="en-US" altLang="zh-CN" sz="1800" spc="600" dirty="0">
                <a:solidFill>
                  <a:srgbClr val="5B307E"/>
                </a:solidFill>
                <a:latin typeface="微软雅黑" panose="020B0503020204020204" pitchFamily="34" charset="-122"/>
                <a:ea typeface="微软雅黑" panose="020B0503020204020204" pitchFamily="34" charset="-122"/>
              </a:endParaRPr>
            </a:p>
            <a:p>
              <a:pPr algn="ctr">
                <a:spcBef>
                  <a:spcPts val="600"/>
                </a:spcBef>
              </a:pPr>
              <a:r>
                <a:rPr lang="zh-CN" altLang="en-US" sz="1800" spc="600" dirty="0">
                  <a:solidFill>
                    <a:srgbClr val="5B307E"/>
                  </a:solidFill>
                  <a:latin typeface="微软雅黑" panose="020B0503020204020204" pitchFamily="34" charset="-122"/>
                  <a:ea typeface="微软雅黑" panose="020B0503020204020204" pitchFamily="34" charset="-122"/>
                </a:rPr>
                <a:t>教案社区</a:t>
              </a:r>
            </a:p>
          </p:txBody>
        </p:sp>
      </p:grpSp>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41554"/>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p>
            <a:fld id="{742A9FFD-B852-1440-BFA7-3771E624B655}" type="datetime1">
              <a:rPr kumimoji="1" lang="zh-CN" altLang="en-US" smtClean="0"/>
              <a:t>2021/4/15</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41" name="组合 40">
            <a:extLst>
              <a:ext uri="{FF2B5EF4-FFF2-40B4-BE49-F238E27FC236}">
                <a16:creationId xmlns:a16="http://schemas.microsoft.com/office/drawing/2014/main" id="{AB0058AB-B1F1-354B-AC17-D97CF5C61CCA}"/>
              </a:ext>
            </a:extLst>
          </p:cNvPr>
          <p:cNvGrpSpPr/>
          <p:nvPr userDrawn="1"/>
        </p:nvGrpSpPr>
        <p:grpSpPr>
          <a:xfrm>
            <a:off x="9849450" y="844221"/>
            <a:ext cx="1961485" cy="208345"/>
            <a:chOff x="1368170" y="1165302"/>
            <a:chExt cx="4139947" cy="439737"/>
          </a:xfrm>
        </p:grpSpPr>
        <p:grpSp>
          <p:nvGrpSpPr>
            <p:cNvPr id="42" name="组合 41">
              <a:extLst>
                <a:ext uri="{FF2B5EF4-FFF2-40B4-BE49-F238E27FC236}">
                  <a16:creationId xmlns:a16="http://schemas.microsoft.com/office/drawing/2014/main" id="{AAF2B681-E82A-B44D-9C2D-B50F21D83567}"/>
                </a:ext>
              </a:extLst>
            </p:cNvPr>
            <p:cNvGrpSpPr/>
            <p:nvPr/>
          </p:nvGrpSpPr>
          <p:grpSpPr>
            <a:xfrm>
              <a:off x="1368170" y="1165302"/>
              <a:ext cx="550582" cy="439737"/>
              <a:chOff x="1368170" y="664579"/>
              <a:chExt cx="550582" cy="439737"/>
            </a:xfrm>
          </p:grpSpPr>
          <p:sp>
            <p:nvSpPr>
              <p:cNvPr id="53" name="Freeform 1">
                <a:extLst>
                  <a:ext uri="{FF2B5EF4-FFF2-40B4-BE49-F238E27FC236}">
                    <a16:creationId xmlns:a16="http://schemas.microsoft.com/office/drawing/2014/main" id="{0961A78E-DF61-2349-8E10-2E9861DBEA9A}"/>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 name="Freeform 2">
                <a:extLst>
                  <a:ext uri="{FF2B5EF4-FFF2-40B4-BE49-F238E27FC236}">
                    <a16:creationId xmlns:a16="http://schemas.microsoft.com/office/drawing/2014/main" id="{1B3EB2F6-21CF-A24E-9B62-5D7928C20B20}"/>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 name="Freeform 3">
                <a:extLst>
                  <a:ext uri="{FF2B5EF4-FFF2-40B4-BE49-F238E27FC236}">
                    <a16:creationId xmlns:a16="http://schemas.microsoft.com/office/drawing/2014/main" id="{81A1399D-3A4A-4346-8C84-7B455211A803}"/>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6" name="Freeform 4">
                <a:extLst>
                  <a:ext uri="{FF2B5EF4-FFF2-40B4-BE49-F238E27FC236}">
                    <a16:creationId xmlns:a16="http://schemas.microsoft.com/office/drawing/2014/main" id="{E9BBE6CF-9D5F-7A45-BADF-582C03D33AE6}"/>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7" name="Freeform 5">
                <a:extLst>
                  <a:ext uri="{FF2B5EF4-FFF2-40B4-BE49-F238E27FC236}">
                    <a16:creationId xmlns:a16="http://schemas.microsoft.com/office/drawing/2014/main" id="{4AA75148-84CF-0844-9DC3-A5A612E4F4BE}"/>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8" name="Freeform 6">
                <a:extLst>
                  <a:ext uri="{FF2B5EF4-FFF2-40B4-BE49-F238E27FC236}">
                    <a16:creationId xmlns:a16="http://schemas.microsoft.com/office/drawing/2014/main" id="{AB607A71-F482-B646-9976-486F89F11276}"/>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9" name="Freeform 7">
                <a:extLst>
                  <a:ext uri="{FF2B5EF4-FFF2-40B4-BE49-F238E27FC236}">
                    <a16:creationId xmlns:a16="http://schemas.microsoft.com/office/drawing/2014/main" id="{6DA5CE31-3E42-6346-B29B-FE9FF265D7AD}"/>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0" name="Freeform 8">
                <a:extLst>
                  <a:ext uri="{FF2B5EF4-FFF2-40B4-BE49-F238E27FC236}">
                    <a16:creationId xmlns:a16="http://schemas.microsoft.com/office/drawing/2014/main" id="{CF0A24C0-A91E-F641-90F0-BC83EC452429}"/>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 name="Freeform 9">
                <a:extLst>
                  <a:ext uri="{FF2B5EF4-FFF2-40B4-BE49-F238E27FC236}">
                    <a16:creationId xmlns:a16="http://schemas.microsoft.com/office/drawing/2014/main" id="{310AF166-F554-F74D-AB72-E414E499E277}"/>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2" name="Freeform 10">
                <a:extLst>
                  <a:ext uri="{FF2B5EF4-FFF2-40B4-BE49-F238E27FC236}">
                    <a16:creationId xmlns:a16="http://schemas.microsoft.com/office/drawing/2014/main" id="{8D3BD77D-1A93-E64A-9C17-6A3B016DF2E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 name="Freeform 11">
                <a:extLst>
                  <a:ext uri="{FF2B5EF4-FFF2-40B4-BE49-F238E27FC236}">
                    <a16:creationId xmlns:a16="http://schemas.microsoft.com/office/drawing/2014/main" id="{0D54B55E-B871-E543-9108-B4A5765745E5}"/>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3" name="组合 42">
              <a:extLst>
                <a:ext uri="{FF2B5EF4-FFF2-40B4-BE49-F238E27FC236}">
                  <a16:creationId xmlns:a16="http://schemas.microsoft.com/office/drawing/2014/main" id="{30A711A7-A169-8A41-85E2-EA40E3A3BB5F}"/>
                </a:ext>
              </a:extLst>
            </p:cNvPr>
            <p:cNvGrpSpPr/>
            <p:nvPr/>
          </p:nvGrpSpPr>
          <p:grpSpPr>
            <a:xfrm>
              <a:off x="2028870" y="1197389"/>
              <a:ext cx="3479247" cy="365353"/>
              <a:chOff x="2028870" y="696666"/>
              <a:chExt cx="3479247" cy="365353"/>
            </a:xfrm>
            <a:solidFill>
              <a:schemeClr val="bg1">
                <a:lumMod val="50000"/>
              </a:schemeClr>
            </a:solidFill>
          </p:grpSpPr>
          <p:sp>
            <p:nvSpPr>
              <p:cNvPr id="44" name="Freeform 12">
                <a:extLst>
                  <a:ext uri="{FF2B5EF4-FFF2-40B4-BE49-F238E27FC236}">
                    <a16:creationId xmlns:a16="http://schemas.microsoft.com/office/drawing/2014/main" id="{7E68957D-5A1D-C948-A5BC-A3888C640FE3}"/>
                  </a:ext>
                </a:extLst>
              </p:cNvPr>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13">
                <a:extLst>
                  <a:ext uri="{FF2B5EF4-FFF2-40B4-BE49-F238E27FC236}">
                    <a16:creationId xmlns:a16="http://schemas.microsoft.com/office/drawing/2014/main" id="{01D55A2B-04CF-B043-87D1-43B606D23BFB}"/>
                  </a:ext>
                </a:extLst>
              </p:cNvPr>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14">
                <a:extLst>
                  <a:ext uri="{FF2B5EF4-FFF2-40B4-BE49-F238E27FC236}">
                    <a16:creationId xmlns:a16="http://schemas.microsoft.com/office/drawing/2014/main" id="{FF056158-A321-8F40-B663-2CF3304CA5ED}"/>
                  </a:ext>
                </a:extLst>
              </p:cNvPr>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15">
                <a:extLst>
                  <a:ext uri="{FF2B5EF4-FFF2-40B4-BE49-F238E27FC236}">
                    <a16:creationId xmlns:a16="http://schemas.microsoft.com/office/drawing/2014/main" id="{9C184C5C-D7DA-A74D-B56E-C97972D2E6C1}"/>
                  </a:ext>
                </a:extLst>
              </p:cNvPr>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16">
                <a:extLst>
                  <a:ext uri="{FF2B5EF4-FFF2-40B4-BE49-F238E27FC236}">
                    <a16:creationId xmlns:a16="http://schemas.microsoft.com/office/drawing/2014/main" id="{177BD5B8-6ED6-AF44-A4E9-AC0F5ADBB26A}"/>
                  </a:ext>
                </a:extLst>
              </p:cNvPr>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17">
                <a:extLst>
                  <a:ext uri="{FF2B5EF4-FFF2-40B4-BE49-F238E27FC236}">
                    <a16:creationId xmlns:a16="http://schemas.microsoft.com/office/drawing/2014/main" id="{659E8A2F-BD45-A141-8653-9A26A575F667}"/>
                  </a:ext>
                </a:extLst>
              </p:cNvPr>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8">
                <a:extLst>
                  <a:ext uri="{FF2B5EF4-FFF2-40B4-BE49-F238E27FC236}">
                    <a16:creationId xmlns:a16="http://schemas.microsoft.com/office/drawing/2014/main" id="{74855C05-5F16-C049-9443-A35BB82DE2CF}"/>
                  </a:ext>
                </a:extLst>
              </p:cNvPr>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9">
                <a:extLst>
                  <a:ext uri="{FF2B5EF4-FFF2-40B4-BE49-F238E27FC236}">
                    <a16:creationId xmlns:a16="http://schemas.microsoft.com/office/drawing/2014/main" id="{F26716A7-ED33-4E4F-BADB-2E2D22363495}"/>
                  </a:ext>
                </a:extLst>
              </p:cNvPr>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20">
                <a:extLst>
                  <a:ext uri="{FF2B5EF4-FFF2-40B4-BE49-F238E27FC236}">
                    <a16:creationId xmlns:a16="http://schemas.microsoft.com/office/drawing/2014/main" id="{A25A530F-4DF9-E348-A512-A3FC76E2497C}"/>
                  </a:ext>
                </a:extLst>
              </p:cNvPr>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65" name="组合 64">
            <a:extLst>
              <a:ext uri="{FF2B5EF4-FFF2-40B4-BE49-F238E27FC236}">
                <a16:creationId xmlns:a16="http://schemas.microsoft.com/office/drawing/2014/main" id="{C69ABA2F-7A98-FE44-912C-23CCE000584E}"/>
              </a:ext>
            </a:extLst>
          </p:cNvPr>
          <p:cNvGrpSpPr/>
          <p:nvPr userDrawn="1"/>
        </p:nvGrpSpPr>
        <p:grpSpPr>
          <a:xfrm>
            <a:off x="10332133" y="426643"/>
            <a:ext cx="927707" cy="369331"/>
            <a:chOff x="1113126" y="809213"/>
            <a:chExt cx="2133357" cy="523762"/>
          </a:xfrm>
          <a:solidFill>
            <a:schemeClr val="bg1">
              <a:lumMod val="75000"/>
            </a:schemeClr>
          </a:solidFill>
        </p:grpSpPr>
        <p:sp>
          <p:nvSpPr>
            <p:cNvPr id="66" name="椭圆 65">
              <a:extLst>
                <a:ext uri="{FF2B5EF4-FFF2-40B4-BE49-F238E27FC236}">
                  <a16:creationId xmlns:a16="http://schemas.microsoft.com/office/drawing/2014/main" id="{5034F0ED-7F0F-A647-8634-57EC9EDD7255}"/>
                </a:ext>
              </a:extLst>
            </p:cNvPr>
            <p:cNvSpPr/>
            <p:nvPr userDrawn="1"/>
          </p:nvSpPr>
          <p:spPr>
            <a:xfrm>
              <a:off x="1113126"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椭圆 66">
              <a:extLst>
                <a:ext uri="{FF2B5EF4-FFF2-40B4-BE49-F238E27FC236}">
                  <a16:creationId xmlns:a16="http://schemas.microsoft.com/office/drawing/2014/main" id="{D081D63E-0DB7-F145-BD48-A7D925A71793}"/>
                </a:ext>
              </a:extLst>
            </p:cNvPr>
            <p:cNvSpPr/>
            <p:nvPr userDrawn="1"/>
          </p:nvSpPr>
          <p:spPr>
            <a:xfrm>
              <a:off x="1649658"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8" name="椭圆 67">
              <a:extLst>
                <a:ext uri="{FF2B5EF4-FFF2-40B4-BE49-F238E27FC236}">
                  <a16:creationId xmlns:a16="http://schemas.microsoft.com/office/drawing/2014/main" id="{DE68830E-1F7F-B045-A86E-6FF9C25B8D77}"/>
                </a:ext>
              </a:extLst>
            </p:cNvPr>
            <p:cNvSpPr/>
            <p:nvPr userDrawn="1"/>
          </p:nvSpPr>
          <p:spPr>
            <a:xfrm>
              <a:off x="2186190"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9" name="椭圆 68">
              <a:extLst>
                <a:ext uri="{FF2B5EF4-FFF2-40B4-BE49-F238E27FC236}">
                  <a16:creationId xmlns:a16="http://schemas.microsoft.com/office/drawing/2014/main" id="{86747901-9919-AD4B-8F5D-A15F9E1E169D}"/>
                </a:ext>
              </a:extLst>
            </p:cNvPr>
            <p:cNvSpPr/>
            <p:nvPr userDrawn="1"/>
          </p:nvSpPr>
          <p:spPr>
            <a:xfrm>
              <a:off x="2722721"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70" name="矩形 69">
            <a:extLst>
              <a:ext uri="{FF2B5EF4-FFF2-40B4-BE49-F238E27FC236}">
                <a16:creationId xmlns:a16="http://schemas.microsoft.com/office/drawing/2014/main" id="{2BB61636-6036-1C48-82CA-04EB1597C9CC}"/>
              </a:ext>
            </a:extLst>
          </p:cNvPr>
          <p:cNvSpPr/>
          <p:nvPr userDrawn="1"/>
        </p:nvSpPr>
        <p:spPr>
          <a:xfrm>
            <a:off x="10245804" y="413133"/>
            <a:ext cx="1107996" cy="369332"/>
          </a:xfrm>
          <a:prstGeom prst="rect">
            <a:avLst/>
          </a:prstGeom>
          <a:noFill/>
        </p:spPr>
        <p:txBody>
          <a:bodyPr wrap="none" lIns="91440" tIns="45720" rIns="91440" bIns="45720">
            <a:spAutoFit/>
          </a:bodyPr>
          <a:lstStyle/>
          <a:p>
            <a:pPr algn="ctr"/>
            <a:r>
              <a:rPr lang="zh-CN" altLang="en-US" sz="1800" b="1" cap="none" spc="0" dirty="0">
                <a:ln w="22225">
                  <a:noFill/>
                  <a:prstDash val="solid"/>
                </a:ln>
                <a:solidFill>
                  <a:schemeClr val="accent1">
                    <a:lumMod val="60000"/>
                    <a:lumOff val="40000"/>
                  </a:schemeClr>
                </a:solidFill>
                <a:effectLst/>
              </a:rPr>
              <a:t>我的学校</a:t>
            </a:r>
          </a:p>
        </p:txBody>
      </p: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882D0-572E-624F-BEDB-F00CBE6A218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A87903-353F-4B4A-B3FB-4066EDD98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04B3FA-B4F5-5C42-B890-F4076B7A4FD0}"/>
              </a:ext>
            </a:extLst>
          </p:cNvPr>
          <p:cNvSpPr>
            <a:spLocks noGrp="1"/>
          </p:cNvSpPr>
          <p:nvPr>
            <p:ph type="dt" sz="half" idx="10"/>
          </p:nvPr>
        </p:nvSpPr>
        <p:spPr/>
        <p:txBody>
          <a:bodyPr/>
          <a:lstStyle/>
          <a:p>
            <a:fld id="{8FB9FD2C-6821-D14F-9B68-59272353C12E}" type="datetime1">
              <a:rPr kumimoji="1" lang="zh-CN" altLang="en-US" smtClean="0"/>
              <a:t>2021/4/15</a:t>
            </a:fld>
            <a:endParaRPr kumimoji="1" lang="zh-CN" altLang="en-US"/>
          </a:p>
        </p:txBody>
      </p:sp>
      <p:sp>
        <p:nvSpPr>
          <p:cNvPr id="5" name="页脚占位符 4">
            <a:extLst>
              <a:ext uri="{FF2B5EF4-FFF2-40B4-BE49-F238E27FC236}">
                <a16:creationId xmlns:a16="http://schemas.microsoft.com/office/drawing/2014/main" id="{0C101AF8-66A2-9540-852A-299D3631665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EE700E-C900-6342-B705-37A4EAE2A741}"/>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Tree>
    <p:extLst>
      <p:ext uri="{BB962C8B-B14F-4D97-AF65-F5344CB8AC3E}">
        <p14:creationId xmlns:p14="http://schemas.microsoft.com/office/powerpoint/2010/main" val="1592629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p>
            <a:fld id="{3B2C8BEE-C117-B242-AE80-6684D8ECFAC3}" type="datetime1">
              <a:rPr kumimoji="1" lang="zh-CN" altLang="en-US" smtClean="0"/>
              <a:t>2021/4/15</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553426"/>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a16="http://schemas.microsoft.com/office/drawing/2014/main" id="{F75304E3-D2BA-6B43-A9CA-868095E37E2C}"/>
              </a:ext>
            </a:extLst>
          </p:cNvPr>
          <p:cNvGrpSpPr/>
          <p:nvPr userDrawn="1"/>
        </p:nvGrpSpPr>
        <p:grpSpPr>
          <a:xfrm>
            <a:off x="9849450" y="844221"/>
            <a:ext cx="1961485" cy="208345"/>
            <a:chOff x="1368170" y="1165302"/>
            <a:chExt cx="4139947" cy="439737"/>
          </a:xfrm>
        </p:grpSpPr>
        <p:grpSp>
          <p:nvGrpSpPr>
            <p:cNvPr id="11" name="组合 10">
              <a:extLst>
                <a:ext uri="{FF2B5EF4-FFF2-40B4-BE49-F238E27FC236}">
                  <a16:creationId xmlns:a16="http://schemas.microsoft.com/office/drawing/2014/main" id="{C6BD9614-F72F-8A43-9314-4D110B22A613}"/>
                </a:ext>
              </a:extLst>
            </p:cNvPr>
            <p:cNvGrpSpPr/>
            <p:nvPr/>
          </p:nvGrpSpPr>
          <p:grpSpPr>
            <a:xfrm>
              <a:off x="1368170" y="1165302"/>
              <a:ext cx="550582" cy="439737"/>
              <a:chOff x="1368170" y="664579"/>
              <a:chExt cx="550582" cy="439737"/>
            </a:xfrm>
          </p:grpSpPr>
          <p:sp>
            <p:nvSpPr>
              <p:cNvPr id="22" name="Freeform 1">
                <a:extLst>
                  <a:ext uri="{FF2B5EF4-FFF2-40B4-BE49-F238E27FC236}">
                    <a16:creationId xmlns:a16="http://schemas.microsoft.com/office/drawing/2014/main" id="{17E3AC1A-2BCC-CA46-AC9B-ECC6AD4DD9B6}"/>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Freeform 2">
                <a:extLst>
                  <a:ext uri="{FF2B5EF4-FFF2-40B4-BE49-F238E27FC236}">
                    <a16:creationId xmlns:a16="http://schemas.microsoft.com/office/drawing/2014/main" id="{8FC97171-0F8A-6B4A-BC04-4A83196EEE71}"/>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Freeform 3">
                <a:extLst>
                  <a:ext uri="{FF2B5EF4-FFF2-40B4-BE49-F238E27FC236}">
                    <a16:creationId xmlns:a16="http://schemas.microsoft.com/office/drawing/2014/main" id="{2486AB9B-C9E8-E94F-B7E8-57CD9649846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Freeform 4">
                <a:extLst>
                  <a:ext uri="{FF2B5EF4-FFF2-40B4-BE49-F238E27FC236}">
                    <a16:creationId xmlns:a16="http://schemas.microsoft.com/office/drawing/2014/main" id="{18A408D8-23CF-864B-9403-912ED0D24EDB}"/>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Freeform 5">
                <a:extLst>
                  <a:ext uri="{FF2B5EF4-FFF2-40B4-BE49-F238E27FC236}">
                    <a16:creationId xmlns:a16="http://schemas.microsoft.com/office/drawing/2014/main" id="{77D66A57-5273-854B-AD7C-A91B6BFF4D68}"/>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Freeform 6">
                <a:extLst>
                  <a:ext uri="{FF2B5EF4-FFF2-40B4-BE49-F238E27FC236}">
                    <a16:creationId xmlns:a16="http://schemas.microsoft.com/office/drawing/2014/main" id="{9AD37317-D84E-444B-88EB-8CF2CC57CC4B}"/>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Freeform 7">
                <a:extLst>
                  <a:ext uri="{FF2B5EF4-FFF2-40B4-BE49-F238E27FC236}">
                    <a16:creationId xmlns:a16="http://schemas.microsoft.com/office/drawing/2014/main" id="{069D0FB6-7378-5344-B149-1899961AC549}"/>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Freeform 8">
                <a:extLst>
                  <a:ext uri="{FF2B5EF4-FFF2-40B4-BE49-F238E27FC236}">
                    <a16:creationId xmlns:a16="http://schemas.microsoft.com/office/drawing/2014/main" id="{3084061A-A4AC-BE42-8E46-F3BEBCC64BF5}"/>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Freeform 9">
                <a:extLst>
                  <a:ext uri="{FF2B5EF4-FFF2-40B4-BE49-F238E27FC236}">
                    <a16:creationId xmlns:a16="http://schemas.microsoft.com/office/drawing/2014/main" id="{F3560C95-0398-8848-953C-C870AD870704}"/>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Freeform 10">
                <a:extLst>
                  <a:ext uri="{FF2B5EF4-FFF2-40B4-BE49-F238E27FC236}">
                    <a16:creationId xmlns:a16="http://schemas.microsoft.com/office/drawing/2014/main" id="{FC10BBCE-A81E-674D-90E5-1E60F8B244E1}"/>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Freeform 11">
                <a:extLst>
                  <a:ext uri="{FF2B5EF4-FFF2-40B4-BE49-F238E27FC236}">
                    <a16:creationId xmlns:a16="http://schemas.microsoft.com/office/drawing/2014/main" id="{7825D298-25D2-B645-9DE4-6B4AC2DAF41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2" name="组合 11">
              <a:extLst>
                <a:ext uri="{FF2B5EF4-FFF2-40B4-BE49-F238E27FC236}">
                  <a16:creationId xmlns:a16="http://schemas.microsoft.com/office/drawing/2014/main" id="{1AB322FF-E82E-B849-A67E-8885F84F1B80}"/>
                </a:ext>
              </a:extLst>
            </p:cNvPr>
            <p:cNvGrpSpPr/>
            <p:nvPr/>
          </p:nvGrpSpPr>
          <p:grpSpPr>
            <a:xfrm>
              <a:off x="2028870" y="1197389"/>
              <a:ext cx="3479247" cy="365353"/>
              <a:chOff x="2028870" y="696666"/>
              <a:chExt cx="3479247" cy="365353"/>
            </a:xfrm>
            <a:solidFill>
              <a:schemeClr val="bg1">
                <a:lumMod val="50000"/>
              </a:schemeClr>
            </a:solidFill>
          </p:grpSpPr>
          <p:sp>
            <p:nvSpPr>
              <p:cNvPr id="13" name="Freeform 12">
                <a:extLst>
                  <a:ext uri="{FF2B5EF4-FFF2-40B4-BE49-F238E27FC236}">
                    <a16:creationId xmlns:a16="http://schemas.microsoft.com/office/drawing/2014/main" id="{939245C7-932E-A84A-81EC-0A53746F9A2E}"/>
                  </a:ext>
                </a:extLst>
              </p:cNvPr>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Freeform 13">
                <a:extLst>
                  <a:ext uri="{FF2B5EF4-FFF2-40B4-BE49-F238E27FC236}">
                    <a16:creationId xmlns:a16="http://schemas.microsoft.com/office/drawing/2014/main" id="{09FAD7D1-6766-4344-BAA4-F13F7EAB76F7}"/>
                  </a:ext>
                </a:extLst>
              </p:cNvPr>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Freeform 14">
                <a:extLst>
                  <a:ext uri="{FF2B5EF4-FFF2-40B4-BE49-F238E27FC236}">
                    <a16:creationId xmlns:a16="http://schemas.microsoft.com/office/drawing/2014/main" id="{A3F469B6-43A0-3142-B44A-FCAEEFFB11A0}"/>
                  </a:ext>
                </a:extLst>
              </p:cNvPr>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Freeform 15">
                <a:extLst>
                  <a:ext uri="{FF2B5EF4-FFF2-40B4-BE49-F238E27FC236}">
                    <a16:creationId xmlns:a16="http://schemas.microsoft.com/office/drawing/2014/main" id="{939FDE59-FDA2-7D42-A573-9D861EDB611C}"/>
                  </a:ext>
                </a:extLst>
              </p:cNvPr>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Freeform 16">
                <a:extLst>
                  <a:ext uri="{FF2B5EF4-FFF2-40B4-BE49-F238E27FC236}">
                    <a16:creationId xmlns:a16="http://schemas.microsoft.com/office/drawing/2014/main" id="{CC481843-8BD3-B44C-9129-7DD52746EE9B}"/>
                  </a:ext>
                </a:extLst>
              </p:cNvPr>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Freeform 17">
                <a:extLst>
                  <a:ext uri="{FF2B5EF4-FFF2-40B4-BE49-F238E27FC236}">
                    <a16:creationId xmlns:a16="http://schemas.microsoft.com/office/drawing/2014/main" id="{1BF5661B-2AA7-7048-834E-17B9B91BE076}"/>
                  </a:ext>
                </a:extLst>
              </p:cNvPr>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Freeform 18">
                <a:extLst>
                  <a:ext uri="{FF2B5EF4-FFF2-40B4-BE49-F238E27FC236}">
                    <a16:creationId xmlns:a16="http://schemas.microsoft.com/office/drawing/2014/main" id="{520B1655-B78A-3F4A-ADE4-43A6AB333698}"/>
                  </a:ext>
                </a:extLst>
              </p:cNvPr>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Freeform 19">
                <a:extLst>
                  <a:ext uri="{FF2B5EF4-FFF2-40B4-BE49-F238E27FC236}">
                    <a16:creationId xmlns:a16="http://schemas.microsoft.com/office/drawing/2014/main" id="{DA1AB818-CE52-9C47-874D-1AE276BE9F50}"/>
                  </a:ext>
                </a:extLst>
              </p:cNvPr>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Freeform 20">
                <a:extLst>
                  <a:ext uri="{FF2B5EF4-FFF2-40B4-BE49-F238E27FC236}">
                    <a16:creationId xmlns:a16="http://schemas.microsoft.com/office/drawing/2014/main" id="{3CBC2DBE-EEEF-564D-8484-7063829C5E70}"/>
                  </a:ext>
                </a:extLst>
              </p:cNvPr>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33" name="直线连接符 32">
            <a:extLst>
              <a:ext uri="{FF2B5EF4-FFF2-40B4-BE49-F238E27FC236}">
                <a16:creationId xmlns:a16="http://schemas.microsoft.com/office/drawing/2014/main" id="{E9B9A2A5-908B-3244-B39F-9E6705AE6320}"/>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4" name="组合 33">
            <a:extLst>
              <a:ext uri="{FF2B5EF4-FFF2-40B4-BE49-F238E27FC236}">
                <a16:creationId xmlns:a16="http://schemas.microsoft.com/office/drawing/2014/main" id="{0818B453-CEDC-BA4A-9983-86BF161F6CCA}"/>
              </a:ext>
            </a:extLst>
          </p:cNvPr>
          <p:cNvGrpSpPr/>
          <p:nvPr userDrawn="1"/>
        </p:nvGrpSpPr>
        <p:grpSpPr>
          <a:xfrm>
            <a:off x="10332133" y="426643"/>
            <a:ext cx="927707" cy="369331"/>
            <a:chOff x="1113126" y="809213"/>
            <a:chExt cx="2133357" cy="523762"/>
          </a:xfrm>
          <a:solidFill>
            <a:schemeClr val="bg1">
              <a:lumMod val="75000"/>
            </a:schemeClr>
          </a:solidFill>
        </p:grpSpPr>
        <p:sp>
          <p:nvSpPr>
            <p:cNvPr id="35" name="椭圆 34">
              <a:extLst>
                <a:ext uri="{FF2B5EF4-FFF2-40B4-BE49-F238E27FC236}">
                  <a16:creationId xmlns:a16="http://schemas.microsoft.com/office/drawing/2014/main" id="{DAFA7D0A-E7A1-5C48-B099-DF96D6B6DE63}"/>
                </a:ext>
              </a:extLst>
            </p:cNvPr>
            <p:cNvSpPr/>
            <p:nvPr userDrawn="1"/>
          </p:nvSpPr>
          <p:spPr>
            <a:xfrm>
              <a:off x="1113126"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a:extLst>
                <a:ext uri="{FF2B5EF4-FFF2-40B4-BE49-F238E27FC236}">
                  <a16:creationId xmlns:a16="http://schemas.microsoft.com/office/drawing/2014/main" id="{75839B81-B3A4-5643-94B7-D8D3506763F0}"/>
                </a:ext>
              </a:extLst>
            </p:cNvPr>
            <p:cNvSpPr/>
            <p:nvPr userDrawn="1"/>
          </p:nvSpPr>
          <p:spPr>
            <a:xfrm>
              <a:off x="1649658"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椭圆 36">
              <a:extLst>
                <a:ext uri="{FF2B5EF4-FFF2-40B4-BE49-F238E27FC236}">
                  <a16:creationId xmlns:a16="http://schemas.microsoft.com/office/drawing/2014/main" id="{5772B792-8E6B-4243-BB2D-857BC0580481}"/>
                </a:ext>
              </a:extLst>
            </p:cNvPr>
            <p:cNvSpPr/>
            <p:nvPr userDrawn="1"/>
          </p:nvSpPr>
          <p:spPr>
            <a:xfrm>
              <a:off x="2186190"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a:extLst>
                <a:ext uri="{FF2B5EF4-FFF2-40B4-BE49-F238E27FC236}">
                  <a16:creationId xmlns:a16="http://schemas.microsoft.com/office/drawing/2014/main" id="{C89D76EF-03E9-1D43-A563-9DC7302C7F5C}"/>
                </a:ext>
              </a:extLst>
            </p:cNvPr>
            <p:cNvSpPr/>
            <p:nvPr userDrawn="1"/>
          </p:nvSpPr>
          <p:spPr>
            <a:xfrm>
              <a:off x="2722721"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39" name="矩形 38">
            <a:extLst>
              <a:ext uri="{FF2B5EF4-FFF2-40B4-BE49-F238E27FC236}">
                <a16:creationId xmlns:a16="http://schemas.microsoft.com/office/drawing/2014/main" id="{8CFB3674-431C-F94A-8727-C9C98640DFEB}"/>
              </a:ext>
            </a:extLst>
          </p:cNvPr>
          <p:cNvSpPr/>
          <p:nvPr userDrawn="1"/>
        </p:nvSpPr>
        <p:spPr>
          <a:xfrm>
            <a:off x="10245804" y="413133"/>
            <a:ext cx="1107996" cy="369332"/>
          </a:xfrm>
          <a:prstGeom prst="rect">
            <a:avLst/>
          </a:prstGeom>
          <a:noFill/>
        </p:spPr>
        <p:txBody>
          <a:bodyPr wrap="none" lIns="91440" tIns="45720" rIns="91440" bIns="45720">
            <a:spAutoFit/>
          </a:bodyPr>
          <a:lstStyle/>
          <a:p>
            <a:pPr algn="ctr"/>
            <a:r>
              <a:rPr lang="zh-CN" altLang="en-US" sz="1800" b="1" cap="none" spc="0" dirty="0">
                <a:ln w="22225">
                  <a:noFill/>
                  <a:prstDash val="solid"/>
                </a:ln>
                <a:solidFill>
                  <a:schemeClr val="accent1">
                    <a:lumMod val="60000"/>
                    <a:lumOff val="40000"/>
                  </a:schemeClr>
                </a:solidFill>
                <a:effectLst/>
              </a:rPr>
              <a:t>我的学校</a:t>
            </a:r>
          </a:p>
        </p:txBody>
      </p: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46397"/>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48727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13DFC-2B9E-1046-8B5B-5FDA89B52346}"/>
              </a:ext>
            </a:extLst>
          </p:cNvPr>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664D48E2-7007-2C43-9E31-DD2985676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a:extLst>
              <a:ext uri="{FF2B5EF4-FFF2-40B4-BE49-F238E27FC236}">
                <a16:creationId xmlns:a16="http://schemas.microsoft.com/office/drawing/2014/main" id="{A1ED6729-C3F3-7049-A57C-58FE3C205582}"/>
              </a:ext>
            </a:extLst>
          </p:cNvPr>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a:extLst>
              <a:ext uri="{FF2B5EF4-FFF2-40B4-BE49-F238E27FC236}">
                <a16:creationId xmlns:a16="http://schemas.microsoft.com/office/drawing/2014/main" id="{762B1297-DB16-374F-BBBD-21C64C292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69E6E70B-400A-F546-AF7B-C36FDD08585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BADACC0-37EC-9149-9D6D-CB966DF55A46}"/>
              </a:ext>
            </a:extLst>
          </p:cNvPr>
          <p:cNvSpPr>
            <a:spLocks noGrp="1"/>
          </p:cNvSpPr>
          <p:nvPr>
            <p:ph type="dt" sz="half" idx="10"/>
          </p:nvPr>
        </p:nvSpPr>
        <p:spPr/>
        <p:txBody>
          <a:bodyPr/>
          <a:lstStyle/>
          <a:p>
            <a:fld id="{242C34E1-A7B1-194A-A03F-68AF0754181E}" type="datetime1">
              <a:rPr kumimoji="1" lang="zh-CN" altLang="en-US" smtClean="0"/>
              <a:t>2021/4/15</a:t>
            </a:fld>
            <a:endParaRPr kumimoji="1" lang="zh-CN" altLang="en-US"/>
          </a:p>
        </p:txBody>
      </p:sp>
      <p:sp>
        <p:nvSpPr>
          <p:cNvPr id="8" name="页脚占位符 7">
            <a:extLst>
              <a:ext uri="{FF2B5EF4-FFF2-40B4-BE49-F238E27FC236}">
                <a16:creationId xmlns:a16="http://schemas.microsoft.com/office/drawing/2014/main" id="{C1F2C5F8-DD20-7E4C-9FB0-CD51C54A1C6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8D7EE40-2B94-6D4D-928E-DECF5D80840F}"/>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10" name="矩形 9">
            <a:extLst>
              <a:ext uri="{FF2B5EF4-FFF2-40B4-BE49-F238E27FC236}">
                <a16:creationId xmlns:a16="http://schemas.microsoft.com/office/drawing/2014/main" id="{ABC5A3E3-16BE-4348-82D2-7C344E6E1F54}"/>
              </a:ext>
            </a:extLst>
          </p:cNvPr>
          <p:cNvSpPr/>
          <p:nvPr userDrawn="1"/>
        </p:nvSpPr>
        <p:spPr>
          <a:xfrm>
            <a:off x="667831" y="636554"/>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a:extLst>
              <a:ext uri="{FF2B5EF4-FFF2-40B4-BE49-F238E27FC236}">
                <a16:creationId xmlns:a16="http://schemas.microsoft.com/office/drawing/2014/main" id="{EE152040-1510-FD47-8927-D0B20C5D7C27}"/>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4F0ACF62-A174-B042-8DB8-C53C3544E64E}"/>
              </a:ext>
            </a:extLst>
          </p:cNvPr>
          <p:cNvGrpSpPr/>
          <p:nvPr userDrawn="1"/>
        </p:nvGrpSpPr>
        <p:grpSpPr>
          <a:xfrm>
            <a:off x="9849450" y="844221"/>
            <a:ext cx="1961485" cy="208345"/>
            <a:chOff x="1368170" y="1165302"/>
            <a:chExt cx="4139947" cy="439737"/>
          </a:xfrm>
        </p:grpSpPr>
        <p:grpSp>
          <p:nvGrpSpPr>
            <p:cNvPr id="13" name="组合 12">
              <a:extLst>
                <a:ext uri="{FF2B5EF4-FFF2-40B4-BE49-F238E27FC236}">
                  <a16:creationId xmlns:a16="http://schemas.microsoft.com/office/drawing/2014/main" id="{55F43CD0-928E-8C48-BA84-2461A00B51BF}"/>
                </a:ext>
              </a:extLst>
            </p:cNvPr>
            <p:cNvGrpSpPr/>
            <p:nvPr/>
          </p:nvGrpSpPr>
          <p:grpSpPr>
            <a:xfrm>
              <a:off x="1368170" y="1165302"/>
              <a:ext cx="550582" cy="439737"/>
              <a:chOff x="1368170" y="664579"/>
              <a:chExt cx="550582" cy="439737"/>
            </a:xfrm>
          </p:grpSpPr>
          <p:sp>
            <p:nvSpPr>
              <p:cNvPr id="24" name="Freeform 1">
                <a:extLst>
                  <a:ext uri="{FF2B5EF4-FFF2-40B4-BE49-F238E27FC236}">
                    <a16:creationId xmlns:a16="http://schemas.microsoft.com/office/drawing/2014/main" id="{A71C3E21-5577-FF43-AF55-EB68F1E9E333}"/>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solidFill>
                <a:srgbClr val="D72229"/>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Freeform 2">
                <a:extLst>
                  <a:ext uri="{FF2B5EF4-FFF2-40B4-BE49-F238E27FC236}">
                    <a16:creationId xmlns:a16="http://schemas.microsoft.com/office/drawing/2014/main" id="{4E023B9C-C051-EC4D-B128-585E35516408}"/>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solidFill>
                <a:srgbClr val="DD4A1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Freeform 3">
                <a:extLst>
                  <a:ext uri="{FF2B5EF4-FFF2-40B4-BE49-F238E27FC236}">
                    <a16:creationId xmlns:a16="http://schemas.microsoft.com/office/drawing/2014/main" id="{A96BECFD-148E-114F-A81C-239DCDA21535}"/>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solidFill>
                <a:srgbClr val="EA7410"/>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Freeform 4">
                <a:extLst>
                  <a:ext uri="{FF2B5EF4-FFF2-40B4-BE49-F238E27FC236}">
                    <a16:creationId xmlns:a16="http://schemas.microsoft.com/office/drawing/2014/main" id="{BE08FD99-D6A9-1A48-B3C7-5DF30AE02C7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solidFill>
                <a:srgbClr val="F6C40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Freeform 5">
                <a:extLst>
                  <a:ext uri="{FF2B5EF4-FFF2-40B4-BE49-F238E27FC236}">
                    <a16:creationId xmlns:a16="http://schemas.microsoft.com/office/drawing/2014/main" id="{102AE785-E76F-D64A-9D2A-F382B66C71AD}"/>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Freeform 6">
                <a:extLst>
                  <a:ext uri="{FF2B5EF4-FFF2-40B4-BE49-F238E27FC236}">
                    <a16:creationId xmlns:a16="http://schemas.microsoft.com/office/drawing/2014/main" id="{84358720-89B3-A64A-9B8C-48D27F5F1036}"/>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solidFill>
                <a:srgbClr val="157C5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Freeform 7">
                <a:extLst>
                  <a:ext uri="{FF2B5EF4-FFF2-40B4-BE49-F238E27FC236}">
                    <a16:creationId xmlns:a16="http://schemas.microsoft.com/office/drawing/2014/main" id="{B83B2B82-7F46-174A-BEE0-30C2FA53C79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solidFill>
                <a:srgbClr val="04944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Freeform 8">
                <a:extLst>
                  <a:ext uri="{FF2B5EF4-FFF2-40B4-BE49-F238E27FC236}">
                    <a16:creationId xmlns:a16="http://schemas.microsoft.com/office/drawing/2014/main" id="{8C09104A-EBDA-D845-AA39-8757358A97BC}"/>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solidFill>
                <a:srgbClr val="48A838"/>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Freeform 9">
                <a:extLst>
                  <a:ext uri="{FF2B5EF4-FFF2-40B4-BE49-F238E27FC236}">
                    <a16:creationId xmlns:a16="http://schemas.microsoft.com/office/drawing/2014/main" id="{081EDB8B-17F9-4B49-9ABB-7087B3625653}"/>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solidFill>
                <a:srgbClr val="B2CE2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 name="Freeform 10">
                <a:extLst>
                  <a:ext uri="{FF2B5EF4-FFF2-40B4-BE49-F238E27FC236}">
                    <a16:creationId xmlns:a16="http://schemas.microsoft.com/office/drawing/2014/main" id="{65C81ECF-1FAD-5D46-8BA6-B1184C567F64}"/>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Freeform 11">
                <a:extLst>
                  <a:ext uri="{FF2B5EF4-FFF2-40B4-BE49-F238E27FC236}">
                    <a16:creationId xmlns:a16="http://schemas.microsoft.com/office/drawing/2014/main" id="{F68D00D7-EBD9-574B-A827-73227AB29BB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solidFill>
                <a:srgbClr val="F1E827"/>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4" name="组合 13">
              <a:extLst>
                <a:ext uri="{FF2B5EF4-FFF2-40B4-BE49-F238E27FC236}">
                  <a16:creationId xmlns:a16="http://schemas.microsoft.com/office/drawing/2014/main" id="{43698819-AB0C-9844-B519-966DF3F2F9CD}"/>
                </a:ext>
              </a:extLst>
            </p:cNvPr>
            <p:cNvGrpSpPr/>
            <p:nvPr/>
          </p:nvGrpSpPr>
          <p:grpSpPr>
            <a:xfrm>
              <a:off x="2028870" y="1197389"/>
              <a:ext cx="3479247" cy="365353"/>
              <a:chOff x="2028870" y="696666"/>
              <a:chExt cx="3479247" cy="365353"/>
            </a:xfrm>
            <a:solidFill>
              <a:schemeClr val="bg1">
                <a:lumMod val="50000"/>
              </a:schemeClr>
            </a:solidFill>
          </p:grpSpPr>
          <p:sp>
            <p:nvSpPr>
              <p:cNvPr id="15" name="Freeform 12">
                <a:extLst>
                  <a:ext uri="{FF2B5EF4-FFF2-40B4-BE49-F238E27FC236}">
                    <a16:creationId xmlns:a16="http://schemas.microsoft.com/office/drawing/2014/main" id="{A2ADFCE2-7117-4C4F-BB07-0CA44AB2F4C1}"/>
                  </a:ext>
                </a:extLst>
              </p:cNvPr>
              <p:cNvSpPr>
                <a:spLocks noChangeArrowheads="1"/>
              </p:cNvSpPr>
              <p:nvPr/>
            </p:nvSpPr>
            <p:spPr bwMode="auto">
              <a:xfrm>
                <a:off x="2028870" y="697395"/>
                <a:ext cx="358061" cy="363166"/>
              </a:xfrm>
              <a:custGeom>
                <a:avLst/>
                <a:gdLst>
                  <a:gd name="T0" fmla="*/ 121 w 2165"/>
                  <a:gd name="T1" fmla="*/ 758 h 2195"/>
                  <a:gd name="T2" fmla="*/ 0 w 2165"/>
                  <a:gd name="T3" fmla="*/ 758 h 2195"/>
                  <a:gd name="T4" fmla="*/ 0 w 2165"/>
                  <a:gd name="T5" fmla="*/ 582 h 2195"/>
                  <a:gd name="T6" fmla="*/ 463 w 2165"/>
                  <a:gd name="T7" fmla="*/ 582 h 2195"/>
                  <a:gd name="T8" fmla="*/ 463 w 2165"/>
                  <a:gd name="T9" fmla="*/ 1982 h 2195"/>
                  <a:gd name="T10" fmla="*/ 620 w 2165"/>
                  <a:gd name="T11" fmla="*/ 1982 h 2195"/>
                  <a:gd name="T12" fmla="*/ 620 w 2165"/>
                  <a:gd name="T13" fmla="*/ 2157 h 2195"/>
                  <a:gd name="T14" fmla="*/ 121 w 2165"/>
                  <a:gd name="T15" fmla="*/ 2157 h 2195"/>
                  <a:gd name="T16" fmla="*/ 121 w 2165"/>
                  <a:gd name="T17" fmla="*/ 758 h 2195"/>
                  <a:gd name="T18" fmla="*/ 467 w 2165"/>
                  <a:gd name="T19" fmla="*/ 51 h 2195"/>
                  <a:gd name="T20" fmla="*/ 467 w 2165"/>
                  <a:gd name="T21" fmla="*/ 462 h 2195"/>
                  <a:gd name="T22" fmla="*/ 121 w 2165"/>
                  <a:gd name="T23" fmla="*/ 462 h 2195"/>
                  <a:gd name="T24" fmla="*/ 121 w 2165"/>
                  <a:gd name="T25" fmla="*/ 51 h 2195"/>
                  <a:gd name="T26" fmla="*/ 467 w 2165"/>
                  <a:gd name="T27" fmla="*/ 51 h 2195"/>
                  <a:gd name="T28" fmla="*/ 629 w 2165"/>
                  <a:gd name="T29" fmla="*/ 906 h 2195"/>
                  <a:gd name="T30" fmla="*/ 629 w 2165"/>
                  <a:gd name="T31" fmla="*/ 730 h 2195"/>
                  <a:gd name="T32" fmla="*/ 1221 w 2165"/>
                  <a:gd name="T33" fmla="*/ 730 h 2195"/>
                  <a:gd name="T34" fmla="*/ 1221 w 2165"/>
                  <a:gd name="T35" fmla="*/ 0 h 2195"/>
                  <a:gd name="T36" fmla="*/ 1563 w 2165"/>
                  <a:gd name="T37" fmla="*/ 0 h 2195"/>
                  <a:gd name="T38" fmla="*/ 1563 w 2165"/>
                  <a:gd name="T39" fmla="*/ 730 h 2195"/>
                  <a:gd name="T40" fmla="*/ 2164 w 2165"/>
                  <a:gd name="T41" fmla="*/ 730 h 2195"/>
                  <a:gd name="T42" fmla="*/ 2164 w 2165"/>
                  <a:gd name="T43" fmla="*/ 906 h 2195"/>
                  <a:gd name="T44" fmla="*/ 1563 w 2165"/>
                  <a:gd name="T45" fmla="*/ 906 h 2195"/>
                  <a:gd name="T46" fmla="*/ 1563 w 2165"/>
                  <a:gd name="T47" fmla="*/ 2194 h 2195"/>
                  <a:gd name="T48" fmla="*/ 1221 w 2165"/>
                  <a:gd name="T49" fmla="*/ 2194 h 2195"/>
                  <a:gd name="T50" fmla="*/ 1221 w 2165"/>
                  <a:gd name="T51" fmla="*/ 906 h 2195"/>
                  <a:gd name="T52" fmla="*/ 629 w 2165"/>
                  <a:gd name="T53" fmla="*/ 906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165" h="2195">
                    <a:moveTo>
                      <a:pt x="121" y="758"/>
                    </a:moveTo>
                    <a:lnTo>
                      <a:pt x="0" y="758"/>
                    </a:lnTo>
                    <a:lnTo>
                      <a:pt x="0" y="582"/>
                    </a:lnTo>
                    <a:lnTo>
                      <a:pt x="463" y="582"/>
                    </a:lnTo>
                    <a:lnTo>
                      <a:pt x="463" y="1982"/>
                    </a:lnTo>
                    <a:lnTo>
                      <a:pt x="620" y="1982"/>
                    </a:lnTo>
                    <a:lnTo>
                      <a:pt x="620" y="2157"/>
                    </a:lnTo>
                    <a:lnTo>
                      <a:pt x="121" y="2157"/>
                    </a:lnTo>
                    <a:lnTo>
                      <a:pt x="121" y="758"/>
                    </a:lnTo>
                    <a:close/>
                    <a:moveTo>
                      <a:pt x="467" y="51"/>
                    </a:moveTo>
                    <a:lnTo>
                      <a:pt x="467" y="462"/>
                    </a:lnTo>
                    <a:lnTo>
                      <a:pt x="121" y="462"/>
                    </a:lnTo>
                    <a:lnTo>
                      <a:pt x="121" y="51"/>
                    </a:lnTo>
                    <a:lnTo>
                      <a:pt x="467" y="51"/>
                    </a:lnTo>
                    <a:close/>
                    <a:moveTo>
                      <a:pt x="629" y="906"/>
                    </a:moveTo>
                    <a:lnTo>
                      <a:pt x="629" y="730"/>
                    </a:lnTo>
                    <a:lnTo>
                      <a:pt x="1221" y="730"/>
                    </a:lnTo>
                    <a:lnTo>
                      <a:pt x="1221" y="0"/>
                    </a:lnTo>
                    <a:lnTo>
                      <a:pt x="1563" y="0"/>
                    </a:lnTo>
                    <a:lnTo>
                      <a:pt x="1563" y="730"/>
                    </a:lnTo>
                    <a:lnTo>
                      <a:pt x="2164" y="730"/>
                    </a:lnTo>
                    <a:lnTo>
                      <a:pt x="2164" y="906"/>
                    </a:lnTo>
                    <a:lnTo>
                      <a:pt x="1563" y="906"/>
                    </a:lnTo>
                    <a:lnTo>
                      <a:pt x="1563" y="2194"/>
                    </a:lnTo>
                    <a:lnTo>
                      <a:pt x="1221" y="2194"/>
                    </a:lnTo>
                    <a:lnTo>
                      <a:pt x="1221" y="906"/>
                    </a:lnTo>
                    <a:lnTo>
                      <a:pt x="629" y="90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Freeform 13">
                <a:extLst>
                  <a:ext uri="{FF2B5EF4-FFF2-40B4-BE49-F238E27FC236}">
                    <a16:creationId xmlns:a16="http://schemas.microsoft.com/office/drawing/2014/main" id="{27913D76-3F78-1640-8ABA-FD508552679A}"/>
                  </a:ext>
                </a:extLst>
              </p:cNvPr>
              <p:cNvSpPr>
                <a:spLocks noChangeArrowheads="1"/>
              </p:cNvSpPr>
              <p:nvPr/>
            </p:nvSpPr>
            <p:spPr bwMode="auto">
              <a:xfrm>
                <a:off x="2417559" y="696666"/>
                <a:ext cx="357332" cy="364625"/>
              </a:xfrm>
              <a:custGeom>
                <a:avLst/>
                <a:gdLst>
                  <a:gd name="T0" fmla="*/ 583 w 2161"/>
                  <a:gd name="T1" fmla="*/ 379 h 2205"/>
                  <a:gd name="T2" fmla="*/ 458 w 2161"/>
                  <a:gd name="T3" fmla="*/ 287 h 2205"/>
                  <a:gd name="T4" fmla="*/ 0 w 2161"/>
                  <a:gd name="T5" fmla="*/ 379 h 2205"/>
                  <a:gd name="T6" fmla="*/ 662 w 2161"/>
                  <a:gd name="T7" fmla="*/ 0 h 2205"/>
                  <a:gd name="T8" fmla="*/ 1087 w 2161"/>
                  <a:gd name="T9" fmla="*/ 111 h 2205"/>
                  <a:gd name="T10" fmla="*/ 916 w 2161"/>
                  <a:gd name="T11" fmla="*/ 287 h 2205"/>
                  <a:gd name="T12" fmla="*/ 675 w 2161"/>
                  <a:gd name="T13" fmla="*/ 1691 h 2205"/>
                  <a:gd name="T14" fmla="*/ 1545 w 2161"/>
                  <a:gd name="T15" fmla="*/ 1811 h 2205"/>
                  <a:gd name="T16" fmla="*/ 1887 w 2161"/>
                  <a:gd name="T17" fmla="*/ 1691 h 2205"/>
                  <a:gd name="T18" fmla="*/ 2150 w 2161"/>
                  <a:gd name="T19" fmla="*/ 1811 h 2205"/>
                  <a:gd name="T20" fmla="*/ 1887 w 2161"/>
                  <a:gd name="T21" fmla="*/ 1987 h 2205"/>
                  <a:gd name="T22" fmla="*/ 1545 w 2161"/>
                  <a:gd name="T23" fmla="*/ 2204 h 2205"/>
                  <a:gd name="T24" fmla="*/ 652 w 2161"/>
                  <a:gd name="T25" fmla="*/ 1987 h 2205"/>
                  <a:gd name="T26" fmla="*/ 144 w 2161"/>
                  <a:gd name="T27" fmla="*/ 2204 h 2205"/>
                  <a:gd name="T28" fmla="*/ 47 w 2161"/>
                  <a:gd name="T29" fmla="*/ 1987 h 2205"/>
                  <a:gd name="T30" fmla="*/ 333 w 2161"/>
                  <a:gd name="T31" fmla="*/ 1811 h 2205"/>
                  <a:gd name="T32" fmla="*/ 675 w 2161"/>
                  <a:gd name="T33" fmla="*/ 1691 h 2205"/>
                  <a:gd name="T34" fmla="*/ 2100 w 2161"/>
                  <a:gd name="T35" fmla="*/ 448 h 2205"/>
                  <a:gd name="T36" fmla="*/ 102 w 2161"/>
                  <a:gd name="T37" fmla="*/ 1622 h 2205"/>
                  <a:gd name="T38" fmla="*/ 444 w 2161"/>
                  <a:gd name="T39" fmla="*/ 781 h 2205"/>
                  <a:gd name="T40" fmla="*/ 1757 w 2161"/>
                  <a:gd name="T41" fmla="*/ 624 h 2205"/>
                  <a:gd name="T42" fmla="*/ 444 w 2161"/>
                  <a:gd name="T43" fmla="*/ 781 h 2205"/>
                  <a:gd name="T44" fmla="*/ 1757 w 2161"/>
                  <a:gd name="T45" fmla="*/ 1114 h 2205"/>
                  <a:gd name="T46" fmla="*/ 444 w 2161"/>
                  <a:gd name="T47" fmla="*/ 957 h 2205"/>
                  <a:gd name="T48" fmla="*/ 1757 w 2161"/>
                  <a:gd name="T49" fmla="*/ 1289 h 2205"/>
                  <a:gd name="T50" fmla="*/ 444 w 2161"/>
                  <a:gd name="T51" fmla="*/ 1446 h 2205"/>
                  <a:gd name="T52" fmla="*/ 1757 w 2161"/>
                  <a:gd name="T53" fmla="*/ 1289 h 2205"/>
                  <a:gd name="T54" fmla="*/ 1041 w 2161"/>
                  <a:gd name="T55" fmla="*/ 379 h 2205"/>
                  <a:gd name="T56" fmla="*/ 1688 w 2161"/>
                  <a:gd name="T57" fmla="*/ 0 h 2205"/>
                  <a:gd name="T58" fmla="*/ 2160 w 2161"/>
                  <a:gd name="T59" fmla="*/ 111 h 2205"/>
                  <a:gd name="T60" fmla="*/ 1998 w 2161"/>
                  <a:gd name="T61" fmla="*/ 287 h 2205"/>
                  <a:gd name="T62" fmla="*/ 1646 w 2161"/>
                  <a:gd name="T63" fmla="*/ 379 h 2205"/>
                  <a:gd name="T64" fmla="*/ 1508 w 2161"/>
                  <a:gd name="T65" fmla="*/ 287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61" h="2205">
                    <a:moveTo>
                      <a:pt x="990" y="379"/>
                    </a:moveTo>
                    <a:lnTo>
                      <a:pt x="583" y="379"/>
                    </a:lnTo>
                    <a:lnTo>
                      <a:pt x="509" y="287"/>
                    </a:lnTo>
                    <a:lnTo>
                      <a:pt x="458" y="287"/>
                    </a:lnTo>
                    <a:lnTo>
                      <a:pt x="389" y="379"/>
                    </a:lnTo>
                    <a:lnTo>
                      <a:pt x="0" y="379"/>
                    </a:lnTo>
                    <a:lnTo>
                      <a:pt x="273" y="0"/>
                    </a:lnTo>
                    <a:lnTo>
                      <a:pt x="662" y="0"/>
                    </a:lnTo>
                    <a:lnTo>
                      <a:pt x="592" y="111"/>
                    </a:lnTo>
                    <a:lnTo>
                      <a:pt x="1087" y="111"/>
                    </a:lnTo>
                    <a:lnTo>
                      <a:pt x="1087" y="287"/>
                    </a:lnTo>
                    <a:lnTo>
                      <a:pt x="916" y="287"/>
                    </a:lnTo>
                    <a:lnTo>
                      <a:pt x="990" y="379"/>
                    </a:lnTo>
                    <a:close/>
                    <a:moveTo>
                      <a:pt x="675" y="1691"/>
                    </a:moveTo>
                    <a:lnTo>
                      <a:pt x="675" y="1811"/>
                    </a:lnTo>
                    <a:lnTo>
                      <a:pt x="1545" y="1811"/>
                    </a:lnTo>
                    <a:lnTo>
                      <a:pt x="1545" y="1691"/>
                    </a:lnTo>
                    <a:lnTo>
                      <a:pt x="1887" y="1691"/>
                    </a:lnTo>
                    <a:lnTo>
                      <a:pt x="1887" y="1811"/>
                    </a:lnTo>
                    <a:lnTo>
                      <a:pt x="2150" y="1811"/>
                    </a:lnTo>
                    <a:lnTo>
                      <a:pt x="2150" y="1987"/>
                    </a:lnTo>
                    <a:lnTo>
                      <a:pt x="1887" y="1987"/>
                    </a:lnTo>
                    <a:lnTo>
                      <a:pt x="1887" y="2204"/>
                    </a:lnTo>
                    <a:lnTo>
                      <a:pt x="1545" y="2204"/>
                    </a:lnTo>
                    <a:lnTo>
                      <a:pt x="1545" y="1987"/>
                    </a:lnTo>
                    <a:lnTo>
                      <a:pt x="652" y="1987"/>
                    </a:lnTo>
                    <a:lnTo>
                      <a:pt x="527" y="2204"/>
                    </a:lnTo>
                    <a:lnTo>
                      <a:pt x="144" y="2204"/>
                    </a:lnTo>
                    <a:lnTo>
                      <a:pt x="282" y="1987"/>
                    </a:lnTo>
                    <a:lnTo>
                      <a:pt x="47" y="1987"/>
                    </a:lnTo>
                    <a:lnTo>
                      <a:pt x="47" y="1811"/>
                    </a:lnTo>
                    <a:lnTo>
                      <a:pt x="333" y="1811"/>
                    </a:lnTo>
                    <a:lnTo>
                      <a:pt x="333" y="1691"/>
                    </a:lnTo>
                    <a:lnTo>
                      <a:pt x="675" y="1691"/>
                    </a:lnTo>
                    <a:close/>
                    <a:moveTo>
                      <a:pt x="102" y="448"/>
                    </a:moveTo>
                    <a:lnTo>
                      <a:pt x="2100" y="448"/>
                    </a:lnTo>
                    <a:lnTo>
                      <a:pt x="2100" y="1622"/>
                    </a:lnTo>
                    <a:lnTo>
                      <a:pt x="102" y="1622"/>
                    </a:lnTo>
                    <a:lnTo>
                      <a:pt x="102" y="448"/>
                    </a:lnTo>
                    <a:close/>
                    <a:moveTo>
                      <a:pt x="444" y="781"/>
                    </a:moveTo>
                    <a:lnTo>
                      <a:pt x="1757" y="781"/>
                    </a:lnTo>
                    <a:lnTo>
                      <a:pt x="1757" y="624"/>
                    </a:lnTo>
                    <a:lnTo>
                      <a:pt x="444" y="624"/>
                    </a:lnTo>
                    <a:lnTo>
                      <a:pt x="444" y="781"/>
                    </a:lnTo>
                    <a:close/>
                    <a:moveTo>
                      <a:pt x="444" y="1114"/>
                    </a:moveTo>
                    <a:lnTo>
                      <a:pt x="1757" y="1114"/>
                    </a:lnTo>
                    <a:lnTo>
                      <a:pt x="1757" y="957"/>
                    </a:lnTo>
                    <a:lnTo>
                      <a:pt x="444" y="957"/>
                    </a:lnTo>
                    <a:lnTo>
                      <a:pt x="444" y="1114"/>
                    </a:lnTo>
                    <a:close/>
                    <a:moveTo>
                      <a:pt x="1757" y="1289"/>
                    </a:moveTo>
                    <a:lnTo>
                      <a:pt x="444" y="1289"/>
                    </a:lnTo>
                    <a:lnTo>
                      <a:pt x="444" y="1446"/>
                    </a:lnTo>
                    <a:lnTo>
                      <a:pt x="1757" y="1446"/>
                    </a:lnTo>
                    <a:lnTo>
                      <a:pt x="1757" y="1289"/>
                    </a:lnTo>
                    <a:close/>
                    <a:moveTo>
                      <a:pt x="1434" y="379"/>
                    </a:moveTo>
                    <a:lnTo>
                      <a:pt x="1041" y="379"/>
                    </a:lnTo>
                    <a:lnTo>
                      <a:pt x="1313" y="0"/>
                    </a:lnTo>
                    <a:lnTo>
                      <a:pt x="1688" y="0"/>
                    </a:lnTo>
                    <a:lnTo>
                      <a:pt x="1609" y="111"/>
                    </a:lnTo>
                    <a:lnTo>
                      <a:pt x="2160" y="111"/>
                    </a:lnTo>
                    <a:lnTo>
                      <a:pt x="2160" y="287"/>
                    </a:lnTo>
                    <a:lnTo>
                      <a:pt x="1998" y="287"/>
                    </a:lnTo>
                    <a:lnTo>
                      <a:pt x="2072" y="379"/>
                    </a:lnTo>
                    <a:lnTo>
                      <a:pt x="1646" y="379"/>
                    </a:lnTo>
                    <a:lnTo>
                      <a:pt x="1572" y="287"/>
                    </a:lnTo>
                    <a:lnTo>
                      <a:pt x="1508" y="287"/>
                    </a:lnTo>
                    <a:lnTo>
                      <a:pt x="1434" y="379"/>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Freeform 14">
                <a:extLst>
                  <a:ext uri="{FF2B5EF4-FFF2-40B4-BE49-F238E27FC236}">
                    <a16:creationId xmlns:a16="http://schemas.microsoft.com/office/drawing/2014/main" id="{0251013D-C418-594D-8185-01EB2188AA1D}"/>
                  </a:ext>
                </a:extLst>
              </p:cNvPr>
              <p:cNvSpPr>
                <a:spLocks noChangeArrowheads="1"/>
              </p:cNvSpPr>
              <p:nvPr/>
            </p:nvSpPr>
            <p:spPr bwMode="auto">
              <a:xfrm>
                <a:off x="2810625" y="696666"/>
                <a:ext cx="363895" cy="364625"/>
              </a:xfrm>
              <a:custGeom>
                <a:avLst/>
                <a:gdLst>
                  <a:gd name="T0" fmla="*/ 0 w 2202"/>
                  <a:gd name="T1" fmla="*/ 2019 h 2205"/>
                  <a:gd name="T2" fmla="*/ 74 w 2202"/>
                  <a:gd name="T3" fmla="*/ 661 h 2205"/>
                  <a:gd name="T4" fmla="*/ 310 w 2202"/>
                  <a:gd name="T5" fmla="*/ 661 h 2205"/>
                  <a:gd name="T6" fmla="*/ 231 w 2202"/>
                  <a:gd name="T7" fmla="*/ 2019 h 2205"/>
                  <a:gd name="T8" fmla="*/ 0 w 2202"/>
                  <a:gd name="T9" fmla="*/ 2019 h 2205"/>
                  <a:gd name="T10" fmla="*/ 939 w 2202"/>
                  <a:gd name="T11" fmla="*/ 439 h 2205"/>
                  <a:gd name="T12" fmla="*/ 684 w 2202"/>
                  <a:gd name="T13" fmla="*/ 439 h 2205"/>
                  <a:gd name="T14" fmla="*/ 684 w 2202"/>
                  <a:gd name="T15" fmla="*/ 2204 h 2205"/>
                  <a:gd name="T16" fmla="*/ 361 w 2202"/>
                  <a:gd name="T17" fmla="*/ 2204 h 2205"/>
                  <a:gd name="T18" fmla="*/ 361 w 2202"/>
                  <a:gd name="T19" fmla="*/ 439 h 2205"/>
                  <a:gd name="T20" fmla="*/ 28 w 2202"/>
                  <a:gd name="T21" fmla="*/ 439 h 2205"/>
                  <a:gd name="T22" fmla="*/ 28 w 2202"/>
                  <a:gd name="T23" fmla="*/ 264 h 2205"/>
                  <a:gd name="T24" fmla="*/ 361 w 2202"/>
                  <a:gd name="T25" fmla="*/ 264 h 2205"/>
                  <a:gd name="T26" fmla="*/ 361 w 2202"/>
                  <a:gd name="T27" fmla="*/ 0 h 2205"/>
                  <a:gd name="T28" fmla="*/ 684 w 2202"/>
                  <a:gd name="T29" fmla="*/ 0 h 2205"/>
                  <a:gd name="T30" fmla="*/ 684 w 2202"/>
                  <a:gd name="T31" fmla="*/ 264 h 2205"/>
                  <a:gd name="T32" fmla="*/ 939 w 2202"/>
                  <a:gd name="T33" fmla="*/ 264 h 2205"/>
                  <a:gd name="T34" fmla="*/ 939 w 2202"/>
                  <a:gd name="T35" fmla="*/ 439 h 2205"/>
                  <a:gd name="T36" fmla="*/ 939 w 2202"/>
                  <a:gd name="T37" fmla="*/ 661 h 2205"/>
                  <a:gd name="T38" fmla="*/ 939 w 2202"/>
                  <a:gd name="T39" fmla="*/ 1686 h 2205"/>
                  <a:gd name="T40" fmla="*/ 735 w 2202"/>
                  <a:gd name="T41" fmla="*/ 1686 h 2205"/>
                  <a:gd name="T42" fmla="*/ 735 w 2202"/>
                  <a:gd name="T43" fmla="*/ 661 h 2205"/>
                  <a:gd name="T44" fmla="*/ 939 w 2202"/>
                  <a:gd name="T45" fmla="*/ 661 h 2205"/>
                  <a:gd name="T46" fmla="*/ 1022 w 2202"/>
                  <a:gd name="T47" fmla="*/ 1594 h 2205"/>
                  <a:gd name="T48" fmla="*/ 1022 w 2202"/>
                  <a:gd name="T49" fmla="*/ 42 h 2205"/>
                  <a:gd name="T50" fmla="*/ 1988 w 2202"/>
                  <a:gd name="T51" fmla="*/ 42 h 2205"/>
                  <a:gd name="T52" fmla="*/ 1988 w 2202"/>
                  <a:gd name="T53" fmla="*/ 2033 h 2205"/>
                  <a:gd name="T54" fmla="*/ 2201 w 2202"/>
                  <a:gd name="T55" fmla="*/ 2033 h 2205"/>
                  <a:gd name="T56" fmla="*/ 2201 w 2202"/>
                  <a:gd name="T57" fmla="*/ 2204 h 2205"/>
                  <a:gd name="T58" fmla="*/ 1665 w 2202"/>
                  <a:gd name="T59" fmla="*/ 2204 h 2205"/>
                  <a:gd name="T60" fmla="*/ 1665 w 2202"/>
                  <a:gd name="T61" fmla="*/ 217 h 2205"/>
                  <a:gd name="T62" fmla="*/ 1355 w 2202"/>
                  <a:gd name="T63" fmla="*/ 217 h 2205"/>
                  <a:gd name="T64" fmla="*/ 1355 w 2202"/>
                  <a:gd name="T65" fmla="*/ 1668 h 2205"/>
                  <a:gd name="T66" fmla="*/ 1198 w 2202"/>
                  <a:gd name="T67" fmla="*/ 2204 h 2205"/>
                  <a:gd name="T68" fmla="*/ 851 w 2202"/>
                  <a:gd name="T69" fmla="*/ 2204 h 2205"/>
                  <a:gd name="T70" fmla="*/ 1022 w 2202"/>
                  <a:gd name="T71" fmla="*/ 1594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02" h="2205">
                    <a:moveTo>
                      <a:pt x="0" y="2019"/>
                    </a:moveTo>
                    <a:lnTo>
                      <a:pt x="74" y="661"/>
                    </a:lnTo>
                    <a:lnTo>
                      <a:pt x="310" y="661"/>
                    </a:lnTo>
                    <a:lnTo>
                      <a:pt x="231" y="2019"/>
                    </a:lnTo>
                    <a:lnTo>
                      <a:pt x="0" y="2019"/>
                    </a:lnTo>
                    <a:close/>
                    <a:moveTo>
                      <a:pt x="939" y="439"/>
                    </a:moveTo>
                    <a:lnTo>
                      <a:pt x="684" y="439"/>
                    </a:lnTo>
                    <a:lnTo>
                      <a:pt x="684" y="2204"/>
                    </a:lnTo>
                    <a:lnTo>
                      <a:pt x="361" y="2204"/>
                    </a:lnTo>
                    <a:lnTo>
                      <a:pt x="361" y="439"/>
                    </a:lnTo>
                    <a:lnTo>
                      <a:pt x="28" y="439"/>
                    </a:lnTo>
                    <a:lnTo>
                      <a:pt x="28" y="264"/>
                    </a:lnTo>
                    <a:lnTo>
                      <a:pt x="361" y="264"/>
                    </a:lnTo>
                    <a:lnTo>
                      <a:pt x="361" y="0"/>
                    </a:lnTo>
                    <a:lnTo>
                      <a:pt x="684" y="0"/>
                    </a:lnTo>
                    <a:lnTo>
                      <a:pt x="684" y="264"/>
                    </a:lnTo>
                    <a:lnTo>
                      <a:pt x="939" y="264"/>
                    </a:lnTo>
                    <a:lnTo>
                      <a:pt x="939" y="439"/>
                    </a:lnTo>
                    <a:close/>
                    <a:moveTo>
                      <a:pt x="939" y="661"/>
                    </a:moveTo>
                    <a:lnTo>
                      <a:pt x="939" y="1686"/>
                    </a:lnTo>
                    <a:lnTo>
                      <a:pt x="735" y="1686"/>
                    </a:lnTo>
                    <a:lnTo>
                      <a:pt x="735" y="661"/>
                    </a:lnTo>
                    <a:lnTo>
                      <a:pt x="939" y="661"/>
                    </a:lnTo>
                    <a:close/>
                    <a:moveTo>
                      <a:pt x="1022" y="1594"/>
                    </a:moveTo>
                    <a:lnTo>
                      <a:pt x="1022" y="42"/>
                    </a:lnTo>
                    <a:lnTo>
                      <a:pt x="1988" y="42"/>
                    </a:lnTo>
                    <a:lnTo>
                      <a:pt x="1988" y="2033"/>
                    </a:lnTo>
                    <a:lnTo>
                      <a:pt x="2201" y="2033"/>
                    </a:lnTo>
                    <a:lnTo>
                      <a:pt x="2201" y="2204"/>
                    </a:lnTo>
                    <a:lnTo>
                      <a:pt x="1665" y="2204"/>
                    </a:lnTo>
                    <a:lnTo>
                      <a:pt x="1665" y="217"/>
                    </a:lnTo>
                    <a:lnTo>
                      <a:pt x="1355" y="217"/>
                    </a:lnTo>
                    <a:lnTo>
                      <a:pt x="1355" y="1668"/>
                    </a:lnTo>
                    <a:lnTo>
                      <a:pt x="1198" y="2204"/>
                    </a:lnTo>
                    <a:lnTo>
                      <a:pt x="851" y="2204"/>
                    </a:lnTo>
                    <a:lnTo>
                      <a:pt x="1022" y="159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Freeform 15">
                <a:extLst>
                  <a:ext uri="{FF2B5EF4-FFF2-40B4-BE49-F238E27FC236}">
                    <a16:creationId xmlns:a16="http://schemas.microsoft.com/office/drawing/2014/main" id="{85DA3DCB-B0ED-4F4A-B3A2-B512686F3295}"/>
                  </a:ext>
                </a:extLst>
              </p:cNvPr>
              <p:cNvSpPr>
                <a:spLocks noChangeArrowheads="1"/>
              </p:cNvSpPr>
              <p:nvPr/>
            </p:nvSpPr>
            <p:spPr bwMode="auto">
              <a:xfrm>
                <a:off x="3212441" y="703958"/>
                <a:ext cx="339830" cy="358061"/>
              </a:xfrm>
              <a:custGeom>
                <a:avLst/>
                <a:gdLst>
                  <a:gd name="T0" fmla="*/ 1747 w 2053"/>
                  <a:gd name="T1" fmla="*/ 1982 h 2163"/>
                  <a:gd name="T2" fmla="*/ 1747 w 2053"/>
                  <a:gd name="T3" fmla="*/ 175 h 2163"/>
                  <a:gd name="T4" fmla="*/ 305 w 2053"/>
                  <a:gd name="T5" fmla="*/ 175 h 2163"/>
                  <a:gd name="T6" fmla="*/ 305 w 2053"/>
                  <a:gd name="T7" fmla="*/ 2162 h 2163"/>
                  <a:gd name="T8" fmla="*/ 0 w 2053"/>
                  <a:gd name="T9" fmla="*/ 2162 h 2163"/>
                  <a:gd name="T10" fmla="*/ 0 w 2053"/>
                  <a:gd name="T11" fmla="*/ 0 h 2163"/>
                  <a:gd name="T12" fmla="*/ 2052 w 2053"/>
                  <a:gd name="T13" fmla="*/ 0 h 2163"/>
                  <a:gd name="T14" fmla="*/ 2052 w 2053"/>
                  <a:gd name="T15" fmla="*/ 2162 h 2163"/>
                  <a:gd name="T16" fmla="*/ 1590 w 2053"/>
                  <a:gd name="T17" fmla="*/ 2162 h 2163"/>
                  <a:gd name="T18" fmla="*/ 1590 w 2053"/>
                  <a:gd name="T19" fmla="*/ 1982 h 2163"/>
                  <a:gd name="T20" fmla="*/ 1747 w 2053"/>
                  <a:gd name="T21" fmla="*/ 1982 h 2163"/>
                  <a:gd name="T22" fmla="*/ 791 w 2053"/>
                  <a:gd name="T23" fmla="*/ 1127 h 2163"/>
                  <a:gd name="T24" fmla="*/ 1017 w 2053"/>
                  <a:gd name="T25" fmla="*/ 1843 h 2163"/>
                  <a:gd name="T26" fmla="*/ 786 w 2053"/>
                  <a:gd name="T27" fmla="*/ 1843 h 2163"/>
                  <a:gd name="T28" fmla="*/ 680 w 2053"/>
                  <a:gd name="T29" fmla="*/ 1501 h 2163"/>
                  <a:gd name="T30" fmla="*/ 573 w 2053"/>
                  <a:gd name="T31" fmla="*/ 1843 h 2163"/>
                  <a:gd name="T32" fmla="*/ 347 w 2053"/>
                  <a:gd name="T33" fmla="*/ 1843 h 2163"/>
                  <a:gd name="T34" fmla="*/ 564 w 2053"/>
                  <a:gd name="T35" fmla="*/ 1136 h 2163"/>
                  <a:gd name="T36" fmla="*/ 338 w 2053"/>
                  <a:gd name="T37" fmla="*/ 430 h 2163"/>
                  <a:gd name="T38" fmla="*/ 569 w 2053"/>
                  <a:gd name="T39" fmla="*/ 430 h 2163"/>
                  <a:gd name="T40" fmla="*/ 675 w 2053"/>
                  <a:gd name="T41" fmla="*/ 767 h 2163"/>
                  <a:gd name="T42" fmla="*/ 777 w 2053"/>
                  <a:gd name="T43" fmla="*/ 430 h 2163"/>
                  <a:gd name="T44" fmla="*/ 1003 w 2053"/>
                  <a:gd name="T45" fmla="*/ 430 h 2163"/>
                  <a:gd name="T46" fmla="*/ 791 w 2053"/>
                  <a:gd name="T47" fmla="*/ 1127 h 2163"/>
                  <a:gd name="T48" fmla="*/ 1503 w 2053"/>
                  <a:gd name="T49" fmla="*/ 1127 h 2163"/>
                  <a:gd name="T50" fmla="*/ 1728 w 2053"/>
                  <a:gd name="T51" fmla="*/ 1843 h 2163"/>
                  <a:gd name="T52" fmla="*/ 1498 w 2053"/>
                  <a:gd name="T53" fmla="*/ 1843 h 2163"/>
                  <a:gd name="T54" fmla="*/ 1392 w 2053"/>
                  <a:gd name="T55" fmla="*/ 1501 h 2163"/>
                  <a:gd name="T56" fmla="*/ 1286 w 2053"/>
                  <a:gd name="T57" fmla="*/ 1843 h 2163"/>
                  <a:gd name="T58" fmla="*/ 1059 w 2053"/>
                  <a:gd name="T59" fmla="*/ 1843 h 2163"/>
                  <a:gd name="T60" fmla="*/ 1276 w 2053"/>
                  <a:gd name="T61" fmla="*/ 1136 h 2163"/>
                  <a:gd name="T62" fmla="*/ 1050 w 2053"/>
                  <a:gd name="T63" fmla="*/ 430 h 2163"/>
                  <a:gd name="T64" fmla="*/ 1281 w 2053"/>
                  <a:gd name="T65" fmla="*/ 430 h 2163"/>
                  <a:gd name="T66" fmla="*/ 1387 w 2053"/>
                  <a:gd name="T67" fmla="*/ 767 h 2163"/>
                  <a:gd name="T68" fmla="*/ 1489 w 2053"/>
                  <a:gd name="T69" fmla="*/ 430 h 2163"/>
                  <a:gd name="T70" fmla="*/ 1715 w 2053"/>
                  <a:gd name="T71" fmla="*/ 430 h 2163"/>
                  <a:gd name="T72" fmla="*/ 1503 w 2053"/>
                  <a:gd name="T73" fmla="*/ 1127 h 2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53" h="2163">
                    <a:moveTo>
                      <a:pt x="1747" y="1982"/>
                    </a:moveTo>
                    <a:lnTo>
                      <a:pt x="1747" y="175"/>
                    </a:lnTo>
                    <a:lnTo>
                      <a:pt x="305" y="175"/>
                    </a:lnTo>
                    <a:lnTo>
                      <a:pt x="305" y="2162"/>
                    </a:lnTo>
                    <a:lnTo>
                      <a:pt x="0" y="2162"/>
                    </a:lnTo>
                    <a:lnTo>
                      <a:pt x="0" y="0"/>
                    </a:lnTo>
                    <a:lnTo>
                      <a:pt x="2052" y="0"/>
                    </a:lnTo>
                    <a:lnTo>
                      <a:pt x="2052" y="2162"/>
                    </a:lnTo>
                    <a:lnTo>
                      <a:pt x="1590" y="2162"/>
                    </a:lnTo>
                    <a:lnTo>
                      <a:pt x="1590" y="1982"/>
                    </a:lnTo>
                    <a:lnTo>
                      <a:pt x="1747" y="1982"/>
                    </a:lnTo>
                    <a:close/>
                    <a:moveTo>
                      <a:pt x="791" y="1127"/>
                    </a:moveTo>
                    <a:lnTo>
                      <a:pt x="1017" y="1843"/>
                    </a:lnTo>
                    <a:lnTo>
                      <a:pt x="786" y="1843"/>
                    </a:lnTo>
                    <a:lnTo>
                      <a:pt x="680" y="1501"/>
                    </a:lnTo>
                    <a:lnTo>
                      <a:pt x="573" y="1843"/>
                    </a:lnTo>
                    <a:lnTo>
                      <a:pt x="347" y="1843"/>
                    </a:lnTo>
                    <a:lnTo>
                      <a:pt x="564" y="1136"/>
                    </a:lnTo>
                    <a:lnTo>
                      <a:pt x="338" y="430"/>
                    </a:lnTo>
                    <a:lnTo>
                      <a:pt x="569" y="430"/>
                    </a:lnTo>
                    <a:lnTo>
                      <a:pt x="675" y="767"/>
                    </a:lnTo>
                    <a:lnTo>
                      <a:pt x="777" y="430"/>
                    </a:lnTo>
                    <a:lnTo>
                      <a:pt x="1003" y="430"/>
                    </a:lnTo>
                    <a:lnTo>
                      <a:pt x="791" y="1127"/>
                    </a:lnTo>
                    <a:close/>
                    <a:moveTo>
                      <a:pt x="1503" y="1127"/>
                    </a:moveTo>
                    <a:lnTo>
                      <a:pt x="1728" y="1843"/>
                    </a:lnTo>
                    <a:lnTo>
                      <a:pt x="1498" y="1843"/>
                    </a:lnTo>
                    <a:lnTo>
                      <a:pt x="1392" y="1501"/>
                    </a:lnTo>
                    <a:lnTo>
                      <a:pt x="1286" y="1843"/>
                    </a:lnTo>
                    <a:lnTo>
                      <a:pt x="1059" y="1843"/>
                    </a:lnTo>
                    <a:lnTo>
                      <a:pt x="1276" y="1136"/>
                    </a:lnTo>
                    <a:lnTo>
                      <a:pt x="1050" y="430"/>
                    </a:lnTo>
                    <a:lnTo>
                      <a:pt x="1281" y="430"/>
                    </a:lnTo>
                    <a:lnTo>
                      <a:pt x="1387" y="767"/>
                    </a:lnTo>
                    <a:lnTo>
                      <a:pt x="1489" y="430"/>
                    </a:lnTo>
                    <a:lnTo>
                      <a:pt x="1715" y="430"/>
                    </a:lnTo>
                    <a:lnTo>
                      <a:pt x="1503" y="112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Freeform 16">
                <a:extLst>
                  <a:ext uri="{FF2B5EF4-FFF2-40B4-BE49-F238E27FC236}">
                    <a16:creationId xmlns:a16="http://schemas.microsoft.com/office/drawing/2014/main" id="{DF7B682E-6BBC-E346-9744-0008EBF2BCAF}"/>
                  </a:ext>
                </a:extLst>
              </p:cNvPr>
              <p:cNvSpPr>
                <a:spLocks noChangeArrowheads="1"/>
              </p:cNvSpPr>
              <p:nvPr/>
            </p:nvSpPr>
            <p:spPr bwMode="auto">
              <a:xfrm>
                <a:off x="3581441" y="696666"/>
                <a:ext cx="375564" cy="362437"/>
              </a:xfrm>
              <a:custGeom>
                <a:avLst/>
                <a:gdLst>
                  <a:gd name="T0" fmla="*/ 315 w 2272"/>
                  <a:gd name="T1" fmla="*/ 957 h 2191"/>
                  <a:gd name="T2" fmla="*/ 0 w 2272"/>
                  <a:gd name="T3" fmla="*/ 957 h 2191"/>
                  <a:gd name="T4" fmla="*/ 361 w 2272"/>
                  <a:gd name="T5" fmla="*/ 5 h 2191"/>
                  <a:gd name="T6" fmla="*/ 675 w 2272"/>
                  <a:gd name="T7" fmla="*/ 5 h 2191"/>
                  <a:gd name="T8" fmla="*/ 380 w 2272"/>
                  <a:gd name="T9" fmla="*/ 767 h 2191"/>
                  <a:gd name="T10" fmla="*/ 453 w 2272"/>
                  <a:gd name="T11" fmla="*/ 767 h 2191"/>
                  <a:gd name="T12" fmla="*/ 509 w 2272"/>
                  <a:gd name="T13" fmla="*/ 647 h 2191"/>
                  <a:gd name="T14" fmla="*/ 823 w 2272"/>
                  <a:gd name="T15" fmla="*/ 647 h 2191"/>
                  <a:gd name="T16" fmla="*/ 463 w 2272"/>
                  <a:gd name="T17" fmla="*/ 1492 h 2191"/>
                  <a:gd name="T18" fmla="*/ 754 w 2272"/>
                  <a:gd name="T19" fmla="*/ 1492 h 2191"/>
                  <a:gd name="T20" fmla="*/ 754 w 2272"/>
                  <a:gd name="T21" fmla="*/ 1677 h 2191"/>
                  <a:gd name="T22" fmla="*/ 366 w 2272"/>
                  <a:gd name="T23" fmla="*/ 1677 h 2191"/>
                  <a:gd name="T24" fmla="*/ 65 w 2272"/>
                  <a:gd name="T25" fmla="*/ 1677 h 2191"/>
                  <a:gd name="T26" fmla="*/ 375 w 2272"/>
                  <a:gd name="T27" fmla="*/ 957 h 2191"/>
                  <a:gd name="T28" fmla="*/ 315 w 2272"/>
                  <a:gd name="T29" fmla="*/ 957 h 2191"/>
                  <a:gd name="T30" fmla="*/ 763 w 2272"/>
                  <a:gd name="T31" fmla="*/ 1954 h 2191"/>
                  <a:gd name="T32" fmla="*/ 763 w 2272"/>
                  <a:gd name="T33" fmla="*/ 2130 h 2191"/>
                  <a:gd name="T34" fmla="*/ 84 w 2272"/>
                  <a:gd name="T35" fmla="*/ 2130 h 2191"/>
                  <a:gd name="T36" fmla="*/ 84 w 2272"/>
                  <a:gd name="T37" fmla="*/ 1954 h 2191"/>
                  <a:gd name="T38" fmla="*/ 763 w 2272"/>
                  <a:gd name="T39" fmla="*/ 1954 h 2191"/>
                  <a:gd name="T40" fmla="*/ 1831 w 2272"/>
                  <a:gd name="T41" fmla="*/ 1205 h 2191"/>
                  <a:gd name="T42" fmla="*/ 1614 w 2272"/>
                  <a:gd name="T43" fmla="*/ 994 h 2191"/>
                  <a:gd name="T44" fmla="*/ 1355 w 2272"/>
                  <a:gd name="T45" fmla="*/ 1205 h 2191"/>
                  <a:gd name="T46" fmla="*/ 884 w 2272"/>
                  <a:gd name="T47" fmla="*/ 1205 h 2191"/>
                  <a:gd name="T48" fmla="*/ 1392 w 2272"/>
                  <a:gd name="T49" fmla="*/ 781 h 2191"/>
                  <a:gd name="T50" fmla="*/ 1212 w 2272"/>
                  <a:gd name="T51" fmla="*/ 587 h 2191"/>
                  <a:gd name="T52" fmla="*/ 1179 w 2272"/>
                  <a:gd name="T53" fmla="*/ 684 h 2191"/>
                  <a:gd name="T54" fmla="*/ 842 w 2272"/>
                  <a:gd name="T55" fmla="*/ 684 h 2191"/>
                  <a:gd name="T56" fmla="*/ 1082 w 2272"/>
                  <a:gd name="T57" fmla="*/ 0 h 2191"/>
                  <a:gd name="T58" fmla="*/ 1420 w 2272"/>
                  <a:gd name="T59" fmla="*/ 0 h 2191"/>
                  <a:gd name="T60" fmla="*/ 1397 w 2272"/>
                  <a:gd name="T61" fmla="*/ 79 h 2191"/>
                  <a:gd name="T62" fmla="*/ 2174 w 2272"/>
                  <a:gd name="T63" fmla="*/ 79 h 2191"/>
                  <a:gd name="T64" fmla="*/ 2174 w 2272"/>
                  <a:gd name="T65" fmla="*/ 527 h 2191"/>
                  <a:gd name="T66" fmla="*/ 1864 w 2272"/>
                  <a:gd name="T67" fmla="*/ 795 h 2191"/>
                  <a:gd name="T68" fmla="*/ 2271 w 2272"/>
                  <a:gd name="T69" fmla="*/ 1205 h 2191"/>
                  <a:gd name="T70" fmla="*/ 1831 w 2272"/>
                  <a:gd name="T71" fmla="*/ 1205 h 2191"/>
                  <a:gd name="T72" fmla="*/ 934 w 2272"/>
                  <a:gd name="T73" fmla="*/ 2190 h 2191"/>
                  <a:gd name="T74" fmla="*/ 934 w 2272"/>
                  <a:gd name="T75" fmla="*/ 1303 h 2191"/>
                  <a:gd name="T76" fmla="*/ 2206 w 2272"/>
                  <a:gd name="T77" fmla="*/ 1303 h 2191"/>
                  <a:gd name="T78" fmla="*/ 2206 w 2272"/>
                  <a:gd name="T79" fmla="*/ 2190 h 2191"/>
                  <a:gd name="T80" fmla="*/ 934 w 2272"/>
                  <a:gd name="T81" fmla="*/ 2190 h 2191"/>
                  <a:gd name="T82" fmla="*/ 1522 w 2272"/>
                  <a:gd name="T83" fmla="*/ 467 h 2191"/>
                  <a:gd name="T84" fmla="*/ 1646 w 2272"/>
                  <a:gd name="T85" fmla="*/ 592 h 2191"/>
                  <a:gd name="T86" fmla="*/ 1892 w 2272"/>
                  <a:gd name="T87" fmla="*/ 379 h 2191"/>
                  <a:gd name="T88" fmla="*/ 1892 w 2272"/>
                  <a:gd name="T89" fmla="*/ 254 h 2191"/>
                  <a:gd name="T90" fmla="*/ 1332 w 2272"/>
                  <a:gd name="T91" fmla="*/ 254 h 2191"/>
                  <a:gd name="T92" fmla="*/ 1253 w 2272"/>
                  <a:gd name="T93" fmla="*/ 467 h 2191"/>
                  <a:gd name="T94" fmla="*/ 1522 w 2272"/>
                  <a:gd name="T95" fmla="*/ 467 h 2191"/>
                  <a:gd name="T96" fmla="*/ 1277 w 2272"/>
                  <a:gd name="T97" fmla="*/ 1478 h 2191"/>
                  <a:gd name="T98" fmla="*/ 1277 w 2272"/>
                  <a:gd name="T99" fmla="*/ 2014 h 2191"/>
                  <a:gd name="T100" fmla="*/ 1864 w 2272"/>
                  <a:gd name="T101" fmla="*/ 2014 h 2191"/>
                  <a:gd name="T102" fmla="*/ 1864 w 2272"/>
                  <a:gd name="T103" fmla="*/ 1478 h 2191"/>
                  <a:gd name="T104" fmla="*/ 1277 w 2272"/>
                  <a:gd name="T105" fmla="*/ 1478 h 2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72" h="2191">
                    <a:moveTo>
                      <a:pt x="315" y="957"/>
                    </a:moveTo>
                    <a:lnTo>
                      <a:pt x="0" y="957"/>
                    </a:lnTo>
                    <a:lnTo>
                      <a:pt x="361" y="5"/>
                    </a:lnTo>
                    <a:lnTo>
                      <a:pt x="675" y="5"/>
                    </a:lnTo>
                    <a:lnTo>
                      <a:pt x="380" y="767"/>
                    </a:lnTo>
                    <a:lnTo>
                      <a:pt x="453" y="767"/>
                    </a:lnTo>
                    <a:lnTo>
                      <a:pt x="509" y="647"/>
                    </a:lnTo>
                    <a:lnTo>
                      <a:pt x="823" y="647"/>
                    </a:lnTo>
                    <a:lnTo>
                      <a:pt x="463" y="1492"/>
                    </a:lnTo>
                    <a:lnTo>
                      <a:pt x="754" y="1492"/>
                    </a:lnTo>
                    <a:lnTo>
                      <a:pt x="754" y="1677"/>
                    </a:lnTo>
                    <a:lnTo>
                      <a:pt x="366" y="1677"/>
                    </a:lnTo>
                    <a:lnTo>
                      <a:pt x="65" y="1677"/>
                    </a:lnTo>
                    <a:lnTo>
                      <a:pt x="375" y="957"/>
                    </a:lnTo>
                    <a:lnTo>
                      <a:pt x="315" y="957"/>
                    </a:lnTo>
                    <a:close/>
                    <a:moveTo>
                      <a:pt x="763" y="1954"/>
                    </a:moveTo>
                    <a:lnTo>
                      <a:pt x="763" y="2130"/>
                    </a:lnTo>
                    <a:lnTo>
                      <a:pt x="84" y="2130"/>
                    </a:lnTo>
                    <a:lnTo>
                      <a:pt x="84" y="1954"/>
                    </a:lnTo>
                    <a:lnTo>
                      <a:pt x="763" y="1954"/>
                    </a:lnTo>
                    <a:close/>
                    <a:moveTo>
                      <a:pt x="1831" y="1205"/>
                    </a:moveTo>
                    <a:lnTo>
                      <a:pt x="1614" y="994"/>
                    </a:lnTo>
                    <a:lnTo>
                      <a:pt x="1355" y="1205"/>
                    </a:lnTo>
                    <a:lnTo>
                      <a:pt x="884" y="1205"/>
                    </a:lnTo>
                    <a:lnTo>
                      <a:pt x="1392" y="781"/>
                    </a:lnTo>
                    <a:lnTo>
                      <a:pt x="1212" y="587"/>
                    </a:lnTo>
                    <a:lnTo>
                      <a:pt x="1179" y="684"/>
                    </a:lnTo>
                    <a:lnTo>
                      <a:pt x="842" y="684"/>
                    </a:lnTo>
                    <a:lnTo>
                      <a:pt x="1082" y="0"/>
                    </a:lnTo>
                    <a:lnTo>
                      <a:pt x="1420" y="0"/>
                    </a:lnTo>
                    <a:lnTo>
                      <a:pt x="1397" y="79"/>
                    </a:lnTo>
                    <a:lnTo>
                      <a:pt x="2174" y="79"/>
                    </a:lnTo>
                    <a:lnTo>
                      <a:pt x="2174" y="527"/>
                    </a:lnTo>
                    <a:lnTo>
                      <a:pt x="1864" y="795"/>
                    </a:lnTo>
                    <a:lnTo>
                      <a:pt x="2271" y="1205"/>
                    </a:lnTo>
                    <a:lnTo>
                      <a:pt x="1831" y="1205"/>
                    </a:lnTo>
                    <a:close/>
                    <a:moveTo>
                      <a:pt x="934" y="2190"/>
                    </a:moveTo>
                    <a:lnTo>
                      <a:pt x="934" y="1303"/>
                    </a:lnTo>
                    <a:lnTo>
                      <a:pt x="2206" y="1303"/>
                    </a:lnTo>
                    <a:lnTo>
                      <a:pt x="2206" y="2190"/>
                    </a:lnTo>
                    <a:lnTo>
                      <a:pt x="934" y="2190"/>
                    </a:lnTo>
                    <a:close/>
                    <a:moveTo>
                      <a:pt x="1522" y="467"/>
                    </a:moveTo>
                    <a:lnTo>
                      <a:pt x="1646" y="592"/>
                    </a:lnTo>
                    <a:lnTo>
                      <a:pt x="1892" y="379"/>
                    </a:lnTo>
                    <a:lnTo>
                      <a:pt x="1892" y="254"/>
                    </a:lnTo>
                    <a:lnTo>
                      <a:pt x="1332" y="254"/>
                    </a:lnTo>
                    <a:lnTo>
                      <a:pt x="1253" y="467"/>
                    </a:lnTo>
                    <a:lnTo>
                      <a:pt x="1522" y="467"/>
                    </a:lnTo>
                    <a:close/>
                    <a:moveTo>
                      <a:pt x="1277" y="1478"/>
                    </a:moveTo>
                    <a:lnTo>
                      <a:pt x="1277" y="2014"/>
                    </a:lnTo>
                    <a:lnTo>
                      <a:pt x="1864" y="2014"/>
                    </a:lnTo>
                    <a:lnTo>
                      <a:pt x="1864" y="1478"/>
                    </a:lnTo>
                    <a:lnTo>
                      <a:pt x="1277" y="147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Freeform 17">
                <a:extLst>
                  <a:ext uri="{FF2B5EF4-FFF2-40B4-BE49-F238E27FC236}">
                    <a16:creationId xmlns:a16="http://schemas.microsoft.com/office/drawing/2014/main" id="{89ADDB60-01BA-DC49-8DE8-7909E412BF28}"/>
                  </a:ext>
                </a:extLst>
              </p:cNvPr>
              <p:cNvSpPr>
                <a:spLocks noChangeArrowheads="1"/>
              </p:cNvSpPr>
              <p:nvPr/>
            </p:nvSpPr>
            <p:spPr bwMode="auto">
              <a:xfrm>
                <a:off x="3982528" y="697395"/>
                <a:ext cx="362437" cy="363166"/>
              </a:xfrm>
              <a:custGeom>
                <a:avLst/>
                <a:gdLst>
                  <a:gd name="T0" fmla="*/ 1244 w 2193"/>
                  <a:gd name="T1" fmla="*/ 1012 h 2195"/>
                  <a:gd name="T2" fmla="*/ 934 w 2193"/>
                  <a:gd name="T3" fmla="*/ 1589 h 2195"/>
                  <a:gd name="T4" fmla="*/ 1249 w 2193"/>
                  <a:gd name="T5" fmla="*/ 1764 h 2195"/>
                  <a:gd name="T6" fmla="*/ 925 w 2193"/>
                  <a:gd name="T7" fmla="*/ 2194 h 2195"/>
                  <a:gd name="T8" fmla="*/ 439 w 2193"/>
                  <a:gd name="T9" fmla="*/ 2032 h 2195"/>
                  <a:gd name="T10" fmla="*/ 597 w 2193"/>
                  <a:gd name="T11" fmla="*/ 1764 h 2195"/>
                  <a:gd name="T12" fmla="*/ 65 w 2193"/>
                  <a:gd name="T13" fmla="*/ 1589 h 2195"/>
                  <a:gd name="T14" fmla="*/ 856 w 2193"/>
                  <a:gd name="T15" fmla="*/ 1187 h 2195"/>
                  <a:gd name="T16" fmla="*/ 292 w 2193"/>
                  <a:gd name="T17" fmla="*/ 1455 h 2195"/>
                  <a:gd name="T18" fmla="*/ 167 w 2193"/>
                  <a:gd name="T19" fmla="*/ 1187 h 2195"/>
                  <a:gd name="T20" fmla="*/ 65 w 2193"/>
                  <a:gd name="T21" fmla="*/ 1012 h 2195"/>
                  <a:gd name="T22" fmla="*/ 361 w 2193"/>
                  <a:gd name="T23" fmla="*/ 809 h 2195"/>
                  <a:gd name="T24" fmla="*/ 56 w 2193"/>
                  <a:gd name="T25" fmla="*/ 628 h 2195"/>
                  <a:gd name="T26" fmla="*/ 366 w 2193"/>
                  <a:gd name="T27" fmla="*/ 319 h 2195"/>
                  <a:gd name="T28" fmla="*/ 125 w 2193"/>
                  <a:gd name="T29" fmla="*/ 148 h 2195"/>
                  <a:gd name="T30" fmla="*/ 366 w 2193"/>
                  <a:gd name="T31" fmla="*/ 0 h 2195"/>
                  <a:gd name="T32" fmla="*/ 680 w 2193"/>
                  <a:gd name="T33" fmla="*/ 148 h 2195"/>
                  <a:gd name="T34" fmla="*/ 934 w 2193"/>
                  <a:gd name="T35" fmla="*/ 319 h 2195"/>
                  <a:gd name="T36" fmla="*/ 680 w 2193"/>
                  <a:gd name="T37" fmla="*/ 628 h 2195"/>
                  <a:gd name="T38" fmla="*/ 1022 w 2193"/>
                  <a:gd name="T39" fmla="*/ 64 h 2195"/>
                  <a:gd name="T40" fmla="*/ 1115 w 2193"/>
                  <a:gd name="T41" fmla="*/ 628 h 2195"/>
                  <a:gd name="T42" fmla="*/ 1244 w 2193"/>
                  <a:gd name="T43" fmla="*/ 809 h 2195"/>
                  <a:gd name="T44" fmla="*/ 546 w 2193"/>
                  <a:gd name="T45" fmla="*/ 1012 h 2195"/>
                  <a:gd name="T46" fmla="*/ 1683 w 2193"/>
                  <a:gd name="T47" fmla="*/ 0 h 2195"/>
                  <a:gd name="T48" fmla="*/ 2183 w 2193"/>
                  <a:gd name="T49" fmla="*/ 115 h 2195"/>
                  <a:gd name="T50" fmla="*/ 2113 w 2193"/>
                  <a:gd name="T51" fmla="*/ 291 h 2195"/>
                  <a:gd name="T52" fmla="*/ 1868 w 2193"/>
                  <a:gd name="T53" fmla="*/ 1427 h 2195"/>
                  <a:gd name="T54" fmla="*/ 1836 w 2193"/>
                  <a:gd name="T55" fmla="*/ 2194 h 2195"/>
                  <a:gd name="T56" fmla="*/ 1535 w 2193"/>
                  <a:gd name="T57" fmla="*/ 2194 h 2195"/>
                  <a:gd name="T58" fmla="*/ 1489 w 2193"/>
                  <a:gd name="T59" fmla="*/ 1445 h 2195"/>
                  <a:gd name="T60" fmla="*/ 1632 w 2193"/>
                  <a:gd name="T61" fmla="*/ 1104 h 2195"/>
                  <a:gd name="T62" fmla="*/ 1771 w 2193"/>
                  <a:gd name="T63" fmla="*/ 291 h 2195"/>
                  <a:gd name="T64" fmla="*/ 1614 w 2193"/>
                  <a:gd name="T65" fmla="*/ 975 h 2195"/>
                  <a:gd name="T66" fmla="*/ 1360 w 2193"/>
                  <a:gd name="T67" fmla="*/ 0 h 2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93" h="2195">
                    <a:moveTo>
                      <a:pt x="546" y="1012"/>
                    </a:moveTo>
                    <a:lnTo>
                      <a:pt x="1244" y="1012"/>
                    </a:lnTo>
                    <a:lnTo>
                      <a:pt x="1244" y="1187"/>
                    </a:lnTo>
                    <a:lnTo>
                      <a:pt x="934" y="1589"/>
                    </a:lnTo>
                    <a:lnTo>
                      <a:pt x="1249" y="1589"/>
                    </a:lnTo>
                    <a:lnTo>
                      <a:pt x="1249" y="1764"/>
                    </a:lnTo>
                    <a:lnTo>
                      <a:pt x="925" y="1764"/>
                    </a:lnTo>
                    <a:lnTo>
                      <a:pt x="925" y="2194"/>
                    </a:lnTo>
                    <a:lnTo>
                      <a:pt x="439" y="2194"/>
                    </a:lnTo>
                    <a:lnTo>
                      <a:pt x="439" y="2032"/>
                    </a:lnTo>
                    <a:lnTo>
                      <a:pt x="597" y="2032"/>
                    </a:lnTo>
                    <a:lnTo>
                      <a:pt x="597" y="1764"/>
                    </a:lnTo>
                    <a:lnTo>
                      <a:pt x="65" y="1764"/>
                    </a:lnTo>
                    <a:lnTo>
                      <a:pt x="65" y="1589"/>
                    </a:lnTo>
                    <a:lnTo>
                      <a:pt x="537" y="1589"/>
                    </a:lnTo>
                    <a:lnTo>
                      <a:pt x="856" y="1187"/>
                    </a:lnTo>
                    <a:lnTo>
                      <a:pt x="453" y="1187"/>
                    </a:lnTo>
                    <a:lnTo>
                      <a:pt x="292" y="1455"/>
                    </a:lnTo>
                    <a:lnTo>
                      <a:pt x="0" y="1455"/>
                    </a:lnTo>
                    <a:lnTo>
                      <a:pt x="167" y="1187"/>
                    </a:lnTo>
                    <a:lnTo>
                      <a:pt x="65" y="1187"/>
                    </a:lnTo>
                    <a:lnTo>
                      <a:pt x="65" y="1012"/>
                    </a:lnTo>
                    <a:lnTo>
                      <a:pt x="255" y="1012"/>
                    </a:lnTo>
                    <a:lnTo>
                      <a:pt x="361" y="809"/>
                    </a:lnTo>
                    <a:lnTo>
                      <a:pt x="56" y="809"/>
                    </a:lnTo>
                    <a:lnTo>
                      <a:pt x="56" y="628"/>
                    </a:lnTo>
                    <a:lnTo>
                      <a:pt x="366" y="628"/>
                    </a:lnTo>
                    <a:lnTo>
                      <a:pt x="366" y="319"/>
                    </a:lnTo>
                    <a:lnTo>
                      <a:pt x="125" y="319"/>
                    </a:lnTo>
                    <a:lnTo>
                      <a:pt x="125" y="148"/>
                    </a:lnTo>
                    <a:lnTo>
                      <a:pt x="366" y="148"/>
                    </a:lnTo>
                    <a:lnTo>
                      <a:pt x="366" y="0"/>
                    </a:lnTo>
                    <a:lnTo>
                      <a:pt x="680" y="0"/>
                    </a:lnTo>
                    <a:lnTo>
                      <a:pt x="680" y="148"/>
                    </a:lnTo>
                    <a:lnTo>
                      <a:pt x="934" y="148"/>
                    </a:lnTo>
                    <a:lnTo>
                      <a:pt x="934" y="319"/>
                    </a:lnTo>
                    <a:lnTo>
                      <a:pt x="680" y="319"/>
                    </a:lnTo>
                    <a:lnTo>
                      <a:pt x="680" y="628"/>
                    </a:lnTo>
                    <a:lnTo>
                      <a:pt x="846" y="628"/>
                    </a:lnTo>
                    <a:lnTo>
                      <a:pt x="1022" y="64"/>
                    </a:lnTo>
                    <a:lnTo>
                      <a:pt x="1272" y="64"/>
                    </a:lnTo>
                    <a:lnTo>
                      <a:pt x="1115" y="628"/>
                    </a:lnTo>
                    <a:lnTo>
                      <a:pt x="1244" y="628"/>
                    </a:lnTo>
                    <a:lnTo>
                      <a:pt x="1244" y="809"/>
                    </a:lnTo>
                    <a:lnTo>
                      <a:pt x="652" y="809"/>
                    </a:lnTo>
                    <a:lnTo>
                      <a:pt x="546" y="1012"/>
                    </a:lnTo>
                    <a:close/>
                    <a:moveTo>
                      <a:pt x="1360" y="0"/>
                    </a:moveTo>
                    <a:lnTo>
                      <a:pt x="1683" y="0"/>
                    </a:lnTo>
                    <a:lnTo>
                      <a:pt x="1679" y="115"/>
                    </a:lnTo>
                    <a:lnTo>
                      <a:pt x="2183" y="115"/>
                    </a:lnTo>
                    <a:lnTo>
                      <a:pt x="2183" y="291"/>
                    </a:lnTo>
                    <a:lnTo>
                      <a:pt x="2113" y="291"/>
                    </a:lnTo>
                    <a:lnTo>
                      <a:pt x="2113" y="739"/>
                    </a:lnTo>
                    <a:lnTo>
                      <a:pt x="1868" y="1427"/>
                    </a:lnTo>
                    <a:lnTo>
                      <a:pt x="2192" y="2194"/>
                    </a:lnTo>
                    <a:lnTo>
                      <a:pt x="1836" y="2194"/>
                    </a:lnTo>
                    <a:lnTo>
                      <a:pt x="1683" y="1834"/>
                    </a:lnTo>
                    <a:lnTo>
                      <a:pt x="1535" y="2194"/>
                    </a:lnTo>
                    <a:lnTo>
                      <a:pt x="1175" y="2194"/>
                    </a:lnTo>
                    <a:lnTo>
                      <a:pt x="1489" y="1445"/>
                    </a:lnTo>
                    <a:lnTo>
                      <a:pt x="1355" y="1104"/>
                    </a:lnTo>
                    <a:lnTo>
                      <a:pt x="1632" y="1104"/>
                    </a:lnTo>
                    <a:lnTo>
                      <a:pt x="1771" y="698"/>
                    </a:lnTo>
                    <a:lnTo>
                      <a:pt x="1771" y="291"/>
                    </a:lnTo>
                    <a:lnTo>
                      <a:pt x="1669" y="291"/>
                    </a:lnTo>
                    <a:lnTo>
                      <a:pt x="1614" y="975"/>
                    </a:lnTo>
                    <a:lnTo>
                      <a:pt x="1281" y="975"/>
                    </a:lnTo>
                    <a:lnTo>
                      <a:pt x="1360"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Freeform 18">
                <a:extLst>
                  <a:ext uri="{FF2B5EF4-FFF2-40B4-BE49-F238E27FC236}">
                    <a16:creationId xmlns:a16="http://schemas.microsoft.com/office/drawing/2014/main" id="{BADAC444-7B1E-8B4F-95E1-B15009384CAD}"/>
                  </a:ext>
                </a:extLst>
              </p:cNvPr>
              <p:cNvSpPr>
                <a:spLocks noChangeArrowheads="1"/>
              </p:cNvSpPr>
              <p:nvPr/>
            </p:nvSpPr>
            <p:spPr bwMode="auto">
              <a:xfrm>
                <a:off x="4374864" y="702500"/>
                <a:ext cx="369000" cy="355874"/>
              </a:xfrm>
              <a:custGeom>
                <a:avLst/>
                <a:gdLst>
                  <a:gd name="T0" fmla="*/ 1447 w 2230"/>
                  <a:gd name="T1" fmla="*/ 1118 h 2150"/>
                  <a:gd name="T2" fmla="*/ 2229 w 2230"/>
                  <a:gd name="T3" fmla="*/ 1405 h 2150"/>
                  <a:gd name="T4" fmla="*/ 1545 w 2230"/>
                  <a:gd name="T5" fmla="*/ 1405 h 2150"/>
                  <a:gd name="T6" fmla="*/ 1078 w 2230"/>
                  <a:gd name="T7" fmla="*/ 1252 h 2150"/>
                  <a:gd name="T8" fmla="*/ 652 w 2230"/>
                  <a:gd name="T9" fmla="*/ 1405 h 2150"/>
                  <a:gd name="T10" fmla="*/ 0 w 2230"/>
                  <a:gd name="T11" fmla="*/ 1405 h 2150"/>
                  <a:gd name="T12" fmla="*/ 726 w 2230"/>
                  <a:gd name="T13" fmla="*/ 1137 h 2150"/>
                  <a:gd name="T14" fmla="*/ 222 w 2230"/>
                  <a:gd name="T15" fmla="*/ 976 h 2150"/>
                  <a:gd name="T16" fmla="*/ 361 w 2230"/>
                  <a:gd name="T17" fmla="*/ 745 h 2150"/>
                  <a:gd name="T18" fmla="*/ 88 w 2230"/>
                  <a:gd name="T19" fmla="*/ 745 h 2150"/>
                  <a:gd name="T20" fmla="*/ 88 w 2230"/>
                  <a:gd name="T21" fmla="*/ 583 h 2150"/>
                  <a:gd name="T22" fmla="*/ 467 w 2230"/>
                  <a:gd name="T23" fmla="*/ 583 h 2150"/>
                  <a:gd name="T24" fmla="*/ 550 w 2230"/>
                  <a:gd name="T25" fmla="*/ 444 h 2150"/>
                  <a:gd name="T26" fmla="*/ 902 w 2230"/>
                  <a:gd name="T27" fmla="*/ 444 h 2150"/>
                  <a:gd name="T28" fmla="*/ 823 w 2230"/>
                  <a:gd name="T29" fmla="*/ 583 h 2150"/>
                  <a:gd name="T30" fmla="*/ 2146 w 2230"/>
                  <a:gd name="T31" fmla="*/ 583 h 2150"/>
                  <a:gd name="T32" fmla="*/ 2146 w 2230"/>
                  <a:gd name="T33" fmla="*/ 745 h 2150"/>
                  <a:gd name="T34" fmla="*/ 1910 w 2230"/>
                  <a:gd name="T35" fmla="*/ 745 h 2150"/>
                  <a:gd name="T36" fmla="*/ 1910 w 2230"/>
                  <a:gd name="T37" fmla="*/ 957 h 2150"/>
                  <a:gd name="T38" fmla="*/ 1447 w 2230"/>
                  <a:gd name="T39" fmla="*/ 1118 h 2150"/>
                  <a:gd name="T40" fmla="*/ 56 w 2230"/>
                  <a:gd name="T41" fmla="*/ 2126 h 2150"/>
                  <a:gd name="T42" fmla="*/ 426 w 2230"/>
                  <a:gd name="T43" fmla="*/ 1733 h 2150"/>
                  <a:gd name="T44" fmla="*/ 819 w 2230"/>
                  <a:gd name="T45" fmla="*/ 1733 h 2150"/>
                  <a:gd name="T46" fmla="*/ 463 w 2230"/>
                  <a:gd name="T47" fmla="*/ 2126 h 2150"/>
                  <a:gd name="T48" fmla="*/ 56 w 2230"/>
                  <a:gd name="T49" fmla="*/ 2126 h 2150"/>
                  <a:gd name="T50" fmla="*/ 1817 w 2230"/>
                  <a:gd name="T51" fmla="*/ 490 h 2150"/>
                  <a:gd name="T52" fmla="*/ 1817 w 2230"/>
                  <a:gd name="T53" fmla="*/ 292 h 2150"/>
                  <a:gd name="T54" fmla="*/ 412 w 2230"/>
                  <a:gd name="T55" fmla="*/ 292 h 2150"/>
                  <a:gd name="T56" fmla="*/ 412 w 2230"/>
                  <a:gd name="T57" fmla="*/ 490 h 2150"/>
                  <a:gd name="T58" fmla="*/ 88 w 2230"/>
                  <a:gd name="T59" fmla="*/ 490 h 2150"/>
                  <a:gd name="T60" fmla="*/ 88 w 2230"/>
                  <a:gd name="T61" fmla="*/ 121 h 2150"/>
                  <a:gd name="T62" fmla="*/ 925 w 2230"/>
                  <a:gd name="T63" fmla="*/ 121 h 2150"/>
                  <a:gd name="T64" fmla="*/ 925 w 2230"/>
                  <a:gd name="T65" fmla="*/ 0 h 2150"/>
                  <a:gd name="T66" fmla="*/ 1290 w 2230"/>
                  <a:gd name="T67" fmla="*/ 0 h 2150"/>
                  <a:gd name="T68" fmla="*/ 1290 w 2230"/>
                  <a:gd name="T69" fmla="*/ 121 h 2150"/>
                  <a:gd name="T70" fmla="*/ 2146 w 2230"/>
                  <a:gd name="T71" fmla="*/ 121 h 2150"/>
                  <a:gd name="T72" fmla="*/ 2146 w 2230"/>
                  <a:gd name="T73" fmla="*/ 490 h 2150"/>
                  <a:gd name="T74" fmla="*/ 1817 w 2230"/>
                  <a:gd name="T75" fmla="*/ 490 h 2150"/>
                  <a:gd name="T76" fmla="*/ 1281 w 2230"/>
                  <a:gd name="T77" fmla="*/ 1368 h 2150"/>
                  <a:gd name="T78" fmla="*/ 1281 w 2230"/>
                  <a:gd name="T79" fmla="*/ 1497 h 2150"/>
                  <a:gd name="T80" fmla="*/ 2146 w 2230"/>
                  <a:gd name="T81" fmla="*/ 1497 h 2150"/>
                  <a:gd name="T82" fmla="*/ 2146 w 2230"/>
                  <a:gd name="T83" fmla="*/ 1668 h 2150"/>
                  <a:gd name="T84" fmla="*/ 1281 w 2230"/>
                  <a:gd name="T85" fmla="*/ 1668 h 2150"/>
                  <a:gd name="T86" fmla="*/ 1281 w 2230"/>
                  <a:gd name="T87" fmla="*/ 2149 h 2150"/>
                  <a:gd name="T88" fmla="*/ 944 w 2230"/>
                  <a:gd name="T89" fmla="*/ 2149 h 2150"/>
                  <a:gd name="T90" fmla="*/ 944 w 2230"/>
                  <a:gd name="T91" fmla="*/ 1668 h 2150"/>
                  <a:gd name="T92" fmla="*/ 88 w 2230"/>
                  <a:gd name="T93" fmla="*/ 1668 h 2150"/>
                  <a:gd name="T94" fmla="*/ 88 w 2230"/>
                  <a:gd name="T95" fmla="*/ 1497 h 2150"/>
                  <a:gd name="T96" fmla="*/ 944 w 2230"/>
                  <a:gd name="T97" fmla="*/ 1497 h 2150"/>
                  <a:gd name="T98" fmla="*/ 944 w 2230"/>
                  <a:gd name="T99" fmla="*/ 1368 h 2150"/>
                  <a:gd name="T100" fmla="*/ 1281 w 2230"/>
                  <a:gd name="T101" fmla="*/ 1368 h 2150"/>
                  <a:gd name="T102" fmla="*/ 1115 w 2230"/>
                  <a:gd name="T103" fmla="*/ 999 h 2150"/>
                  <a:gd name="T104" fmla="*/ 1568 w 2230"/>
                  <a:gd name="T105" fmla="*/ 832 h 2150"/>
                  <a:gd name="T106" fmla="*/ 1568 w 2230"/>
                  <a:gd name="T107" fmla="*/ 745 h 2150"/>
                  <a:gd name="T108" fmla="*/ 726 w 2230"/>
                  <a:gd name="T109" fmla="*/ 745 h 2150"/>
                  <a:gd name="T110" fmla="*/ 675 w 2230"/>
                  <a:gd name="T111" fmla="*/ 837 h 2150"/>
                  <a:gd name="T112" fmla="*/ 1115 w 2230"/>
                  <a:gd name="T113" fmla="*/ 999 h 2150"/>
                  <a:gd name="T114" fmla="*/ 2192 w 2230"/>
                  <a:gd name="T115" fmla="*/ 2126 h 2150"/>
                  <a:gd name="T116" fmla="*/ 1776 w 2230"/>
                  <a:gd name="T117" fmla="*/ 2126 h 2150"/>
                  <a:gd name="T118" fmla="*/ 1420 w 2230"/>
                  <a:gd name="T119" fmla="*/ 1733 h 2150"/>
                  <a:gd name="T120" fmla="*/ 1827 w 2230"/>
                  <a:gd name="T121" fmla="*/ 1733 h 2150"/>
                  <a:gd name="T122" fmla="*/ 2192 w 2230"/>
                  <a:gd name="T123" fmla="*/ 2126 h 2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30" h="2150">
                    <a:moveTo>
                      <a:pt x="1447" y="1118"/>
                    </a:moveTo>
                    <a:lnTo>
                      <a:pt x="2229" y="1405"/>
                    </a:lnTo>
                    <a:lnTo>
                      <a:pt x="1545" y="1405"/>
                    </a:lnTo>
                    <a:lnTo>
                      <a:pt x="1078" y="1252"/>
                    </a:lnTo>
                    <a:lnTo>
                      <a:pt x="652" y="1405"/>
                    </a:lnTo>
                    <a:lnTo>
                      <a:pt x="0" y="1405"/>
                    </a:lnTo>
                    <a:lnTo>
                      <a:pt x="726" y="1137"/>
                    </a:lnTo>
                    <a:lnTo>
                      <a:pt x="222" y="976"/>
                    </a:lnTo>
                    <a:lnTo>
                      <a:pt x="361" y="745"/>
                    </a:lnTo>
                    <a:lnTo>
                      <a:pt x="88" y="745"/>
                    </a:lnTo>
                    <a:lnTo>
                      <a:pt x="88" y="583"/>
                    </a:lnTo>
                    <a:lnTo>
                      <a:pt x="467" y="583"/>
                    </a:lnTo>
                    <a:lnTo>
                      <a:pt x="550" y="444"/>
                    </a:lnTo>
                    <a:lnTo>
                      <a:pt x="902" y="444"/>
                    </a:lnTo>
                    <a:lnTo>
                      <a:pt x="823" y="583"/>
                    </a:lnTo>
                    <a:lnTo>
                      <a:pt x="2146" y="583"/>
                    </a:lnTo>
                    <a:lnTo>
                      <a:pt x="2146" y="745"/>
                    </a:lnTo>
                    <a:lnTo>
                      <a:pt x="1910" y="745"/>
                    </a:lnTo>
                    <a:lnTo>
                      <a:pt x="1910" y="957"/>
                    </a:lnTo>
                    <a:lnTo>
                      <a:pt x="1447" y="1118"/>
                    </a:lnTo>
                    <a:close/>
                    <a:moveTo>
                      <a:pt x="56" y="2126"/>
                    </a:moveTo>
                    <a:lnTo>
                      <a:pt x="426" y="1733"/>
                    </a:lnTo>
                    <a:lnTo>
                      <a:pt x="819" y="1733"/>
                    </a:lnTo>
                    <a:lnTo>
                      <a:pt x="463" y="2126"/>
                    </a:lnTo>
                    <a:lnTo>
                      <a:pt x="56" y="2126"/>
                    </a:lnTo>
                    <a:close/>
                    <a:moveTo>
                      <a:pt x="1817" y="490"/>
                    </a:moveTo>
                    <a:lnTo>
                      <a:pt x="1817" y="292"/>
                    </a:lnTo>
                    <a:lnTo>
                      <a:pt x="412" y="292"/>
                    </a:lnTo>
                    <a:lnTo>
                      <a:pt x="412" y="490"/>
                    </a:lnTo>
                    <a:lnTo>
                      <a:pt x="88" y="490"/>
                    </a:lnTo>
                    <a:lnTo>
                      <a:pt x="88" y="121"/>
                    </a:lnTo>
                    <a:lnTo>
                      <a:pt x="925" y="121"/>
                    </a:lnTo>
                    <a:lnTo>
                      <a:pt x="925" y="0"/>
                    </a:lnTo>
                    <a:lnTo>
                      <a:pt x="1290" y="0"/>
                    </a:lnTo>
                    <a:lnTo>
                      <a:pt x="1290" y="121"/>
                    </a:lnTo>
                    <a:lnTo>
                      <a:pt x="2146" y="121"/>
                    </a:lnTo>
                    <a:lnTo>
                      <a:pt x="2146" y="490"/>
                    </a:lnTo>
                    <a:lnTo>
                      <a:pt x="1817" y="490"/>
                    </a:lnTo>
                    <a:close/>
                    <a:moveTo>
                      <a:pt x="1281" y="1368"/>
                    </a:moveTo>
                    <a:lnTo>
                      <a:pt x="1281" y="1497"/>
                    </a:lnTo>
                    <a:lnTo>
                      <a:pt x="2146" y="1497"/>
                    </a:lnTo>
                    <a:lnTo>
                      <a:pt x="2146" y="1668"/>
                    </a:lnTo>
                    <a:lnTo>
                      <a:pt x="1281" y="1668"/>
                    </a:lnTo>
                    <a:lnTo>
                      <a:pt x="1281" y="2149"/>
                    </a:lnTo>
                    <a:lnTo>
                      <a:pt x="944" y="2149"/>
                    </a:lnTo>
                    <a:lnTo>
                      <a:pt x="944" y="1668"/>
                    </a:lnTo>
                    <a:lnTo>
                      <a:pt x="88" y="1668"/>
                    </a:lnTo>
                    <a:lnTo>
                      <a:pt x="88" y="1497"/>
                    </a:lnTo>
                    <a:lnTo>
                      <a:pt x="944" y="1497"/>
                    </a:lnTo>
                    <a:lnTo>
                      <a:pt x="944" y="1368"/>
                    </a:lnTo>
                    <a:lnTo>
                      <a:pt x="1281" y="1368"/>
                    </a:lnTo>
                    <a:close/>
                    <a:moveTo>
                      <a:pt x="1115" y="999"/>
                    </a:moveTo>
                    <a:lnTo>
                      <a:pt x="1568" y="832"/>
                    </a:lnTo>
                    <a:lnTo>
                      <a:pt x="1568" y="745"/>
                    </a:lnTo>
                    <a:lnTo>
                      <a:pt x="726" y="745"/>
                    </a:lnTo>
                    <a:lnTo>
                      <a:pt x="675" y="837"/>
                    </a:lnTo>
                    <a:lnTo>
                      <a:pt x="1115" y="999"/>
                    </a:lnTo>
                    <a:close/>
                    <a:moveTo>
                      <a:pt x="2192" y="2126"/>
                    </a:moveTo>
                    <a:lnTo>
                      <a:pt x="1776" y="2126"/>
                    </a:lnTo>
                    <a:lnTo>
                      <a:pt x="1420" y="1733"/>
                    </a:lnTo>
                    <a:lnTo>
                      <a:pt x="1827" y="1733"/>
                    </a:lnTo>
                    <a:lnTo>
                      <a:pt x="2192" y="21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Freeform 19">
                <a:extLst>
                  <a:ext uri="{FF2B5EF4-FFF2-40B4-BE49-F238E27FC236}">
                    <a16:creationId xmlns:a16="http://schemas.microsoft.com/office/drawing/2014/main" id="{DDEA1A75-7DDB-484D-B55F-83057427529B}"/>
                  </a:ext>
                </a:extLst>
              </p:cNvPr>
              <p:cNvSpPr>
                <a:spLocks noChangeArrowheads="1"/>
              </p:cNvSpPr>
              <p:nvPr/>
            </p:nvSpPr>
            <p:spPr bwMode="auto">
              <a:xfrm>
                <a:off x="4758449" y="696666"/>
                <a:ext cx="376293" cy="364625"/>
              </a:xfrm>
              <a:custGeom>
                <a:avLst/>
                <a:gdLst>
                  <a:gd name="T0" fmla="*/ 615 w 2276"/>
                  <a:gd name="T1" fmla="*/ 943 h 2205"/>
                  <a:gd name="T2" fmla="*/ 897 w 2276"/>
                  <a:gd name="T3" fmla="*/ 1145 h 2205"/>
                  <a:gd name="T4" fmla="*/ 897 w 2276"/>
                  <a:gd name="T5" fmla="*/ 1548 h 2205"/>
                  <a:gd name="T6" fmla="*/ 583 w 2276"/>
                  <a:gd name="T7" fmla="*/ 1330 h 2205"/>
                  <a:gd name="T8" fmla="*/ 583 w 2276"/>
                  <a:gd name="T9" fmla="*/ 2204 h 2205"/>
                  <a:gd name="T10" fmla="*/ 241 w 2276"/>
                  <a:gd name="T11" fmla="*/ 2204 h 2205"/>
                  <a:gd name="T12" fmla="*/ 241 w 2276"/>
                  <a:gd name="T13" fmla="*/ 1478 h 2205"/>
                  <a:gd name="T14" fmla="*/ 0 w 2276"/>
                  <a:gd name="T15" fmla="*/ 1478 h 2205"/>
                  <a:gd name="T16" fmla="*/ 435 w 2276"/>
                  <a:gd name="T17" fmla="*/ 439 h 2205"/>
                  <a:gd name="T18" fmla="*/ 93 w 2276"/>
                  <a:gd name="T19" fmla="*/ 439 h 2205"/>
                  <a:gd name="T20" fmla="*/ 93 w 2276"/>
                  <a:gd name="T21" fmla="*/ 264 h 2205"/>
                  <a:gd name="T22" fmla="*/ 306 w 2276"/>
                  <a:gd name="T23" fmla="*/ 264 h 2205"/>
                  <a:gd name="T24" fmla="*/ 306 w 2276"/>
                  <a:gd name="T25" fmla="*/ 0 h 2205"/>
                  <a:gd name="T26" fmla="*/ 680 w 2276"/>
                  <a:gd name="T27" fmla="*/ 0 h 2205"/>
                  <a:gd name="T28" fmla="*/ 680 w 2276"/>
                  <a:gd name="T29" fmla="*/ 264 h 2205"/>
                  <a:gd name="T30" fmla="*/ 819 w 2276"/>
                  <a:gd name="T31" fmla="*/ 264 h 2205"/>
                  <a:gd name="T32" fmla="*/ 819 w 2276"/>
                  <a:gd name="T33" fmla="*/ 439 h 2205"/>
                  <a:gd name="T34" fmla="*/ 615 w 2276"/>
                  <a:gd name="T35" fmla="*/ 943 h 2205"/>
                  <a:gd name="T36" fmla="*/ 888 w 2276"/>
                  <a:gd name="T37" fmla="*/ 726 h 2205"/>
                  <a:gd name="T38" fmla="*/ 888 w 2276"/>
                  <a:gd name="T39" fmla="*/ 550 h 2205"/>
                  <a:gd name="T40" fmla="*/ 1360 w 2276"/>
                  <a:gd name="T41" fmla="*/ 550 h 2205"/>
                  <a:gd name="T42" fmla="*/ 1360 w 2276"/>
                  <a:gd name="T43" fmla="*/ 0 h 2205"/>
                  <a:gd name="T44" fmla="*/ 1702 w 2276"/>
                  <a:gd name="T45" fmla="*/ 0 h 2205"/>
                  <a:gd name="T46" fmla="*/ 1702 w 2276"/>
                  <a:gd name="T47" fmla="*/ 550 h 2205"/>
                  <a:gd name="T48" fmla="*/ 2178 w 2276"/>
                  <a:gd name="T49" fmla="*/ 550 h 2205"/>
                  <a:gd name="T50" fmla="*/ 2178 w 2276"/>
                  <a:gd name="T51" fmla="*/ 726 h 2205"/>
                  <a:gd name="T52" fmla="*/ 1702 w 2276"/>
                  <a:gd name="T53" fmla="*/ 726 h 2205"/>
                  <a:gd name="T54" fmla="*/ 1702 w 2276"/>
                  <a:gd name="T55" fmla="*/ 1996 h 2205"/>
                  <a:gd name="T56" fmla="*/ 2275 w 2276"/>
                  <a:gd name="T57" fmla="*/ 1996 h 2205"/>
                  <a:gd name="T58" fmla="*/ 2275 w 2276"/>
                  <a:gd name="T59" fmla="*/ 2172 h 2205"/>
                  <a:gd name="T60" fmla="*/ 763 w 2276"/>
                  <a:gd name="T61" fmla="*/ 2172 h 2205"/>
                  <a:gd name="T62" fmla="*/ 763 w 2276"/>
                  <a:gd name="T63" fmla="*/ 1996 h 2205"/>
                  <a:gd name="T64" fmla="*/ 1360 w 2276"/>
                  <a:gd name="T65" fmla="*/ 1996 h 2205"/>
                  <a:gd name="T66" fmla="*/ 1360 w 2276"/>
                  <a:gd name="T67" fmla="*/ 726 h 2205"/>
                  <a:gd name="T68" fmla="*/ 888 w 2276"/>
                  <a:gd name="T69" fmla="*/ 726 h 2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276" h="2205">
                    <a:moveTo>
                      <a:pt x="615" y="943"/>
                    </a:moveTo>
                    <a:lnTo>
                      <a:pt x="897" y="1145"/>
                    </a:lnTo>
                    <a:lnTo>
                      <a:pt x="897" y="1548"/>
                    </a:lnTo>
                    <a:lnTo>
                      <a:pt x="583" y="1330"/>
                    </a:lnTo>
                    <a:lnTo>
                      <a:pt x="583" y="2204"/>
                    </a:lnTo>
                    <a:lnTo>
                      <a:pt x="241" y="2204"/>
                    </a:lnTo>
                    <a:lnTo>
                      <a:pt x="241" y="1478"/>
                    </a:lnTo>
                    <a:lnTo>
                      <a:pt x="0" y="1478"/>
                    </a:lnTo>
                    <a:lnTo>
                      <a:pt x="435" y="439"/>
                    </a:lnTo>
                    <a:lnTo>
                      <a:pt x="93" y="439"/>
                    </a:lnTo>
                    <a:lnTo>
                      <a:pt x="93" y="264"/>
                    </a:lnTo>
                    <a:lnTo>
                      <a:pt x="306" y="264"/>
                    </a:lnTo>
                    <a:lnTo>
                      <a:pt x="306" y="0"/>
                    </a:lnTo>
                    <a:lnTo>
                      <a:pt x="680" y="0"/>
                    </a:lnTo>
                    <a:lnTo>
                      <a:pt x="680" y="264"/>
                    </a:lnTo>
                    <a:lnTo>
                      <a:pt x="819" y="264"/>
                    </a:lnTo>
                    <a:lnTo>
                      <a:pt x="819" y="439"/>
                    </a:lnTo>
                    <a:lnTo>
                      <a:pt x="615" y="943"/>
                    </a:lnTo>
                    <a:close/>
                    <a:moveTo>
                      <a:pt x="888" y="726"/>
                    </a:moveTo>
                    <a:lnTo>
                      <a:pt x="888" y="550"/>
                    </a:lnTo>
                    <a:lnTo>
                      <a:pt x="1360" y="550"/>
                    </a:lnTo>
                    <a:lnTo>
                      <a:pt x="1360" y="0"/>
                    </a:lnTo>
                    <a:lnTo>
                      <a:pt x="1702" y="0"/>
                    </a:lnTo>
                    <a:lnTo>
                      <a:pt x="1702" y="550"/>
                    </a:lnTo>
                    <a:lnTo>
                      <a:pt x="2178" y="550"/>
                    </a:lnTo>
                    <a:lnTo>
                      <a:pt x="2178" y="726"/>
                    </a:lnTo>
                    <a:lnTo>
                      <a:pt x="1702" y="726"/>
                    </a:lnTo>
                    <a:lnTo>
                      <a:pt x="1702" y="1996"/>
                    </a:lnTo>
                    <a:lnTo>
                      <a:pt x="2275" y="1996"/>
                    </a:lnTo>
                    <a:lnTo>
                      <a:pt x="2275" y="2172"/>
                    </a:lnTo>
                    <a:lnTo>
                      <a:pt x="763" y="2172"/>
                    </a:lnTo>
                    <a:lnTo>
                      <a:pt x="763" y="1996"/>
                    </a:lnTo>
                    <a:lnTo>
                      <a:pt x="1360" y="1996"/>
                    </a:lnTo>
                    <a:lnTo>
                      <a:pt x="1360" y="726"/>
                    </a:lnTo>
                    <a:lnTo>
                      <a:pt x="888" y="72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Freeform 20">
                <a:extLst>
                  <a:ext uri="{FF2B5EF4-FFF2-40B4-BE49-F238E27FC236}">
                    <a16:creationId xmlns:a16="http://schemas.microsoft.com/office/drawing/2014/main" id="{8BD7A1DA-D6BC-B540-8868-87444FFA8923}"/>
                  </a:ext>
                </a:extLst>
              </p:cNvPr>
              <p:cNvSpPr>
                <a:spLocks noChangeArrowheads="1"/>
              </p:cNvSpPr>
              <p:nvPr/>
            </p:nvSpPr>
            <p:spPr bwMode="auto">
              <a:xfrm>
                <a:off x="5179226" y="705417"/>
                <a:ext cx="328891" cy="352227"/>
              </a:xfrm>
              <a:custGeom>
                <a:avLst/>
                <a:gdLst>
                  <a:gd name="T0" fmla="*/ 1979 w 1990"/>
                  <a:gd name="T1" fmla="*/ 176 h 2131"/>
                  <a:gd name="T2" fmla="*/ 343 w 1990"/>
                  <a:gd name="T3" fmla="*/ 176 h 2131"/>
                  <a:gd name="T4" fmla="*/ 343 w 1990"/>
                  <a:gd name="T5" fmla="*/ 1954 h 2131"/>
                  <a:gd name="T6" fmla="*/ 1989 w 1990"/>
                  <a:gd name="T7" fmla="*/ 1954 h 2131"/>
                  <a:gd name="T8" fmla="*/ 1989 w 1990"/>
                  <a:gd name="T9" fmla="*/ 2130 h 2131"/>
                  <a:gd name="T10" fmla="*/ 0 w 1990"/>
                  <a:gd name="T11" fmla="*/ 2130 h 2131"/>
                  <a:gd name="T12" fmla="*/ 0 w 1990"/>
                  <a:gd name="T13" fmla="*/ 0 h 2131"/>
                  <a:gd name="T14" fmla="*/ 1979 w 1990"/>
                  <a:gd name="T15" fmla="*/ 0 h 2131"/>
                  <a:gd name="T16" fmla="*/ 1979 w 1990"/>
                  <a:gd name="T17" fmla="*/ 176 h 2131"/>
                  <a:gd name="T18" fmla="*/ 958 w 1990"/>
                  <a:gd name="T19" fmla="*/ 1063 h 2131"/>
                  <a:gd name="T20" fmla="*/ 421 w 1990"/>
                  <a:gd name="T21" fmla="*/ 310 h 2131"/>
                  <a:gd name="T22" fmla="*/ 847 w 1990"/>
                  <a:gd name="T23" fmla="*/ 310 h 2131"/>
                  <a:gd name="T24" fmla="*/ 1166 w 1990"/>
                  <a:gd name="T25" fmla="*/ 763 h 2131"/>
                  <a:gd name="T26" fmla="*/ 1475 w 1990"/>
                  <a:gd name="T27" fmla="*/ 310 h 2131"/>
                  <a:gd name="T28" fmla="*/ 1887 w 1990"/>
                  <a:gd name="T29" fmla="*/ 310 h 2131"/>
                  <a:gd name="T30" fmla="*/ 1378 w 1990"/>
                  <a:gd name="T31" fmla="*/ 1058 h 2131"/>
                  <a:gd name="T32" fmla="*/ 1924 w 1990"/>
                  <a:gd name="T33" fmla="*/ 1829 h 2131"/>
                  <a:gd name="T34" fmla="*/ 1508 w 1990"/>
                  <a:gd name="T35" fmla="*/ 1829 h 2131"/>
                  <a:gd name="T36" fmla="*/ 1175 w 1990"/>
                  <a:gd name="T37" fmla="*/ 1358 h 2131"/>
                  <a:gd name="T38" fmla="*/ 860 w 1990"/>
                  <a:gd name="T39" fmla="*/ 1829 h 2131"/>
                  <a:gd name="T40" fmla="*/ 440 w 1990"/>
                  <a:gd name="T41" fmla="*/ 1829 h 2131"/>
                  <a:gd name="T42" fmla="*/ 958 w 1990"/>
                  <a:gd name="T43" fmla="*/ 1063 h 2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0" h="2131">
                    <a:moveTo>
                      <a:pt x="1979" y="176"/>
                    </a:moveTo>
                    <a:lnTo>
                      <a:pt x="343" y="176"/>
                    </a:lnTo>
                    <a:lnTo>
                      <a:pt x="343" y="1954"/>
                    </a:lnTo>
                    <a:lnTo>
                      <a:pt x="1989" y="1954"/>
                    </a:lnTo>
                    <a:lnTo>
                      <a:pt x="1989" y="2130"/>
                    </a:lnTo>
                    <a:lnTo>
                      <a:pt x="0" y="2130"/>
                    </a:lnTo>
                    <a:lnTo>
                      <a:pt x="0" y="0"/>
                    </a:lnTo>
                    <a:lnTo>
                      <a:pt x="1979" y="0"/>
                    </a:lnTo>
                    <a:lnTo>
                      <a:pt x="1979" y="176"/>
                    </a:lnTo>
                    <a:close/>
                    <a:moveTo>
                      <a:pt x="958" y="1063"/>
                    </a:moveTo>
                    <a:lnTo>
                      <a:pt x="421" y="310"/>
                    </a:lnTo>
                    <a:lnTo>
                      <a:pt x="847" y="310"/>
                    </a:lnTo>
                    <a:lnTo>
                      <a:pt x="1166" y="763"/>
                    </a:lnTo>
                    <a:lnTo>
                      <a:pt x="1475" y="310"/>
                    </a:lnTo>
                    <a:lnTo>
                      <a:pt x="1887" y="310"/>
                    </a:lnTo>
                    <a:lnTo>
                      <a:pt x="1378" y="1058"/>
                    </a:lnTo>
                    <a:lnTo>
                      <a:pt x="1924" y="1829"/>
                    </a:lnTo>
                    <a:lnTo>
                      <a:pt x="1508" y="1829"/>
                    </a:lnTo>
                    <a:lnTo>
                      <a:pt x="1175" y="1358"/>
                    </a:lnTo>
                    <a:lnTo>
                      <a:pt x="860" y="1829"/>
                    </a:lnTo>
                    <a:lnTo>
                      <a:pt x="440" y="1829"/>
                    </a:lnTo>
                    <a:lnTo>
                      <a:pt x="958" y="106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dirty="0"/>
              </a:p>
            </p:txBody>
          </p:sp>
        </p:grpSp>
      </p:grpSp>
      <p:cxnSp>
        <p:nvCxnSpPr>
          <p:cNvPr id="35" name="直线连接符 34">
            <a:extLst>
              <a:ext uri="{FF2B5EF4-FFF2-40B4-BE49-F238E27FC236}">
                <a16:creationId xmlns:a16="http://schemas.microsoft.com/office/drawing/2014/main" id="{E5DF8D13-70E0-AF46-8631-B0F3419D3CFD}"/>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543783C6-3E2C-DC4A-A855-566FB9EEEA67}"/>
              </a:ext>
            </a:extLst>
          </p:cNvPr>
          <p:cNvGrpSpPr/>
          <p:nvPr userDrawn="1"/>
        </p:nvGrpSpPr>
        <p:grpSpPr>
          <a:xfrm>
            <a:off x="10332133" y="426643"/>
            <a:ext cx="927707" cy="369331"/>
            <a:chOff x="1113126" y="809213"/>
            <a:chExt cx="2133357" cy="523762"/>
          </a:xfrm>
          <a:solidFill>
            <a:schemeClr val="bg1">
              <a:lumMod val="75000"/>
            </a:schemeClr>
          </a:solidFill>
        </p:grpSpPr>
        <p:sp>
          <p:nvSpPr>
            <p:cNvPr id="37" name="椭圆 36">
              <a:extLst>
                <a:ext uri="{FF2B5EF4-FFF2-40B4-BE49-F238E27FC236}">
                  <a16:creationId xmlns:a16="http://schemas.microsoft.com/office/drawing/2014/main" id="{5C7ECC7A-FF16-554D-96D3-A65871AEE360}"/>
                </a:ext>
              </a:extLst>
            </p:cNvPr>
            <p:cNvSpPr/>
            <p:nvPr userDrawn="1"/>
          </p:nvSpPr>
          <p:spPr>
            <a:xfrm>
              <a:off x="1113126"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椭圆 37">
              <a:extLst>
                <a:ext uri="{FF2B5EF4-FFF2-40B4-BE49-F238E27FC236}">
                  <a16:creationId xmlns:a16="http://schemas.microsoft.com/office/drawing/2014/main" id="{45D09929-F40F-B44A-9D9E-3B1511170001}"/>
                </a:ext>
              </a:extLst>
            </p:cNvPr>
            <p:cNvSpPr/>
            <p:nvPr userDrawn="1"/>
          </p:nvSpPr>
          <p:spPr>
            <a:xfrm>
              <a:off x="1649658"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椭圆 38">
              <a:extLst>
                <a:ext uri="{FF2B5EF4-FFF2-40B4-BE49-F238E27FC236}">
                  <a16:creationId xmlns:a16="http://schemas.microsoft.com/office/drawing/2014/main" id="{2E8AAC8D-B4A7-744A-8BCA-D6B2EC213283}"/>
                </a:ext>
              </a:extLst>
            </p:cNvPr>
            <p:cNvSpPr/>
            <p:nvPr userDrawn="1"/>
          </p:nvSpPr>
          <p:spPr>
            <a:xfrm>
              <a:off x="2186190"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椭圆 39">
              <a:extLst>
                <a:ext uri="{FF2B5EF4-FFF2-40B4-BE49-F238E27FC236}">
                  <a16:creationId xmlns:a16="http://schemas.microsoft.com/office/drawing/2014/main" id="{E6F36119-3651-4744-9931-F2472FF33170}"/>
                </a:ext>
              </a:extLst>
            </p:cNvPr>
            <p:cNvSpPr/>
            <p:nvPr userDrawn="1"/>
          </p:nvSpPr>
          <p:spPr>
            <a:xfrm>
              <a:off x="2722721" y="809213"/>
              <a:ext cx="523762" cy="5237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41" name="矩形 40">
            <a:extLst>
              <a:ext uri="{FF2B5EF4-FFF2-40B4-BE49-F238E27FC236}">
                <a16:creationId xmlns:a16="http://schemas.microsoft.com/office/drawing/2014/main" id="{429E973E-9734-4844-B936-C1D7BEBEA261}"/>
              </a:ext>
            </a:extLst>
          </p:cNvPr>
          <p:cNvSpPr/>
          <p:nvPr userDrawn="1"/>
        </p:nvSpPr>
        <p:spPr>
          <a:xfrm>
            <a:off x="10245804" y="413133"/>
            <a:ext cx="1107996" cy="369332"/>
          </a:xfrm>
          <a:prstGeom prst="rect">
            <a:avLst/>
          </a:prstGeom>
          <a:noFill/>
        </p:spPr>
        <p:txBody>
          <a:bodyPr wrap="none" lIns="91440" tIns="45720" rIns="91440" bIns="45720">
            <a:spAutoFit/>
          </a:bodyPr>
          <a:lstStyle/>
          <a:p>
            <a:pPr algn="ctr"/>
            <a:r>
              <a:rPr lang="zh-CN" altLang="en-US" sz="1800" b="1" cap="none" spc="0" dirty="0">
                <a:ln w="22225">
                  <a:noFill/>
                  <a:prstDash val="solid"/>
                </a:ln>
                <a:solidFill>
                  <a:schemeClr val="accent1">
                    <a:lumMod val="60000"/>
                    <a:lumOff val="40000"/>
                  </a:schemeClr>
                </a:solidFill>
                <a:effectLst/>
              </a:rPr>
              <a:t>我的学校</a:t>
            </a:r>
          </a:p>
        </p:txBody>
      </p:sp>
      <p:grpSp>
        <p:nvGrpSpPr>
          <p:cNvPr id="42" name="组合 41">
            <a:extLst>
              <a:ext uri="{FF2B5EF4-FFF2-40B4-BE49-F238E27FC236}">
                <a16:creationId xmlns:a16="http://schemas.microsoft.com/office/drawing/2014/main" id="{CDBA8066-7719-6E44-BBFA-1BD16F8D020F}"/>
              </a:ext>
            </a:extLst>
          </p:cNvPr>
          <p:cNvGrpSpPr/>
          <p:nvPr userDrawn="1"/>
        </p:nvGrpSpPr>
        <p:grpSpPr>
          <a:xfrm>
            <a:off x="715452" y="729525"/>
            <a:ext cx="403039" cy="321898"/>
            <a:chOff x="1368170" y="664579"/>
            <a:chExt cx="550582" cy="439737"/>
          </a:xfrm>
          <a:solidFill>
            <a:schemeClr val="bg1"/>
          </a:solidFill>
        </p:grpSpPr>
        <p:sp>
          <p:nvSpPr>
            <p:cNvPr id="43" name="Freeform 1">
              <a:extLst>
                <a:ext uri="{FF2B5EF4-FFF2-40B4-BE49-F238E27FC236}">
                  <a16:creationId xmlns:a16="http://schemas.microsoft.com/office/drawing/2014/main" id="{212F6771-1D3A-7341-902D-DA18419FA11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a:extLst>
                <a:ext uri="{FF2B5EF4-FFF2-40B4-BE49-F238E27FC236}">
                  <a16:creationId xmlns:a16="http://schemas.microsoft.com/office/drawing/2014/main" id="{34F083C1-A1BA-0E4E-8E89-BB4E5F340664}"/>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a:extLst>
                <a:ext uri="{FF2B5EF4-FFF2-40B4-BE49-F238E27FC236}">
                  <a16:creationId xmlns:a16="http://schemas.microsoft.com/office/drawing/2014/main" id="{809B51FD-2ED5-BC4E-B2F3-2008069DDE46}"/>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a:extLst>
                <a:ext uri="{FF2B5EF4-FFF2-40B4-BE49-F238E27FC236}">
                  <a16:creationId xmlns:a16="http://schemas.microsoft.com/office/drawing/2014/main" id="{6A84B375-DC03-B642-9B1F-09A720046E5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a:extLst>
                <a:ext uri="{FF2B5EF4-FFF2-40B4-BE49-F238E27FC236}">
                  <a16:creationId xmlns:a16="http://schemas.microsoft.com/office/drawing/2014/main" id="{7D23448C-7F6F-DE48-AC3F-39BBE47F8B2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a:extLst>
                <a:ext uri="{FF2B5EF4-FFF2-40B4-BE49-F238E27FC236}">
                  <a16:creationId xmlns:a16="http://schemas.microsoft.com/office/drawing/2014/main" id="{10E8DE67-4EF3-CC43-BF30-665F02B2710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a:extLst>
                <a:ext uri="{FF2B5EF4-FFF2-40B4-BE49-F238E27FC236}">
                  <a16:creationId xmlns:a16="http://schemas.microsoft.com/office/drawing/2014/main" id="{0E842195-989D-0F4A-AEAD-8665C2E713F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a:extLst>
                <a:ext uri="{FF2B5EF4-FFF2-40B4-BE49-F238E27FC236}">
                  <a16:creationId xmlns:a16="http://schemas.microsoft.com/office/drawing/2014/main" id="{2CCE1E61-E678-A04A-9F48-AD28EE1592DD}"/>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a:extLst>
                <a:ext uri="{FF2B5EF4-FFF2-40B4-BE49-F238E27FC236}">
                  <a16:creationId xmlns:a16="http://schemas.microsoft.com/office/drawing/2014/main" id="{5A553C8E-044C-554F-8CA4-756B8A1F3521}"/>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a:extLst>
                <a:ext uri="{FF2B5EF4-FFF2-40B4-BE49-F238E27FC236}">
                  <a16:creationId xmlns:a16="http://schemas.microsoft.com/office/drawing/2014/main" id="{B864F7F5-8239-2843-8E2F-F5D0C9E76A02}"/>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a:extLst>
                <a:ext uri="{FF2B5EF4-FFF2-40B4-BE49-F238E27FC236}">
                  <a16:creationId xmlns:a16="http://schemas.microsoft.com/office/drawing/2014/main" id="{2B6C79DB-0F26-A549-AD80-3197BB3F2B4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029946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9EEFE-9034-4167-B789-35176624F77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9AD48E-B466-459D-AD50-CA9D3502129E}"/>
              </a:ext>
            </a:extLst>
          </p:cNvPr>
          <p:cNvSpPr>
            <a:spLocks noGrp="1"/>
          </p:cNvSpPr>
          <p:nvPr>
            <p:ph type="dt" sz="half" idx="10"/>
          </p:nvPr>
        </p:nvSpPr>
        <p:spPr/>
        <p:txBody>
          <a:bodyPr/>
          <a:lstStyle/>
          <a:p>
            <a:fld id="{7021A7F0-2857-4BB0-ABE7-FD9D4410572D}" type="datetimeFigureOut">
              <a:rPr lang="zh-CN" altLang="en-US" smtClean="0"/>
              <a:t>2021/4/15</a:t>
            </a:fld>
            <a:endParaRPr lang="zh-CN" altLang="en-US"/>
          </a:p>
        </p:txBody>
      </p:sp>
      <p:sp>
        <p:nvSpPr>
          <p:cNvPr id="4" name="页脚占位符 3">
            <a:extLst>
              <a:ext uri="{FF2B5EF4-FFF2-40B4-BE49-F238E27FC236}">
                <a16:creationId xmlns:a16="http://schemas.microsoft.com/office/drawing/2014/main" id="{F43F4001-94F9-4CC7-B8B8-931FC160C10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28E8CE3-181A-4320-8BC2-69DAD7DE5F5A}"/>
              </a:ext>
            </a:extLst>
          </p:cNvPr>
          <p:cNvSpPr>
            <a:spLocks noGrp="1"/>
          </p:cNvSpPr>
          <p:nvPr>
            <p:ph type="sldNum" sz="quarter" idx="12"/>
          </p:nvPr>
        </p:nvSpPr>
        <p:spPr/>
        <p:txBody>
          <a:bodyPr/>
          <a:lstStyle/>
          <a:p>
            <a:fld id="{FC560244-FBFA-42FA-A5DC-C392AF1883C8}" type="slidenum">
              <a:rPr lang="zh-CN" altLang="en-US" smtClean="0"/>
              <a:t>‹#›</a:t>
            </a:fld>
            <a:endParaRPr lang="zh-CN" altLang="en-US"/>
          </a:p>
        </p:txBody>
      </p:sp>
    </p:spTree>
    <p:extLst>
      <p:ext uri="{BB962C8B-B14F-4D97-AF65-F5344CB8AC3E}">
        <p14:creationId xmlns:p14="http://schemas.microsoft.com/office/powerpoint/2010/main" val="8662297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E00C8306-BE8F-E24C-B25D-A6E484FA7A8C}" type="datetime1">
              <a:rPr kumimoji="1" lang="zh-CN" altLang="en-US" smtClean="0"/>
              <a:t>2021/4/15</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8610600" y="6356350"/>
            <a:ext cx="331967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第三章 数据据链路层基础</a:t>
            </a:r>
          </a:p>
        </p:txBody>
      </p:sp>
      <p:sp>
        <p:nvSpPr>
          <p:cNvPr id="3"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727942"/>
            <a:ext cx="9144000" cy="1657977"/>
          </a:xfrm>
        </p:spPr>
        <p:txBody>
          <a:bodyPr>
            <a:normAutofit/>
          </a:bodyPr>
          <a:lstStyle/>
          <a:p>
            <a:pPr>
              <a:lnSpc>
                <a:spcPct val="150000"/>
              </a:lnSpc>
            </a:pPr>
            <a:r>
              <a:rPr kumimoji="1" lang="zh-CN" altLang="en-US" sz="3200" dirty="0"/>
              <a:t>授课教师：王津</a:t>
            </a:r>
            <a:endParaRPr kumimoji="1" lang="en-US" altLang="zh-CN" sz="3200" dirty="0"/>
          </a:p>
          <a:p>
            <a:pPr>
              <a:lnSpc>
                <a:spcPct val="150000"/>
              </a:lnSpc>
            </a:pPr>
            <a:r>
              <a:rPr kumimoji="1" lang="zh-CN" altLang="en-US" sz="3200" dirty="0"/>
              <a:t>云南大学</a:t>
            </a:r>
            <a:endParaRPr kumimoji="1" lang="en-US" altLang="zh-CN" sz="3200" dirty="0"/>
          </a:p>
        </p:txBody>
      </p:sp>
    </p:spTree>
    <p:extLst>
      <p:ext uri="{BB962C8B-B14F-4D97-AF65-F5344CB8AC3E}">
        <p14:creationId xmlns:p14="http://schemas.microsoft.com/office/powerpoint/2010/main" val="736057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本章目标</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a:lnSpc>
                <a:spcPct val="130000"/>
              </a:lnSpc>
            </a:pPr>
            <a:r>
              <a:rPr kumimoji="1" lang="zh-CN" altLang="en-US" sz="2600" dirty="0"/>
              <a:t>了解数据链路层在网络体系结构中的位置及基本功能和服务</a:t>
            </a:r>
          </a:p>
          <a:p>
            <a:pPr>
              <a:lnSpc>
                <a:spcPct val="130000"/>
              </a:lnSpc>
            </a:pPr>
            <a:r>
              <a:rPr kumimoji="1" lang="zh-CN" altLang="en-US" sz="2600" dirty="0">
                <a:solidFill>
                  <a:srgbClr val="C00000"/>
                </a:solidFill>
              </a:rPr>
              <a:t>掌握差错检测和纠正的基本原理和典型的编码方法（核心内容）</a:t>
            </a:r>
          </a:p>
          <a:p>
            <a:pPr>
              <a:lnSpc>
                <a:spcPct val="130000"/>
              </a:lnSpc>
            </a:pPr>
            <a:r>
              <a:rPr kumimoji="1" lang="zh-CN" altLang="en-US" sz="2600" dirty="0">
                <a:solidFill>
                  <a:srgbClr val="C00000"/>
                </a:solidFill>
              </a:rPr>
              <a:t>掌握无错信道和有错信道上停等协议的设计和实现方法（核心内容）</a:t>
            </a:r>
          </a:p>
          <a:p>
            <a:pPr>
              <a:lnSpc>
                <a:spcPct val="130000"/>
              </a:lnSpc>
            </a:pPr>
            <a:r>
              <a:rPr lang="zh-CN" altLang="en-US" sz="2600" dirty="0"/>
              <a:t>理解</a:t>
            </a:r>
            <a:r>
              <a:rPr lang="zh-CN" altLang="zh-CN" sz="2600" dirty="0"/>
              <a:t>停等协议的性能问题及滑动窗口协议</a:t>
            </a:r>
            <a:r>
              <a:rPr lang="zh-CN" altLang="en-US" sz="2600" dirty="0"/>
              <a:t>的</a:t>
            </a:r>
            <a:r>
              <a:rPr lang="zh-CN" altLang="zh-CN" sz="2600" dirty="0"/>
              <a:t>基本思想</a:t>
            </a:r>
            <a:endParaRPr lang="en-US" altLang="zh-CN" sz="2600" dirty="0"/>
          </a:p>
          <a:p>
            <a:pPr>
              <a:lnSpc>
                <a:spcPct val="130000"/>
              </a:lnSpc>
            </a:pPr>
            <a:r>
              <a:rPr kumimoji="1" lang="zh-CN" altLang="en-US" sz="2600" dirty="0">
                <a:solidFill>
                  <a:srgbClr val="C00000"/>
                </a:solidFill>
              </a:rPr>
              <a:t>掌握</a:t>
            </a:r>
            <a:r>
              <a:rPr kumimoji="1" lang="zh-CN" altLang="zh-CN" sz="2600" dirty="0">
                <a:solidFill>
                  <a:srgbClr val="C00000"/>
                </a:solidFill>
              </a:rPr>
              <a:t>回退</a:t>
            </a:r>
            <a:r>
              <a:rPr kumimoji="1" lang="en-US" altLang="zh-CN" sz="2600" dirty="0">
                <a:solidFill>
                  <a:srgbClr val="C00000"/>
                </a:solidFill>
              </a:rPr>
              <a:t>N</a:t>
            </a:r>
            <a:r>
              <a:rPr kumimoji="1" lang="zh-CN" altLang="en-US" sz="2600" dirty="0">
                <a:solidFill>
                  <a:srgbClr val="C00000"/>
                </a:solidFill>
              </a:rPr>
              <a:t>和选择重传两种典型滑动窗口协议的工作机制（核心内容）</a:t>
            </a:r>
          </a:p>
          <a:p>
            <a:pPr>
              <a:lnSpc>
                <a:spcPct val="130000"/>
              </a:lnSpc>
            </a:pPr>
            <a:r>
              <a:rPr lang="zh-CN" altLang="en-US" sz="2600" dirty="0"/>
              <a:t>了解</a:t>
            </a:r>
            <a:r>
              <a:rPr lang="zh-CN" altLang="zh-CN" sz="2600" dirty="0"/>
              <a:t>点到点链路层协议</a:t>
            </a:r>
            <a:r>
              <a:rPr lang="en-US" altLang="zh-CN" sz="2600" dirty="0"/>
              <a:t>PPP</a:t>
            </a:r>
            <a:r>
              <a:rPr lang="zh-CN" altLang="en-US" sz="2600" dirty="0"/>
              <a:t>与</a:t>
            </a:r>
            <a:r>
              <a:rPr lang="en-US" altLang="zh-CN" sz="2600" dirty="0" err="1"/>
              <a:t>PPPoE</a:t>
            </a:r>
            <a:endParaRPr lang="en-US" altLang="zh-CN" sz="2600" dirty="0"/>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3141699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solidFill>
                  <a:srgbClr val="C00000"/>
                </a:solidFill>
              </a:rPr>
              <a:t>3.1 </a:t>
            </a:r>
            <a:r>
              <a:rPr kumimoji="1" lang="zh-CN" altLang="zh-CN" dirty="0">
                <a:solidFill>
                  <a:srgbClr val="C00000"/>
                </a:solidFill>
              </a:rPr>
              <a:t>数据链路层的设计问题</a:t>
            </a:r>
            <a:endParaRPr kumimoji="1" lang="en-US" altLang="zh-CN" dirty="0">
              <a:solidFill>
                <a:srgbClr val="C00000"/>
              </a:solidFill>
            </a:endParaRPr>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kumimoji="1" lang="zh-CN" altLang="en-US" dirty="0"/>
          </a:p>
          <a:p>
            <a:pPr marL="0" indent="0">
              <a:lnSpc>
                <a:spcPct val="130000"/>
              </a:lnSpc>
              <a:buNone/>
            </a:pPr>
            <a:r>
              <a:rPr kumimoji="1" lang="en-US" altLang="zh-CN" dirty="0"/>
              <a:t>3.5 </a:t>
            </a:r>
            <a:r>
              <a:rPr kumimoji="1" lang="zh-CN" altLang="zh-CN" dirty="0"/>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6096000" y="1510758"/>
            <a:ext cx="4768770" cy="3317541"/>
          </a:xfrm>
          <a:prstGeom prst="wedgeRectCallout">
            <a:avLst>
              <a:gd name="adj1" fmla="val -70353"/>
              <a:gd name="adj2" fmla="val -3934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数据链路层在协议栈中的位置</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数据链路层的功能</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数据链路层提供的服务</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成帧</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差错控制</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流量控制</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6313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C6EA34-7531-4A69-9C6E-7BC12B632FB9}"/>
              </a:ext>
            </a:extLst>
          </p:cNvPr>
          <p:cNvSpPr>
            <a:spLocks noGrp="1"/>
          </p:cNvSpPr>
          <p:nvPr>
            <p:ph type="title"/>
          </p:nvPr>
        </p:nvSpPr>
        <p:spPr/>
        <p:txBody>
          <a:bodyPr>
            <a:normAutofit/>
          </a:bodyPr>
          <a:lstStyle/>
          <a:p>
            <a:r>
              <a:rPr lang="zh-CN" altLang="en-US" dirty="0"/>
              <a:t>数据链路层在协议栈中的位置</a:t>
            </a:r>
          </a:p>
        </p:txBody>
      </p:sp>
      <p:sp>
        <p:nvSpPr>
          <p:cNvPr id="4" name="灯片编号占位符 3">
            <a:extLst>
              <a:ext uri="{FF2B5EF4-FFF2-40B4-BE49-F238E27FC236}">
                <a16:creationId xmlns:a16="http://schemas.microsoft.com/office/drawing/2014/main" id="{ABEF5E08-B5D5-4163-94DD-389AB17A6E00}"/>
              </a:ext>
            </a:extLst>
          </p:cNvPr>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
        <p:nvSpPr>
          <p:cNvPr id="5" name="文本框 4">
            <a:extLst>
              <a:ext uri="{FF2B5EF4-FFF2-40B4-BE49-F238E27FC236}">
                <a16:creationId xmlns:a16="http://schemas.microsoft.com/office/drawing/2014/main" id="{D85AE27D-2B45-4927-BA6B-739CFD3E5204}"/>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2997335" y="3017185"/>
            <a:ext cx="3849451" cy="3263718"/>
            <a:chOff x="4332600" y="2496402"/>
            <a:chExt cx="3454707" cy="3263718"/>
          </a:xfrm>
          <a:solidFill>
            <a:schemeClr val="accent5">
              <a:lumMod val="20000"/>
              <a:lumOff val="80000"/>
            </a:schemeClr>
          </a:solidFill>
        </p:grpSpPr>
        <p:sp>
          <p:nvSpPr>
            <p:cNvPr id="8" name="Rectangle 6"/>
            <p:cNvSpPr>
              <a:spLocks noChangeArrowheads="1"/>
            </p:cNvSpPr>
            <p:nvPr/>
          </p:nvSpPr>
          <p:spPr bwMode="auto">
            <a:xfrm>
              <a:off x="4332600" y="2496402"/>
              <a:ext cx="3454707" cy="431800"/>
            </a:xfrm>
            <a:prstGeom prst="rect">
              <a:avLst/>
            </a:prstGeom>
            <a:grpFill/>
            <a:ln w="19050">
              <a:solidFill>
                <a:schemeClr val="accent5">
                  <a:lumMod val="20000"/>
                  <a:lumOff val="80000"/>
                </a:schemeClr>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563"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应用层（</a:t>
              </a: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AL)</a:t>
              </a:r>
              <a:endPar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Rectangle 7"/>
            <p:cNvSpPr>
              <a:spLocks noChangeArrowheads="1"/>
            </p:cNvSpPr>
            <p:nvPr/>
          </p:nvSpPr>
          <p:spPr bwMode="auto">
            <a:xfrm>
              <a:off x="4332600" y="2928202"/>
              <a:ext cx="3454707" cy="431800"/>
            </a:xfrm>
            <a:prstGeom prst="rect">
              <a:avLst/>
            </a:prstGeom>
            <a:grpFill/>
            <a:ln w="19050">
              <a:solidFill>
                <a:schemeClr val="accent5">
                  <a:lumMod val="20000"/>
                  <a:lumOff val="80000"/>
                </a:schemeClr>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563"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传输层（</a:t>
              </a: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TL)</a:t>
              </a:r>
              <a:endPar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 name="Rectangle 8"/>
            <p:cNvSpPr>
              <a:spLocks noChangeArrowheads="1"/>
            </p:cNvSpPr>
            <p:nvPr/>
          </p:nvSpPr>
          <p:spPr bwMode="auto">
            <a:xfrm>
              <a:off x="4332600" y="3360002"/>
              <a:ext cx="3454707" cy="431800"/>
            </a:xfrm>
            <a:prstGeom prst="rect">
              <a:avLst/>
            </a:prstGeom>
            <a:grpFill/>
            <a:ln w="19050">
              <a:solidFill>
                <a:schemeClr val="accent5">
                  <a:lumMod val="20000"/>
                  <a:lumOff val="80000"/>
                </a:schemeClr>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563"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网络层（</a:t>
              </a: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NL</a:t>
              </a: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13" name="Rectangle 11"/>
            <p:cNvSpPr>
              <a:spLocks noChangeArrowheads="1"/>
            </p:cNvSpPr>
            <p:nvPr/>
          </p:nvSpPr>
          <p:spPr bwMode="auto">
            <a:xfrm>
              <a:off x="4332600" y="4656990"/>
              <a:ext cx="3454707" cy="431800"/>
            </a:xfrm>
            <a:prstGeom prst="rect">
              <a:avLst/>
            </a:prstGeom>
            <a:grpFill/>
            <a:ln w="19050">
              <a:solidFill>
                <a:schemeClr val="accent5">
                  <a:lumMod val="20000"/>
                  <a:lumOff val="80000"/>
                </a:schemeClr>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563" algn="ctr"/>
              <a:r>
                <a:rPr lang="zh-CN" altLang="en-US" sz="2000" kern="0" dirty="0">
                  <a:solidFill>
                    <a:prstClr val="black"/>
                  </a:solidFill>
                  <a:latin typeface="微软雅黑" panose="020B0503020204020204" pitchFamily="34" charset="-122"/>
                  <a:ea typeface="微软雅黑" panose="020B0503020204020204" pitchFamily="34" charset="-122"/>
                </a:rPr>
                <a:t>物理层（</a:t>
              </a:r>
              <a:r>
                <a:rPr lang="en-US" altLang="zh-CN" sz="2000" kern="0" dirty="0">
                  <a:solidFill>
                    <a:prstClr val="black"/>
                  </a:solidFill>
                  <a:latin typeface="微软雅黑" panose="020B0503020204020204" pitchFamily="34" charset="-122"/>
                  <a:ea typeface="微软雅黑" panose="020B0503020204020204" pitchFamily="34" charset="-122"/>
                </a:rPr>
                <a:t>PHL</a:t>
              </a:r>
              <a:r>
                <a:rPr lang="zh-CN" altLang="en-US" sz="2000" kern="0" dirty="0">
                  <a:solidFill>
                    <a:prstClr val="black"/>
                  </a:solidFill>
                  <a:latin typeface="微软雅黑" panose="020B0503020204020204" pitchFamily="34" charset="-122"/>
                  <a:ea typeface="微软雅黑" panose="020B0503020204020204" pitchFamily="34" charset="-122"/>
                </a:rPr>
                <a:t>）</a:t>
              </a:r>
            </a:p>
          </p:txBody>
        </p:sp>
        <p:sp>
          <p:nvSpPr>
            <p:cNvPr id="14" name="矩形 13"/>
            <p:cNvSpPr/>
            <p:nvPr/>
          </p:nvSpPr>
          <p:spPr>
            <a:xfrm>
              <a:off x="4741682" y="5360010"/>
              <a:ext cx="2611225"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参考协议栈</a:t>
              </a:r>
            </a:p>
          </p:txBody>
        </p:sp>
      </p:grpSp>
      <p:sp>
        <p:nvSpPr>
          <p:cNvPr id="16" name="Rectangle 9"/>
          <p:cNvSpPr>
            <a:spLocks noChangeArrowheads="1"/>
          </p:cNvSpPr>
          <p:nvPr/>
        </p:nvSpPr>
        <p:spPr bwMode="auto">
          <a:xfrm>
            <a:off x="6846786" y="4313378"/>
            <a:ext cx="2794580" cy="444376"/>
          </a:xfrm>
          <a:prstGeom prst="rect">
            <a:avLst/>
          </a:prstGeom>
          <a:solidFill>
            <a:schemeClr val="accent2">
              <a:lumMod val="40000"/>
              <a:lumOff val="60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182563" algn="ctr">
              <a:defRPr/>
            </a:pPr>
            <a:r>
              <a:rPr lang="zh-CN" altLang="en-US" sz="2000" kern="0" dirty="0">
                <a:solidFill>
                  <a:prstClr val="black"/>
                </a:solidFill>
                <a:latin typeface="微软雅黑" panose="020B0503020204020204" pitchFamily="34" charset="-122"/>
                <a:ea typeface="微软雅黑" panose="020B0503020204020204" pitchFamily="34" charset="-122"/>
              </a:rPr>
              <a:t>逻辑链路控制 </a:t>
            </a:r>
            <a:r>
              <a:rPr lang="en-US" altLang="zh-CN" sz="2000" kern="0" dirty="0">
                <a:solidFill>
                  <a:prstClr val="black"/>
                </a:solidFill>
                <a:latin typeface="微软雅黑" panose="020B0503020204020204" pitchFamily="34" charset="-122"/>
                <a:ea typeface="微软雅黑" panose="020B0503020204020204" pitchFamily="34" charset="-122"/>
              </a:rPr>
              <a:t>(LLC)</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17" name="Rectangle 10"/>
          <p:cNvSpPr>
            <a:spLocks noChangeArrowheads="1"/>
          </p:cNvSpPr>
          <p:nvPr/>
        </p:nvSpPr>
        <p:spPr bwMode="auto">
          <a:xfrm>
            <a:off x="6846787" y="4745178"/>
            <a:ext cx="2794580" cy="445169"/>
          </a:xfrm>
          <a:prstGeom prst="rect">
            <a:avLst/>
          </a:prstGeom>
          <a:solidFill>
            <a:schemeClr val="accent2">
              <a:lumMod val="40000"/>
              <a:lumOff val="60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182563" algn="ctr"/>
            <a:r>
              <a:rPr lang="zh-CN" altLang="en-US" sz="2000" kern="0" dirty="0">
                <a:solidFill>
                  <a:prstClr val="black"/>
                </a:solidFill>
                <a:latin typeface="微软雅黑" panose="020B0503020204020204" pitchFamily="34" charset="-122"/>
                <a:ea typeface="微软雅黑" panose="020B0503020204020204" pitchFamily="34" charset="-122"/>
              </a:rPr>
              <a:t>介质访问控制 </a:t>
            </a:r>
            <a:r>
              <a:rPr lang="en-US" altLang="zh-CN" sz="2000" kern="0" dirty="0">
                <a:solidFill>
                  <a:prstClr val="black"/>
                </a:solidFill>
                <a:latin typeface="微软雅黑" panose="020B0503020204020204" pitchFamily="34" charset="-122"/>
                <a:ea typeface="微软雅黑" panose="020B0503020204020204" pitchFamily="34" charset="-122"/>
              </a:rPr>
              <a:t>(MAC)</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19" name="Rectangle 8"/>
          <p:cNvSpPr>
            <a:spLocks noChangeArrowheads="1"/>
          </p:cNvSpPr>
          <p:nvPr/>
        </p:nvSpPr>
        <p:spPr bwMode="auto">
          <a:xfrm>
            <a:off x="2997335" y="4313378"/>
            <a:ext cx="3849451" cy="864395"/>
          </a:xfrm>
          <a:prstGeom prst="rect">
            <a:avLst/>
          </a:prstGeom>
          <a:solidFill>
            <a:schemeClr val="accent2">
              <a:lumMod val="40000"/>
              <a:lumOff val="60000"/>
            </a:schemeClr>
          </a:solidFill>
          <a:ln w="19050">
            <a:solidFill>
              <a:schemeClr val="accent5">
                <a:lumMod val="20000"/>
                <a:lumOff val="80000"/>
              </a:schemeClr>
            </a:solidFill>
            <a:miter lim="800000"/>
            <a:headEnd/>
            <a:tailEnd/>
          </a:ln>
          <a:effectLst/>
          <a:scene3d>
            <a:camera prst="orthographicFront"/>
            <a:lightRig rig="threePt" dir="t"/>
          </a:scene3d>
          <a:sp3d>
            <a:bevelT/>
          </a:sp3d>
          <a:extLst/>
        </p:spPr>
        <p:txBody>
          <a:bodyPr wrap="none" lIns="0" tIns="0" rIns="0" bIns="0" anchor="ctr"/>
          <a:lstStyle/>
          <a:p>
            <a:pPr marL="182563" algn="ctr"/>
            <a:r>
              <a:rPr lang="zh-CN" altLang="en-US" sz="2000" kern="0" dirty="0">
                <a:solidFill>
                  <a:prstClr val="black"/>
                </a:solidFill>
                <a:latin typeface="微软雅黑" panose="020B0503020204020204" pitchFamily="34" charset="-122"/>
                <a:ea typeface="微软雅黑" panose="020B0503020204020204" pitchFamily="34" charset="-122"/>
              </a:rPr>
              <a:t>数据链路层（</a:t>
            </a:r>
            <a:r>
              <a:rPr lang="en-US" altLang="zh-CN" sz="2000" kern="0" dirty="0">
                <a:solidFill>
                  <a:prstClr val="black"/>
                </a:solidFill>
                <a:latin typeface="微软雅黑" panose="020B0503020204020204" pitchFamily="34" charset="-122"/>
                <a:ea typeface="微软雅黑" panose="020B0503020204020204" pitchFamily="34" charset="-122"/>
              </a:rPr>
              <a:t>DLL</a:t>
            </a:r>
            <a:r>
              <a:rPr lang="zh-CN" altLang="en-US" sz="2000" kern="0" dirty="0">
                <a:solidFill>
                  <a:prstClr val="black"/>
                </a:solidFill>
                <a:latin typeface="微软雅黑" panose="020B0503020204020204" pitchFamily="34" charset="-122"/>
                <a:ea typeface="微软雅黑" panose="020B0503020204020204" pitchFamily="34" charset="-122"/>
              </a:rPr>
              <a:t>）</a:t>
            </a:r>
          </a:p>
        </p:txBody>
      </p:sp>
      <p:sp>
        <p:nvSpPr>
          <p:cNvPr id="22" name="椭圆形标注 21"/>
          <p:cNvSpPr/>
          <p:nvPr/>
        </p:nvSpPr>
        <p:spPr>
          <a:xfrm>
            <a:off x="7525042" y="2926026"/>
            <a:ext cx="1987626" cy="950825"/>
          </a:xfrm>
          <a:prstGeom prst="wedgeEllipseCallout">
            <a:avLst>
              <a:gd name="adj1" fmla="val -39044"/>
              <a:gd name="adj2" fmla="val 109510"/>
            </a:avLst>
          </a:prstGeom>
          <a:solidFill>
            <a:schemeClr val="accent5">
              <a:lumMod val="20000"/>
              <a:lumOff val="80000"/>
            </a:schemeClr>
          </a:solidFill>
          <a:ln w="19050">
            <a:solidFill>
              <a:schemeClr val="accent5">
                <a:lumMod val="20000"/>
                <a:lumOff val="80000"/>
              </a:schemeClr>
            </a:solidFill>
            <a:miter lim="800000"/>
            <a:headEnd/>
            <a:tailEnd/>
          </a:ln>
          <a:effectLst/>
          <a:scene3d>
            <a:camera prst="orthographicFront"/>
            <a:lightRig rig="threePt" dir="t"/>
          </a:scene3d>
          <a:sp3d>
            <a:bevelT/>
          </a:sp3d>
          <a:extLst/>
        </p:spPr>
        <p:txBody>
          <a:bodyPr wrap="none" lIns="0" tIns="0" rIns="0" bIns="0" anchor="ctr"/>
          <a:lstStyle/>
          <a:p>
            <a:pPr marR="0" lvl="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局域网的</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R="0" lvl="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数据链路层</a:t>
            </a:r>
          </a:p>
        </p:txBody>
      </p:sp>
      <p:sp>
        <p:nvSpPr>
          <p:cNvPr id="24" name="内容占位符 2">
            <a:extLst>
              <a:ext uri="{FF2B5EF4-FFF2-40B4-BE49-F238E27FC236}">
                <a16:creationId xmlns:a16="http://schemas.microsoft.com/office/drawing/2014/main" id="{BFCD87D3-E36B-467C-9F20-43EA3F5B383E}"/>
              </a:ext>
            </a:extLst>
          </p:cNvPr>
          <p:cNvSpPr>
            <a:spLocks noGrp="1"/>
          </p:cNvSpPr>
          <p:nvPr>
            <p:ph idx="1"/>
          </p:nvPr>
        </p:nvSpPr>
        <p:spPr>
          <a:xfrm>
            <a:off x="838200" y="1510758"/>
            <a:ext cx="10515600" cy="1190878"/>
          </a:xfrm>
        </p:spPr>
        <p:txBody>
          <a:bodyPr>
            <a:normAutofit/>
          </a:bodyPr>
          <a:lstStyle/>
          <a:p>
            <a:pPr>
              <a:lnSpc>
                <a:spcPts val="3800"/>
              </a:lnSpc>
            </a:pPr>
            <a:r>
              <a:rPr lang="zh-CN" altLang="en-US" dirty="0"/>
              <a:t>向下：利用物理层提供的位流服务</a:t>
            </a:r>
            <a:endParaRPr lang="en-US" altLang="zh-CN" dirty="0"/>
          </a:p>
          <a:p>
            <a:pPr>
              <a:lnSpc>
                <a:spcPts val="3800"/>
              </a:lnSpc>
            </a:pPr>
            <a:r>
              <a:rPr lang="zh-CN" altLang="en-US" dirty="0"/>
              <a:t>向上：向网络层提供</a:t>
            </a:r>
            <a:r>
              <a:rPr lang="zh-CN" altLang="en-US" dirty="0">
                <a:solidFill>
                  <a:srgbClr val="7030A0"/>
                </a:solidFill>
              </a:rPr>
              <a:t>明确的 </a:t>
            </a:r>
            <a:r>
              <a:rPr lang="en-US" altLang="zh-CN" dirty="0"/>
              <a:t>(well-defined) </a:t>
            </a:r>
            <a:r>
              <a:rPr lang="zh-CN" altLang="en-US" dirty="0">
                <a:solidFill>
                  <a:srgbClr val="7030A0"/>
                </a:solidFill>
              </a:rPr>
              <a:t>服务接口</a:t>
            </a:r>
            <a:endParaRPr lang="en-US" altLang="zh-CN" dirty="0">
              <a:solidFill>
                <a:srgbClr val="7030A0"/>
              </a:solidFill>
            </a:endParaRPr>
          </a:p>
          <a:p>
            <a:pPr marL="0" indent="0">
              <a:lnSpc>
                <a:spcPts val="3800"/>
              </a:lnSpc>
              <a:buNone/>
            </a:pPr>
            <a:endParaRPr lang="en-US" altLang="zh-CN" dirty="0"/>
          </a:p>
        </p:txBody>
      </p:sp>
    </p:spTree>
    <p:extLst>
      <p:ext uri="{BB962C8B-B14F-4D97-AF65-F5344CB8AC3E}">
        <p14:creationId xmlns:p14="http://schemas.microsoft.com/office/powerpoint/2010/main" val="3207542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C6EA34-7531-4A69-9C6E-7BC12B632FB9}"/>
              </a:ext>
            </a:extLst>
          </p:cNvPr>
          <p:cNvSpPr>
            <a:spLocks noGrp="1"/>
          </p:cNvSpPr>
          <p:nvPr>
            <p:ph type="title"/>
          </p:nvPr>
        </p:nvSpPr>
        <p:spPr/>
        <p:txBody>
          <a:bodyPr/>
          <a:lstStyle/>
          <a:p>
            <a:r>
              <a:rPr lang="zh-CN" altLang="en-US" dirty="0"/>
              <a:t>数据链路层的功能</a:t>
            </a:r>
          </a:p>
        </p:txBody>
      </p:sp>
      <p:sp>
        <p:nvSpPr>
          <p:cNvPr id="3" name="内容占位符 2">
            <a:extLst>
              <a:ext uri="{FF2B5EF4-FFF2-40B4-BE49-F238E27FC236}">
                <a16:creationId xmlns:a16="http://schemas.microsoft.com/office/drawing/2014/main" id="{BFCD87D3-E36B-467C-9F20-43EA3F5B383E}"/>
              </a:ext>
            </a:extLst>
          </p:cNvPr>
          <p:cNvSpPr>
            <a:spLocks noGrp="1"/>
          </p:cNvSpPr>
          <p:nvPr>
            <p:ph idx="1"/>
          </p:nvPr>
        </p:nvSpPr>
        <p:spPr>
          <a:xfrm>
            <a:off x="838200" y="1510757"/>
            <a:ext cx="10515600" cy="4585243"/>
          </a:xfrm>
        </p:spPr>
        <p:txBody>
          <a:bodyPr>
            <a:normAutofit/>
          </a:bodyPr>
          <a:lstStyle/>
          <a:p>
            <a:pPr>
              <a:lnSpc>
                <a:spcPts val="3800"/>
              </a:lnSpc>
            </a:pPr>
            <a:r>
              <a:rPr lang="zh-CN" altLang="en-US" dirty="0"/>
              <a:t>成帧 （</a:t>
            </a:r>
            <a:r>
              <a:rPr lang="en-US" altLang="zh-CN" dirty="0"/>
              <a:t>Framing</a:t>
            </a:r>
            <a:r>
              <a:rPr lang="zh-CN" altLang="en-US" dirty="0"/>
              <a:t>）</a:t>
            </a:r>
            <a:endParaRPr lang="en-US" altLang="zh-CN" dirty="0"/>
          </a:p>
          <a:p>
            <a:pPr lvl="1">
              <a:lnSpc>
                <a:spcPts val="3800"/>
              </a:lnSpc>
            </a:pPr>
            <a:r>
              <a:rPr lang="zh-CN" altLang="en-US" dirty="0"/>
              <a:t>将比特流划分成</a:t>
            </a:r>
            <a:r>
              <a:rPr lang="zh-CN" altLang="en-US" dirty="0">
                <a:solidFill>
                  <a:srgbClr val="C00000"/>
                </a:solidFill>
              </a:rPr>
              <a:t>“帧”</a:t>
            </a:r>
            <a:r>
              <a:rPr lang="zh-CN" altLang="en-US" dirty="0"/>
              <a:t>的主要目的是为了检测和纠正物理层在比特传输中可能出现的错误，数据链路层功能需借助</a:t>
            </a:r>
            <a:r>
              <a:rPr lang="zh-CN" altLang="en-US" dirty="0">
                <a:solidFill>
                  <a:srgbClr val="C00000"/>
                </a:solidFill>
              </a:rPr>
              <a:t>“帧”</a:t>
            </a:r>
            <a:r>
              <a:rPr lang="zh-CN" altLang="en-US" dirty="0"/>
              <a:t>的各个域来实现</a:t>
            </a:r>
            <a:endParaRPr lang="en-US" altLang="zh-CN" dirty="0"/>
          </a:p>
          <a:p>
            <a:pPr>
              <a:lnSpc>
                <a:spcPts val="3800"/>
              </a:lnSpc>
            </a:pPr>
            <a:r>
              <a:rPr lang="zh-CN" altLang="en-US" dirty="0"/>
              <a:t>差错控制 （</a:t>
            </a:r>
            <a:r>
              <a:rPr lang="en-US" altLang="zh-CN" dirty="0"/>
              <a:t>Error Control</a:t>
            </a:r>
            <a:r>
              <a:rPr lang="zh-CN" altLang="en-US" dirty="0"/>
              <a:t>）</a:t>
            </a:r>
            <a:endParaRPr lang="en-US" altLang="zh-CN" dirty="0"/>
          </a:p>
          <a:p>
            <a:pPr lvl="1">
              <a:lnSpc>
                <a:spcPts val="3800"/>
              </a:lnSpc>
            </a:pPr>
            <a:r>
              <a:rPr lang="zh-CN" altLang="en-US" dirty="0"/>
              <a:t>处理传输中出现的</a:t>
            </a:r>
            <a:r>
              <a:rPr lang="zh-CN" altLang="en-US" dirty="0">
                <a:solidFill>
                  <a:srgbClr val="7030A0"/>
                </a:solidFill>
              </a:rPr>
              <a:t>差错</a:t>
            </a:r>
            <a:r>
              <a:rPr lang="zh-CN" altLang="en-US" dirty="0"/>
              <a:t>，如位错误、丢失等</a:t>
            </a:r>
            <a:endParaRPr lang="en-US" altLang="zh-CN" dirty="0"/>
          </a:p>
          <a:p>
            <a:pPr>
              <a:lnSpc>
                <a:spcPts val="3800"/>
              </a:lnSpc>
            </a:pPr>
            <a:r>
              <a:rPr lang="zh-CN" altLang="en-US" dirty="0"/>
              <a:t>流量控制 （</a:t>
            </a:r>
            <a:r>
              <a:rPr lang="en-US" altLang="zh-CN" dirty="0"/>
              <a:t>Flow Control</a:t>
            </a:r>
            <a:r>
              <a:rPr lang="zh-CN" altLang="en-US" dirty="0"/>
              <a:t>）</a:t>
            </a:r>
            <a:endParaRPr lang="en-US" altLang="zh-CN" dirty="0"/>
          </a:p>
          <a:p>
            <a:pPr lvl="1">
              <a:lnSpc>
                <a:spcPts val="3800"/>
              </a:lnSpc>
            </a:pPr>
            <a:r>
              <a:rPr lang="zh-CN" altLang="en-US" dirty="0"/>
              <a:t>确保发送方的</a:t>
            </a:r>
            <a:r>
              <a:rPr lang="zh-CN" altLang="en-US" dirty="0">
                <a:solidFill>
                  <a:srgbClr val="7030A0"/>
                </a:solidFill>
              </a:rPr>
              <a:t>发送速率</a:t>
            </a:r>
            <a:r>
              <a:rPr lang="zh-CN" altLang="en-US" dirty="0"/>
              <a:t>，不大于接收方的处理速率</a:t>
            </a:r>
            <a:endParaRPr lang="en-US" altLang="zh-CN" dirty="0"/>
          </a:p>
          <a:p>
            <a:pPr lvl="2" indent="-341313">
              <a:lnSpc>
                <a:spcPts val="3800"/>
              </a:lnSpc>
              <a:buFont typeface="Microsoft YaHei" panose="020B0503020204020204" pitchFamily="34" charset="-122"/>
              <a:buChar char="−"/>
            </a:pPr>
            <a:r>
              <a:rPr lang="zh-CN" altLang="en-US" dirty="0"/>
              <a:t>避免接收缓冲区溢出</a:t>
            </a:r>
          </a:p>
        </p:txBody>
      </p:sp>
      <p:sp>
        <p:nvSpPr>
          <p:cNvPr id="4" name="灯片编号占位符 3">
            <a:extLst>
              <a:ext uri="{FF2B5EF4-FFF2-40B4-BE49-F238E27FC236}">
                <a16:creationId xmlns:a16="http://schemas.microsoft.com/office/drawing/2014/main" id="{ABEF5E08-B5D5-4163-94DD-389AB17A6E00}"/>
              </a:ext>
            </a:extLst>
          </p:cNvPr>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sp>
        <p:nvSpPr>
          <p:cNvPr id="5" name="文本框 4">
            <a:extLst>
              <a:ext uri="{FF2B5EF4-FFF2-40B4-BE49-F238E27FC236}">
                <a16:creationId xmlns:a16="http://schemas.microsoft.com/office/drawing/2014/main" id="{D85AE27D-2B45-4927-BA6B-739CFD3E5204}"/>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2866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数据链路层提供的服务</a:t>
            </a:r>
          </a:p>
        </p:txBody>
      </p:sp>
      <p:sp>
        <p:nvSpPr>
          <p:cNvPr id="3" name="内容占位符 2"/>
          <p:cNvSpPr>
            <a:spLocks noGrp="1"/>
          </p:cNvSpPr>
          <p:nvPr>
            <p:ph idx="1"/>
          </p:nvPr>
        </p:nvSpPr>
        <p:spPr/>
        <p:txBody>
          <a:bodyPr>
            <a:normAutofit fontScale="92500" lnSpcReduction="10000"/>
          </a:bodyPr>
          <a:lstStyle/>
          <a:p>
            <a:r>
              <a:rPr lang="zh-CN" altLang="en-US" dirty="0">
                <a:solidFill>
                  <a:srgbClr val="5B307E"/>
                </a:solidFill>
              </a:rPr>
              <a:t>无确认 无连接 </a:t>
            </a:r>
            <a:r>
              <a:rPr lang="zh-CN" altLang="en-US" dirty="0"/>
              <a:t>服务（</a:t>
            </a:r>
            <a:r>
              <a:rPr lang="en-US" altLang="zh-CN" dirty="0">
                <a:solidFill>
                  <a:srgbClr val="00B0F0"/>
                </a:solidFill>
              </a:rPr>
              <a:t> </a:t>
            </a:r>
            <a:r>
              <a:rPr lang="en-US" altLang="zh-CN" dirty="0">
                <a:solidFill>
                  <a:srgbClr val="7030A0"/>
                </a:solidFill>
              </a:rPr>
              <a:t>Unack</a:t>
            </a:r>
            <a:r>
              <a:rPr lang="en-US" altLang="zh-CN" dirty="0"/>
              <a:t>nowledged connection</a:t>
            </a:r>
            <a:r>
              <a:rPr lang="en-US" altLang="zh-CN" dirty="0">
                <a:solidFill>
                  <a:srgbClr val="7030A0"/>
                </a:solidFill>
              </a:rPr>
              <a:t>less</a:t>
            </a:r>
            <a:r>
              <a:rPr lang="en-US" altLang="zh-CN" dirty="0"/>
              <a:t> </a:t>
            </a:r>
            <a:r>
              <a:rPr lang="zh-CN" altLang="en-US" dirty="0"/>
              <a:t>）</a:t>
            </a:r>
            <a:endParaRPr lang="en-US" altLang="zh-CN" dirty="0"/>
          </a:p>
          <a:p>
            <a:pPr lvl="1"/>
            <a:r>
              <a:rPr lang="zh-CN" altLang="en-US" dirty="0"/>
              <a:t>接收方不对收到的帧进行确认</a:t>
            </a:r>
            <a:endParaRPr lang="en-US" altLang="zh-CN" dirty="0"/>
          </a:p>
          <a:p>
            <a:pPr lvl="1"/>
            <a:r>
              <a:rPr lang="zh-CN" altLang="en-US" dirty="0"/>
              <a:t>适用场景：误码率低的可靠信道；实时通信；</a:t>
            </a:r>
            <a:endParaRPr lang="en-US" altLang="zh-CN" dirty="0"/>
          </a:p>
          <a:p>
            <a:pPr lvl="1"/>
            <a:r>
              <a:rPr lang="zh-CN" altLang="en-US" dirty="0"/>
              <a:t>网络实例：以太网</a:t>
            </a:r>
            <a:endParaRPr lang="en-US" altLang="zh-CN" dirty="0"/>
          </a:p>
          <a:p>
            <a:pPr>
              <a:spcBef>
                <a:spcPts val="2400"/>
              </a:spcBef>
            </a:pPr>
            <a:r>
              <a:rPr lang="zh-CN" altLang="en-US" dirty="0">
                <a:solidFill>
                  <a:srgbClr val="C00000"/>
                </a:solidFill>
              </a:rPr>
              <a:t>有确认 </a:t>
            </a:r>
            <a:r>
              <a:rPr lang="zh-CN" altLang="en-US" dirty="0">
                <a:solidFill>
                  <a:srgbClr val="7030A0"/>
                </a:solidFill>
              </a:rPr>
              <a:t>无连接 </a:t>
            </a:r>
            <a:r>
              <a:rPr lang="zh-CN" altLang="en-US" dirty="0"/>
              <a:t>服务（</a:t>
            </a:r>
            <a:r>
              <a:rPr lang="en-US" altLang="zh-CN" dirty="0">
                <a:solidFill>
                  <a:srgbClr val="00B0F0"/>
                </a:solidFill>
              </a:rPr>
              <a:t> </a:t>
            </a:r>
            <a:r>
              <a:rPr lang="en-US" altLang="zh-CN" dirty="0">
                <a:solidFill>
                  <a:srgbClr val="C00000"/>
                </a:solidFill>
              </a:rPr>
              <a:t>Ack</a:t>
            </a:r>
            <a:r>
              <a:rPr lang="en-US" altLang="zh-CN" dirty="0"/>
              <a:t>nowledged connection</a:t>
            </a:r>
            <a:r>
              <a:rPr lang="en-US" altLang="zh-CN" dirty="0">
                <a:solidFill>
                  <a:srgbClr val="7030A0"/>
                </a:solidFill>
              </a:rPr>
              <a:t>less</a:t>
            </a:r>
            <a:r>
              <a:rPr lang="en-US" altLang="zh-CN" dirty="0"/>
              <a:t> </a:t>
            </a:r>
            <a:r>
              <a:rPr lang="zh-CN" altLang="en-US" dirty="0"/>
              <a:t>）</a:t>
            </a:r>
            <a:endParaRPr lang="en-US" altLang="zh-CN" dirty="0"/>
          </a:p>
          <a:p>
            <a:pPr lvl="1"/>
            <a:r>
              <a:rPr lang="zh-CN" altLang="en-US" dirty="0"/>
              <a:t>每一帧都得到单独的确认</a:t>
            </a:r>
            <a:endParaRPr lang="en-US" altLang="zh-CN" dirty="0"/>
          </a:p>
          <a:p>
            <a:pPr lvl="1"/>
            <a:r>
              <a:rPr lang="zh-CN" altLang="en-US" dirty="0"/>
              <a:t>适用场景：不可靠的信道（无线信道）</a:t>
            </a:r>
            <a:endParaRPr lang="en-US" altLang="zh-CN" dirty="0"/>
          </a:p>
          <a:p>
            <a:pPr lvl="1"/>
            <a:r>
              <a:rPr lang="zh-CN" altLang="en-US" dirty="0"/>
              <a:t>网络实例：</a:t>
            </a:r>
            <a:r>
              <a:rPr lang="en-US" altLang="zh-CN" dirty="0"/>
              <a:t>802.11</a:t>
            </a:r>
          </a:p>
          <a:p>
            <a:pPr>
              <a:spcBef>
                <a:spcPts val="2400"/>
              </a:spcBef>
            </a:pPr>
            <a:r>
              <a:rPr lang="zh-CN" altLang="en-US" dirty="0">
                <a:solidFill>
                  <a:srgbClr val="C00000"/>
                </a:solidFill>
              </a:rPr>
              <a:t>有确认 有连接 </a:t>
            </a:r>
            <a:r>
              <a:rPr lang="zh-CN" altLang="en-US" dirty="0"/>
              <a:t>服务（</a:t>
            </a:r>
            <a:r>
              <a:rPr lang="en-US" altLang="zh-CN" dirty="0">
                <a:solidFill>
                  <a:srgbClr val="00B0F0"/>
                </a:solidFill>
              </a:rPr>
              <a:t> </a:t>
            </a:r>
            <a:r>
              <a:rPr lang="en-US" altLang="zh-CN" dirty="0">
                <a:solidFill>
                  <a:srgbClr val="C00000"/>
                </a:solidFill>
              </a:rPr>
              <a:t>Ack</a:t>
            </a:r>
            <a:r>
              <a:rPr lang="en-US" altLang="zh-CN" dirty="0"/>
              <a:t>nowledged connection-</a:t>
            </a:r>
            <a:r>
              <a:rPr lang="en-US" altLang="zh-CN" dirty="0">
                <a:solidFill>
                  <a:srgbClr val="C00000"/>
                </a:solidFill>
              </a:rPr>
              <a:t>oriented</a:t>
            </a:r>
            <a:r>
              <a:rPr lang="en-US" altLang="zh-CN" dirty="0"/>
              <a:t> </a:t>
            </a:r>
            <a:r>
              <a:rPr lang="zh-CN" altLang="en-US" dirty="0"/>
              <a:t>）</a:t>
            </a:r>
            <a:endParaRPr lang="en-US" altLang="zh-CN" dirty="0"/>
          </a:p>
          <a:p>
            <a:pPr lvl="1"/>
            <a:r>
              <a:rPr lang="zh-CN" altLang="en-US" dirty="0"/>
              <a:t>适用场景：长延迟的不可靠信道</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67A3B61C-D604-4BFD-AA28-724BDA145F08}"/>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3761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left)">
                                      <p:cBhvr>
                                        <p:cTn id="7" dur="500"/>
                                        <p:tgtEl>
                                          <p:spTgt spid="3">
                                            <p:txEl>
                                              <p:pRg st="4" end="4"/>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left)">
                                      <p:cBhvr>
                                        <p:cTn id="10" dur="500"/>
                                        <p:tgtEl>
                                          <p:spTgt spid="3">
                                            <p:txEl>
                                              <p:pRg st="5" end="5"/>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left)">
                                      <p:cBhvr>
                                        <p:cTn id="13" dur="500"/>
                                        <p:tgtEl>
                                          <p:spTgt spid="3">
                                            <p:txEl>
                                              <p:pRg st="6" end="6"/>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wipe(left)">
                                      <p:cBhvr>
                                        <p:cTn id="16" dur="500"/>
                                        <p:tgtEl>
                                          <p:spTgt spid="3">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wipe(left)">
                                      <p:cBhvr>
                                        <p:cTn id="21" dur="500"/>
                                        <p:tgtEl>
                                          <p:spTgt spid="3">
                                            <p:txEl>
                                              <p:pRg st="8" end="8"/>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wipe(left)">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838200" y="1510758"/>
            <a:ext cx="10515600" cy="581089"/>
          </a:xfrm>
        </p:spPr>
        <p:txBody>
          <a:bodyPr/>
          <a:lstStyle/>
          <a:p>
            <a:r>
              <a:rPr lang="zh-CN" altLang="en-US" dirty="0"/>
              <a:t>分组 </a:t>
            </a:r>
            <a:r>
              <a:rPr lang="en-US" altLang="zh-CN" dirty="0"/>
              <a:t>(packet)</a:t>
            </a:r>
            <a:r>
              <a:rPr lang="zh-CN" altLang="en-US" dirty="0"/>
              <a:t> 与 帧</a:t>
            </a:r>
            <a:r>
              <a:rPr lang="en-US" altLang="zh-CN" dirty="0"/>
              <a:t>(frame)</a:t>
            </a:r>
            <a:r>
              <a:rPr lang="zh-CN" altLang="en-US" dirty="0"/>
              <a:t>的关系</a:t>
            </a: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1049486" y="2514867"/>
            <a:ext cx="9368375" cy="3072223"/>
            <a:chOff x="818984" y="1963972"/>
            <a:chExt cx="9368375" cy="3072223"/>
          </a:xfrm>
        </p:grpSpPr>
        <p:sp>
          <p:nvSpPr>
            <p:cNvPr id="8" name="Rectangle 6"/>
            <p:cNvSpPr>
              <a:spLocks noChangeArrowheads="1"/>
            </p:cNvSpPr>
            <p:nvPr/>
          </p:nvSpPr>
          <p:spPr bwMode="auto">
            <a:xfrm>
              <a:off x="818984" y="3727641"/>
              <a:ext cx="9368375" cy="837187"/>
            </a:xfrm>
            <a:prstGeom prst="rect">
              <a:avLst/>
            </a:prstGeom>
            <a:noFill/>
            <a:ln w="9525">
              <a:solidFill>
                <a:srgbClr val="FF0000"/>
              </a:solidFill>
              <a:prstDash val="dash"/>
              <a:miter lim="800000"/>
              <a:headEnd/>
              <a:tailEnd/>
            </a:ln>
            <a:effectLst/>
            <a:extLst/>
          </p:spPr>
          <p:txBody>
            <a:bodyPr wrap="none" anchor="ctr" anchorCtr="0"/>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数据链路层</a:t>
              </a:r>
            </a:p>
          </p:txBody>
        </p:sp>
        <p:sp>
          <p:nvSpPr>
            <p:cNvPr id="9" name="Rectangle 6"/>
            <p:cNvSpPr>
              <a:spLocks noChangeArrowheads="1"/>
            </p:cNvSpPr>
            <p:nvPr/>
          </p:nvSpPr>
          <p:spPr bwMode="auto">
            <a:xfrm>
              <a:off x="818984" y="2983966"/>
              <a:ext cx="9368375" cy="743675"/>
            </a:xfrm>
            <a:prstGeom prst="rect">
              <a:avLst/>
            </a:prstGeom>
            <a:noFill/>
            <a:ln w="9525">
              <a:solidFill>
                <a:srgbClr val="FF0000"/>
              </a:solidFill>
              <a:prstDash val="dash"/>
              <a:miter lim="800000"/>
              <a:headEnd/>
              <a:tailEnd/>
            </a:ln>
            <a:effectLst/>
            <a:extLst/>
          </p:spPr>
          <p:txBody>
            <a:bodyPr wrap="none" anchor="ctr" anchorCtr="0"/>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网络层</a:t>
              </a:r>
            </a:p>
          </p:txBody>
        </p:sp>
        <p:sp>
          <p:nvSpPr>
            <p:cNvPr id="10" name="圆角矩形 9"/>
            <p:cNvSpPr/>
            <p:nvPr/>
          </p:nvSpPr>
          <p:spPr bwMode="auto">
            <a:xfrm>
              <a:off x="3328597" y="3136891"/>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itchFamily="34" charset="0"/>
                </a:rPr>
                <a:t>分组</a:t>
              </a:r>
            </a:p>
          </p:txBody>
        </p:sp>
        <p:sp>
          <p:nvSpPr>
            <p:cNvPr id="11" name="圆角矩形 10"/>
            <p:cNvSpPr/>
            <p:nvPr/>
          </p:nvSpPr>
          <p:spPr bwMode="auto">
            <a:xfrm>
              <a:off x="2410495" y="1963972"/>
              <a:ext cx="3132348" cy="2784191"/>
            </a:xfrm>
            <a:prstGeom prst="roundRect">
              <a:avLst>
                <a:gd name="adj" fmla="val 4101"/>
              </a:avLst>
            </a:prstGeom>
            <a:noFill/>
            <a:ln w="19050" cap="flat" cmpd="sng" algn="ctr">
              <a:solidFill>
                <a:schemeClr val="accent5">
                  <a:lumMod val="40000"/>
                  <a:lumOff val="60000"/>
                </a:schemeClr>
              </a:solidFill>
              <a:prstDash val="solid"/>
              <a:round/>
              <a:headEnd type="none" w="med" len="med"/>
              <a:tailEnd type="none" w="med" len="med"/>
            </a:ln>
            <a:effectLst>
              <a:glow rad="63500">
                <a:schemeClr val="accent1">
                  <a:satMod val="175000"/>
                  <a:alpha val="40000"/>
                </a:schemeClr>
              </a:glow>
            </a:effectLst>
            <a:extLst/>
          </p:spPr>
          <p:txBody>
            <a:bodyPr vert="horz" wrap="square" lIns="0" tIns="0" rIns="0" bIns="0" numCol="1" rtlCol="0" anchor="t"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pitchFamily="34" charset="0"/>
                </a:rPr>
                <a:t>发送方</a:t>
              </a:r>
            </a:p>
          </p:txBody>
        </p:sp>
        <p:sp>
          <p:nvSpPr>
            <p:cNvPr id="12" name="圆角矩形 11"/>
            <p:cNvSpPr/>
            <p:nvPr/>
          </p:nvSpPr>
          <p:spPr bwMode="auto">
            <a:xfrm>
              <a:off x="2554511" y="3992079"/>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头标</a:t>
              </a:r>
            </a:p>
          </p:txBody>
        </p:sp>
        <p:sp>
          <p:nvSpPr>
            <p:cNvPr id="13" name="圆角矩形 12"/>
            <p:cNvSpPr/>
            <p:nvPr/>
          </p:nvSpPr>
          <p:spPr bwMode="auto">
            <a:xfrm>
              <a:off x="4606739" y="3992079"/>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尾标</a:t>
              </a:r>
            </a:p>
          </p:txBody>
        </p:sp>
        <p:sp>
          <p:nvSpPr>
            <p:cNvPr id="14" name="圆角矩形 13"/>
            <p:cNvSpPr/>
            <p:nvPr/>
          </p:nvSpPr>
          <p:spPr bwMode="auto">
            <a:xfrm>
              <a:off x="7758406" y="3136891"/>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itchFamily="34" charset="0"/>
                </a:rPr>
                <a:t>分组</a:t>
              </a:r>
            </a:p>
          </p:txBody>
        </p:sp>
        <p:sp>
          <p:nvSpPr>
            <p:cNvPr id="15" name="圆角矩形 14"/>
            <p:cNvSpPr/>
            <p:nvPr/>
          </p:nvSpPr>
          <p:spPr bwMode="auto">
            <a:xfrm>
              <a:off x="6838987" y="1963972"/>
              <a:ext cx="3132348" cy="2793099"/>
            </a:xfrm>
            <a:prstGeom prst="roundRect">
              <a:avLst>
                <a:gd name="adj" fmla="val 4101"/>
              </a:avLst>
            </a:prstGeom>
            <a:noFill/>
            <a:ln w="19050" cap="flat" cmpd="sng" algn="ctr">
              <a:solidFill>
                <a:schemeClr val="accent5">
                  <a:lumMod val="40000"/>
                  <a:lumOff val="60000"/>
                </a:schemeClr>
              </a:solidFill>
              <a:prstDash val="solid"/>
              <a:round/>
              <a:headEnd type="none" w="med" len="med"/>
              <a:tailEnd type="none" w="med" len="med"/>
            </a:ln>
            <a:effectLst>
              <a:glow rad="63500">
                <a:schemeClr val="accent1">
                  <a:satMod val="175000"/>
                  <a:alpha val="40000"/>
                </a:schemeClr>
              </a:glow>
            </a:effectLst>
            <a:extLst/>
          </p:spPr>
          <p:txBody>
            <a:bodyPr vert="horz" wrap="square" lIns="0" tIns="0" rIns="0" bIns="0" numCol="1" rtlCol="0" anchor="t" anchorCtr="0" compatLnSpc="1">
              <a:prstTxWarp prst="textNoShape">
                <a:avLst/>
              </a:prstTxWarp>
              <a:noAutofit/>
            </a:bodyPr>
            <a:lstStyle/>
            <a:p>
              <a:pPr algn="ctr" fontAlgn="base">
                <a:spcBef>
                  <a:spcPct val="50000"/>
                </a:spcBef>
                <a:spcAft>
                  <a:spcPct val="0"/>
                </a:spcAft>
              </a:pPr>
              <a:r>
                <a:rPr kumimoji="1" lang="zh-CN" altLang="en-US" sz="2000" kern="0" dirty="0">
                  <a:solidFill>
                    <a:prstClr val="black"/>
                  </a:solidFill>
                  <a:latin typeface="微软雅黑" panose="020B0503020204020204" pitchFamily="34" charset="-122"/>
                  <a:ea typeface="微软雅黑" panose="020B0503020204020204" pitchFamily="34" charset="-122"/>
                  <a:cs typeface="Segoe UI" pitchFamily="34" charset="0"/>
                </a:rPr>
                <a:t>接收方</a:t>
              </a:r>
            </a:p>
          </p:txBody>
        </p:sp>
        <p:sp>
          <p:nvSpPr>
            <p:cNvPr id="16" name="圆角矩形 15"/>
            <p:cNvSpPr/>
            <p:nvPr/>
          </p:nvSpPr>
          <p:spPr bwMode="auto">
            <a:xfrm>
              <a:off x="6983003" y="4000987"/>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头标</a:t>
              </a:r>
            </a:p>
          </p:txBody>
        </p:sp>
        <p:sp>
          <p:nvSpPr>
            <p:cNvPr id="17" name="圆角矩形 16"/>
            <p:cNvSpPr/>
            <p:nvPr/>
          </p:nvSpPr>
          <p:spPr bwMode="auto">
            <a:xfrm>
              <a:off x="9035231" y="4000987"/>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尾标</a:t>
              </a:r>
            </a:p>
          </p:txBody>
        </p:sp>
        <p:cxnSp>
          <p:nvCxnSpPr>
            <p:cNvPr id="18" name="直接箭头连接符 17"/>
            <p:cNvCxnSpPr/>
            <p:nvPr/>
          </p:nvCxnSpPr>
          <p:spPr bwMode="auto">
            <a:xfrm>
              <a:off x="3976669" y="3488023"/>
              <a:ext cx="0" cy="487651"/>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a:extLst/>
          </p:spPr>
        </p:cxnSp>
        <p:cxnSp>
          <p:nvCxnSpPr>
            <p:cNvPr id="19" name="直接箭头连接符 18"/>
            <p:cNvCxnSpPr/>
            <p:nvPr/>
          </p:nvCxnSpPr>
          <p:spPr bwMode="auto">
            <a:xfrm flipV="1">
              <a:off x="8409955" y="3496931"/>
              <a:ext cx="0" cy="509741"/>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a:extLst/>
          </p:spPr>
        </p:cxnSp>
        <p:cxnSp>
          <p:nvCxnSpPr>
            <p:cNvPr id="20" name="直接箭头连接符 19"/>
            <p:cNvCxnSpPr/>
            <p:nvPr/>
          </p:nvCxnSpPr>
          <p:spPr bwMode="auto">
            <a:xfrm>
              <a:off x="3958667" y="4352119"/>
              <a:ext cx="0" cy="684076"/>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a:extLst/>
          </p:spPr>
        </p:cxnSp>
        <p:cxnSp>
          <p:nvCxnSpPr>
            <p:cNvPr id="21" name="直接箭头连接符 20"/>
            <p:cNvCxnSpPr/>
            <p:nvPr/>
          </p:nvCxnSpPr>
          <p:spPr bwMode="auto">
            <a:xfrm flipV="1">
              <a:off x="8406478" y="4352119"/>
              <a:ext cx="0" cy="684076"/>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a:extLst/>
          </p:spPr>
        </p:cxnSp>
        <p:cxnSp>
          <p:nvCxnSpPr>
            <p:cNvPr id="22" name="直接连接符 21"/>
            <p:cNvCxnSpPr/>
            <p:nvPr/>
          </p:nvCxnSpPr>
          <p:spPr bwMode="auto">
            <a:xfrm>
              <a:off x="3958667" y="5036195"/>
              <a:ext cx="4447811" cy="0"/>
            </a:xfrm>
            <a:prstGeom prst="line">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a:extLst/>
          </p:spPr>
        </p:cxnSp>
        <p:sp>
          <p:nvSpPr>
            <p:cNvPr id="23" name="圆角矩形标注 22"/>
            <p:cNvSpPr/>
            <p:nvPr/>
          </p:nvSpPr>
          <p:spPr bwMode="auto">
            <a:xfrm>
              <a:off x="5686859" y="3848333"/>
              <a:ext cx="876558" cy="413569"/>
            </a:xfrm>
            <a:prstGeom prst="wedgeRoundRectCallout">
              <a:avLst>
                <a:gd name="adj1" fmla="val -81097"/>
                <a:gd name="adj2" fmla="val 52321"/>
                <a:gd name="adj3" fmla="val 16667"/>
              </a:avLst>
            </a:prstGeom>
            <a:solidFill>
              <a:schemeClr val="accent5">
                <a:lumMod val="20000"/>
                <a:lumOff val="80000"/>
              </a:schemeClr>
            </a:solidFill>
            <a:ln w="1270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a:extLst/>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帧</a:t>
              </a:r>
            </a:p>
          </p:txBody>
        </p:sp>
        <p:sp>
          <p:nvSpPr>
            <p:cNvPr id="24" name="圆角矩形 23"/>
            <p:cNvSpPr/>
            <p:nvPr/>
          </p:nvSpPr>
          <p:spPr bwMode="auto">
            <a:xfrm>
              <a:off x="3310595" y="3992079"/>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itchFamily="34" charset="0"/>
                </a:rPr>
                <a:t>有效载荷</a:t>
              </a:r>
            </a:p>
          </p:txBody>
        </p:sp>
        <p:sp>
          <p:nvSpPr>
            <p:cNvPr id="25" name="圆角矩形 24"/>
            <p:cNvSpPr/>
            <p:nvPr/>
          </p:nvSpPr>
          <p:spPr bwMode="auto">
            <a:xfrm>
              <a:off x="7739087" y="4000987"/>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itchFamily="34" charset="0"/>
                </a:rPr>
                <a:t>有效载荷</a:t>
              </a:r>
            </a:p>
          </p:txBody>
        </p:sp>
      </p:grpSp>
    </p:spTree>
    <p:extLst>
      <p:ext uri="{BB962C8B-B14F-4D97-AF65-F5344CB8AC3E}">
        <p14:creationId xmlns:p14="http://schemas.microsoft.com/office/powerpoint/2010/main" val="2166772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838200" y="1365159"/>
            <a:ext cx="10515600" cy="4842457"/>
          </a:xfrm>
        </p:spPr>
        <p:txBody>
          <a:bodyPr>
            <a:normAutofit fontScale="92500" lnSpcReduction="10000"/>
          </a:bodyPr>
          <a:lstStyle/>
          <a:p>
            <a:pPr>
              <a:lnSpc>
                <a:spcPct val="160000"/>
              </a:lnSpc>
              <a:spcBef>
                <a:spcPts val="0"/>
              </a:spcBef>
            </a:pPr>
            <a:r>
              <a:rPr lang="zh-CN" altLang="en-US" dirty="0">
                <a:solidFill>
                  <a:srgbClr val="C00000"/>
                </a:solidFill>
              </a:rPr>
              <a:t>关键问题：如何标识一个帧的开始？</a:t>
            </a:r>
            <a:endParaRPr lang="en-US" altLang="zh-CN" dirty="0">
              <a:solidFill>
                <a:srgbClr val="C00000"/>
              </a:solidFill>
            </a:endParaRPr>
          </a:p>
          <a:p>
            <a:pPr lvl="1">
              <a:lnSpc>
                <a:spcPct val="160000"/>
              </a:lnSpc>
              <a:spcBef>
                <a:spcPts val="0"/>
              </a:spcBef>
            </a:pPr>
            <a:r>
              <a:rPr lang="zh-CN" altLang="en-US" dirty="0"/>
              <a:t>接收方必须能从物理层接收的比特流中明确区分出一帧的开始和结束，这个问题被称为帧同步或帧定界</a:t>
            </a:r>
            <a:endParaRPr lang="en-US" altLang="zh-CN" dirty="0"/>
          </a:p>
          <a:p>
            <a:pPr lvl="1">
              <a:lnSpc>
                <a:spcPct val="160000"/>
              </a:lnSpc>
              <a:spcBef>
                <a:spcPts val="0"/>
              </a:spcBef>
            </a:pPr>
            <a:r>
              <a:rPr lang="zh-CN" altLang="en-US" dirty="0"/>
              <a:t>关键：选择何种</a:t>
            </a:r>
            <a:r>
              <a:rPr lang="zh-CN" altLang="en-US" dirty="0">
                <a:solidFill>
                  <a:srgbClr val="7030A0"/>
                </a:solidFill>
              </a:rPr>
              <a:t>定界符</a:t>
            </a:r>
            <a:r>
              <a:rPr lang="zh-CN" altLang="en-US" dirty="0"/>
              <a:t>？定界符出现在数据部分如何处理？</a:t>
            </a:r>
            <a:endParaRPr lang="en-US" altLang="zh-CN" dirty="0"/>
          </a:p>
          <a:p>
            <a:pPr>
              <a:lnSpc>
                <a:spcPct val="160000"/>
              </a:lnSpc>
              <a:spcBef>
                <a:spcPts val="0"/>
              </a:spcBef>
            </a:pPr>
            <a:r>
              <a:rPr lang="zh-CN" altLang="en-US" dirty="0"/>
              <a:t>成帧（</a:t>
            </a:r>
            <a:r>
              <a:rPr lang="en-US" altLang="zh-CN" dirty="0"/>
              <a:t>framing</a:t>
            </a:r>
            <a:r>
              <a:rPr lang="zh-CN" altLang="en-US" dirty="0"/>
              <a:t>）的方式</a:t>
            </a:r>
            <a:endParaRPr lang="en-US" altLang="zh-CN" dirty="0"/>
          </a:p>
          <a:p>
            <a:pPr lvl="1">
              <a:lnSpc>
                <a:spcPct val="160000"/>
              </a:lnSpc>
              <a:spcBef>
                <a:spcPts val="0"/>
              </a:spcBef>
            </a:pPr>
            <a:r>
              <a:rPr lang="zh-CN" altLang="en-US" dirty="0"/>
              <a:t>字节计数法（</a:t>
            </a:r>
            <a:r>
              <a:rPr lang="en-US" altLang="zh-CN" dirty="0"/>
              <a:t> Byte count </a:t>
            </a:r>
            <a:r>
              <a:rPr lang="zh-CN" altLang="en-US" dirty="0"/>
              <a:t>）</a:t>
            </a:r>
            <a:endParaRPr lang="en-US" altLang="zh-CN" dirty="0"/>
          </a:p>
          <a:p>
            <a:pPr lvl="1">
              <a:lnSpc>
                <a:spcPct val="160000"/>
              </a:lnSpc>
              <a:spcBef>
                <a:spcPts val="0"/>
              </a:spcBef>
            </a:pPr>
            <a:r>
              <a:rPr lang="zh-CN" altLang="en-US" dirty="0"/>
              <a:t>带</a:t>
            </a:r>
            <a:r>
              <a:rPr lang="zh-CN" altLang="en-US" dirty="0">
                <a:solidFill>
                  <a:srgbClr val="C00000"/>
                </a:solidFill>
              </a:rPr>
              <a:t>字节</a:t>
            </a:r>
            <a:r>
              <a:rPr lang="zh-CN" altLang="en-US" dirty="0"/>
              <a:t>填充的</a:t>
            </a:r>
            <a:r>
              <a:rPr lang="zh-CN" altLang="en-US" dirty="0">
                <a:solidFill>
                  <a:srgbClr val="7030A0"/>
                </a:solidFill>
              </a:rPr>
              <a:t>定界符</a:t>
            </a:r>
            <a:r>
              <a:rPr lang="zh-CN" altLang="en-US" dirty="0"/>
              <a:t>法（</a:t>
            </a:r>
            <a:r>
              <a:rPr lang="en-US" altLang="zh-CN" dirty="0"/>
              <a:t> </a:t>
            </a:r>
            <a:r>
              <a:rPr lang="en-US" altLang="zh-CN" dirty="0">
                <a:solidFill>
                  <a:srgbClr val="7030A0"/>
                </a:solidFill>
              </a:rPr>
              <a:t>Flag</a:t>
            </a:r>
            <a:r>
              <a:rPr lang="en-US" altLang="zh-CN" dirty="0"/>
              <a:t> bytes with </a:t>
            </a:r>
            <a:r>
              <a:rPr lang="en-US" altLang="zh-CN" dirty="0">
                <a:solidFill>
                  <a:srgbClr val="C00000"/>
                </a:solidFill>
              </a:rPr>
              <a:t>byte</a:t>
            </a:r>
            <a:r>
              <a:rPr lang="en-US" altLang="zh-CN" dirty="0"/>
              <a:t> stuffing </a:t>
            </a:r>
            <a:r>
              <a:rPr lang="zh-CN" altLang="en-US" dirty="0"/>
              <a:t>）</a:t>
            </a:r>
          </a:p>
          <a:p>
            <a:pPr lvl="1">
              <a:lnSpc>
                <a:spcPct val="160000"/>
              </a:lnSpc>
              <a:spcBef>
                <a:spcPts val="0"/>
              </a:spcBef>
            </a:pPr>
            <a:r>
              <a:rPr lang="zh-CN" altLang="en-US" dirty="0"/>
              <a:t>带</a:t>
            </a:r>
            <a:r>
              <a:rPr lang="zh-CN" altLang="en-US" dirty="0">
                <a:solidFill>
                  <a:srgbClr val="C00000"/>
                </a:solidFill>
              </a:rPr>
              <a:t>比特</a:t>
            </a:r>
            <a:r>
              <a:rPr lang="zh-CN" altLang="en-US" dirty="0"/>
              <a:t>填充的</a:t>
            </a:r>
            <a:r>
              <a:rPr lang="zh-CN" altLang="en-US" dirty="0">
                <a:solidFill>
                  <a:srgbClr val="7030A0"/>
                </a:solidFill>
              </a:rPr>
              <a:t>定界符</a:t>
            </a:r>
            <a:r>
              <a:rPr lang="zh-CN" altLang="en-US" dirty="0"/>
              <a:t>法（</a:t>
            </a:r>
            <a:r>
              <a:rPr lang="en-US" altLang="zh-CN" dirty="0"/>
              <a:t> </a:t>
            </a:r>
            <a:r>
              <a:rPr lang="en-US" altLang="zh-CN" dirty="0">
                <a:solidFill>
                  <a:srgbClr val="7030A0"/>
                </a:solidFill>
              </a:rPr>
              <a:t>Flag</a:t>
            </a:r>
            <a:r>
              <a:rPr lang="en-US" altLang="zh-CN" dirty="0"/>
              <a:t> bits with </a:t>
            </a:r>
            <a:r>
              <a:rPr lang="en-US" altLang="zh-CN" dirty="0">
                <a:solidFill>
                  <a:srgbClr val="C00000"/>
                </a:solidFill>
              </a:rPr>
              <a:t>bit</a:t>
            </a:r>
            <a:r>
              <a:rPr lang="en-US" altLang="zh-CN" dirty="0"/>
              <a:t> stuffing </a:t>
            </a:r>
            <a:r>
              <a:rPr lang="zh-CN" altLang="en-US" dirty="0"/>
              <a:t>）</a:t>
            </a:r>
          </a:p>
          <a:p>
            <a:pPr lvl="1">
              <a:lnSpc>
                <a:spcPct val="160000"/>
              </a:lnSpc>
              <a:spcBef>
                <a:spcPts val="0"/>
              </a:spcBef>
            </a:pPr>
            <a:r>
              <a:rPr lang="zh-CN" altLang="en-US" dirty="0">
                <a:solidFill>
                  <a:srgbClr val="7030A0"/>
                </a:solidFill>
              </a:rPr>
              <a:t>物理层</a:t>
            </a:r>
            <a:r>
              <a:rPr lang="zh-CN" altLang="en-US" dirty="0"/>
              <a:t>编码违例（</a:t>
            </a:r>
            <a:r>
              <a:rPr lang="en-US" altLang="zh-CN" dirty="0"/>
              <a:t> Physical layer coding violations </a:t>
            </a:r>
            <a:r>
              <a:rPr lang="zh-CN" altLang="en-US" dirty="0"/>
              <a:t>）</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8881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spcBef>
                <a:spcPts val="1200"/>
              </a:spcBef>
            </a:pPr>
            <a:r>
              <a:rPr lang="zh-CN" altLang="en-US" dirty="0">
                <a:solidFill>
                  <a:srgbClr val="C00000"/>
                </a:solidFill>
              </a:rPr>
              <a:t>字节计数法</a:t>
            </a:r>
            <a:r>
              <a:rPr lang="zh-CN" altLang="en-US" dirty="0"/>
              <a:t>：无差错传输的情形</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1883750" y="3755963"/>
            <a:ext cx="1594449" cy="995523"/>
            <a:chOff x="1628570" y="3387255"/>
            <a:chExt cx="1594449" cy="995523"/>
          </a:xfrm>
        </p:grpSpPr>
        <p:sp>
          <p:nvSpPr>
            <p:cNvPr id="8" name="左大括号 7"/>
            <p:cNvSpPr/>
            <p:nvPr/>
          </p:nvSpPr>
          <p:spPr>
            <a:xfrm rot="16200000">
              <a:off x="234628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 name="矩形 8"/>
            <p:cNvSpPr/>
            <p:nvPr/>
          </p:nvSpPr>
          <p:spPr>
            <a:xfrm>
              <a:off x="1950271" y="3674892"/>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10" name="组合 9"/>
          <p:cNvGrpSpPr/>
          <p:nvPr/>
        </p:nvGrpSpPr>
        <p:grpSpPr>
          <a:xfrm>
            <a:off x="3478200" y="3755963"/>
            <a:ext cx="1594449" cy="995523"/>
            <a:chOff x="3223020" y="3387255"/>
            <a:chExt cx="1594449" cy="995523"/>
          </a:xfrm>
        </p:grpSpPr>
        <p:sp>
          <p:nvSpPr>
            <p:cNvPr id="11" name="左大括号 10"/>
            <p:cNvSpPr/>
            <p:nvPr/>
          </p:nvSpPr>
          <p:spPr>
            <a:xfrm rot="16200000">
              <a:off x="394073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 name="矩形 11"/>
            <p:cNvSpPr/>
            <p:nvPr/>
          </p:nvSpPr>
          <p:spPr>
            <a:xfrm>
              <a:off x="3544721" y="3674892"/>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13" name="组合 12"/>
          <p:cNvGrpSpPr/>
          <p:nvPr/>
        </p:nvGrpSpPr>
        <p:grpSpPr>
          <a:xfrm>
            <a:off x="5072650" y="3755963"/>
            <a:ext cx="2549057" cy="997132"/>
            <a:chOff x="4817470" y="3387255"/>
            <a:chExt cx="2549057" cy="997132"/>
          </a:xfrm>
        </p:grpSpPr>
        <p:sp>
          <p:nvSpPr>
            <p:cNvPr id="14" name="左大括号 13"/>
            <p:cNvSpPr/>
            <p:nvPr/>
          </p:nvSpPr>
          <p:spPr>
            <a:xfrm rot="16200000">
              <a:off x="6012487" y="2192238"/>
              <a:ext cx="159023" cy="2549057"/>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 name="矩形 14"/>
            <p:cNvSpPr/>
            <p:nvPr/>
          </p:nvSpPr>
          <p:spPr>
            <a:xfrm>
              <a:off x="5612074" y="3676501"/>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16" name="组合 15"/>
          <p:cNvGrpSpPr/>
          <p:nvPr/>
        </p:nvGrpSpPr>
        <p:grpSpPr>
          <a:xfrm>
            <a:off x="7609714" y="3759181"/>
            <a:ext cx="1925519" cy="990138"/>
            <a:chOff x="7354534" y="3390473"/>
            <a:chExt cx="1925519" cy="990138"/>
          </a:xfrm>
        </p:grpSpPr>
        <p:sp>
          <p:nvSpPr>
            <p:cNvPr id="17" name="左大括号 16"/>
            <p:cNvSpPr/>
            <p:nvPr/>
          </p:nvSpPr>
          <p:spPr>
            <a:xfrm rot="16200000">
              <a:off x="8237782" y="2507225"/>
              <a:ext cx="159023" cy="192551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 name="矩形 17"/>
            <p:cNvSpPr/>
            <p:nvPr/>
          </p:nvSpPr>
          <p:spPr>
            <a:xfrm>
              <a:off x="7841769" y="3672725"/>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19" name="组合 18"/>
          <p:cNvGrpSpPr/>
          <p:nvPr/>
        </p:nvGrpSpPr>
        <p:grpSpPr>
          <a:xfrm>
            <a:off x="1883750" y="3338395"/>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20" name="Rectangle 44"/>
            <p:cNvSpPr>
              <a:spLocks noChangeArrowheads="1"/>
            </p:cNvSpPr>
            <p:nvPr/>
          </p:nvSpPr>
          <p:spPr bwMode="auto">
            <a:xfrm>
              <a:off x="1465472"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p>
          </p:txBody>
        </p:sp>
        <p:sp>
          <p:nvSpPr>
            <p:cNvPr id="21" name="Rectangle 44"/>
            <p:cNvSpPr>
              <a:spLocks noChangeArrowheads="1"/>
            </p:cNvSpPr>
            <p:nvPr/>
          </p:nvSpPr>
          <p:spPr bwMode="auto">
            <a:xfrm>
              <a:off x="1784549"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2" name="Rectangle 44"/>
            <p:cNvSpPr>
              <a:spLocks noChangeArrowheads="1"/>
            </p:cNvSpPr>
            <p:nvPr/>
          </p:nvSpPr>
          <p:spPr bwMode="auto">
            <a:xfrm>
              <a:off x="2103626"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23" name="Rectangle 44"/>
            <p:cNvSpPr>
              <a:spLocks noChangeArrowheads="1"/>
            </p:cNvSpPr>
            <p:nvPr/>
          </p:nvSpPr>
          <p:spPr bwMode="auto">
            <a:xfrm>
              <a:off x="2422703"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24" name="Rectangle 44"/>
            <p:cNvSpPr>
              <a:spLocks noChangeArrowheads="1"/>
            </p:cNvSpPr>
            <p:nvPr/>
          </p:nvSpPr>
          <p:spPr bwMode="auto">
            <a:xfrm>
              <a:off x="2741780"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25" name="Rectangle 44"/>
            <p:cNvSpPr>
              <a:spLocks noChangeArrowheads="1"/>
            </p:cNvSpPr>
            <p:nvPr/>
          </p:nvSpPr>
          <p:spPr bwMode="auto">
            <a:xfrm>
              <a:off x="3060857"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p>
          </p:txBody>
        </p:sp>
        <p:sp>
          <p:nvSpPr>
            <p:cNvPr id="26" name="Rectangle 44"/>
            <p:cNvSpPr>
              <a:spLocks noChangeArrowheads="1"/>
            </p:cNvSpPr>
            <p:nvPr/>
          </p:nvSpPr>
          <p:spPr bwMode="auto">
            <a:xfrm>
              <a:off x="3379934"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7" name="Rectangle 44"/>
            <p:cNvSpPr>
              <a:spLocks noChangeArrowheads="1"/>
            </p:cNvSpPr>
            <p:nvPr/>
          </p:nvSpPr>
          <p:spPr bwMode="auto">
            <a:xfrm>
              <a:off x="3699011"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28" name="Rectangle 44"/>
            <p:cNvSpPr>
              <a:spLocks noChangeArrowheads="1"/>
            </p:cNvSpPr>
            <p:nvPr/>
          </p:nvSpPr>
          <p:spPr bwMode="auto">
            <a:xfrm>
              <a:off x="4018088"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29" name="Rectangle 44"/>
            <p:cNvSpPr>
              <a:spLocks noChangeArrowheads="1"/>
            </p:cNvSpPr>
            <p:nvPr/>
          </p:nvSpPr>
          <p:spPr bwMode="auto">
            <a:xfrm>
              <a:off x="4337165"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30" name="Rectangle 44"/>
            <p:cNvSpPr>
              <a:spLocks noChangeArrowheads="1"/>
            </p:cNvSpPr>
            <p:nvPr/>
          </p:nvSpPr>
          <p:spPr bwMode="auto">
            <a:xfrm>
              <a:off x="465624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p>
          </p:txBody>
        </p:sp>
        <p:sp>
          <p:nvSpPr>
            <p:cNvPr id="31" name="Rectangle 44"/>
            <p:cNvSpPr>
              <a:spLocks noChangeArrowheads="1"/>
            </p:cNvSpPr>
            <p:nvPr/>
          </p:nvSpPr>
          <p:spPr bwMode="auto">
            <a:xfrm>
              <a:off x="497531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32" name="Rectangle 44"/>
            <p:cNvSpPr>
              <a:spLocks noChangeArrowheads="1"/>
            </p:cNvSpPr>
            <p:nvPr/>
          </p:nvSpPr>
          <p:spPr bwMode="auto">
            <a:xfrm>
              <a:off x="529439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33" name="Rectangle 44"/>
            <p:cNvSpPr>
              <a:spLocks noChangeArrowheads="1"/>
            </p:cNvSpPr>
            <p:nvPr/>
          </p:nvSpPr>
          <p:spPr bwMode="auto">
            <a:xfrm>
              <a:off x="561347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34" name="Rectangle 44"/>
            <p:cNvSpPr>
              <a:spLocks noChangeArrowheads="1"/>
            </p:cNvSpPr>
            <p:nvPr/>
          </p:nvSpPr>
          <p:spPr bwMode="auto">
            <a:xfrm>
              <a:off x="5932550"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35" name="Rectangle 44"/>
            <p:cNvSpPr>
              <a:spLocks noChangeArrowheads="1"/>
            </p:cNvSpPr>
            <p:nvPr/>
          </p:nvSpPr>
          <p:spPr bwMode="auto">
            <a:xfrm>
              <a:off x="6251627"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p>
          </p:txBody>
        </p:sp>
        <p:sp>
          <p:nvSpPr>
            <p:cNvPr id="36" name="Rectangle 44"/>
            <p:cNvSpPr>
              <a:spLocks noChangeArrowheads="1"/>
            </p:cNvSpPr>
            <p:nvPr/>
          </p:nvSpPr>
          <p:spPr bwMode="auto">
            <a:xfrm>
              <a:off x="6570704"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a:t>
              </a:r>
            </a:p>
          </p:txBody>
        </p:sp>
        <p:sp>
          <p:nvSpPr>
            <p:cNvPr id="37" name="Rectangle 44"/>
            <p:cNvSpPr>
              <a:spLocks noChangeArrowheads="1"/>
            </p:cNvSpPr>
            <p:nvPr/>
          </p:nvSpPr>
          <p:spPr bwMode="auto">
            <a:xfrm>
              <a:off x="6889781"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a:t>
              </a:r>
            </a:p>
          </p:txBody>
        </p:sp>
        <p:sp>
          <p:nvSpPr>
            <p:cNvPr id="38" name="Rectangle 44"/>
            <p:cNvSpPr>
              <a:spLocks noChangeArrowheads="1"/>
            </p:cNvSpPr>
            <p:nvPr/>
          </p:nvSpPr>
          <p:spPr bwMode="auto">
            <a:xfrm>
              <a:off x="7208858"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p>
          </p:txBody>
        </p:sp>
        <p:sp>
          <p:nvSpPr>
            <p:cNvPr id="39" name="Rectangle 44"/>
            <p:cNvSpPr>
              <a:spLocks noChangeArrowheads="1"/>
            </p:cNvSpPr>
            <p:nvPr/>
          </p:nvSpPr>
          <p:spPr bwMode="auto">
            <a:xfrm>
              <a:off x="7527935"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40" name="Rectangle 44"/>
            <p:cNvSpPr>
              <a:spLocks noChangeArrowheads="1"/>
            </p:cNvSpPr>
            <p:nvPr/>
          </p:nvSpPr>
          <p:spPr bwMode="auto">
            <a:xfrm>
              <a:off x="784701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41" name="Rectangle 44"/>
            <p:cNvSpPr>
              <a:spLocks noChangeArrowheads="1"/>
            </p:cNvSpPr>
            <p:nvPr/>
          </p:nvSpPr>
          <p:spPr bwMode="auto">
            <a:xfrm>
              <a:off x="816608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42" name="Rectangle 44"/>
            <p:cNvSpPr>
              <a:spLocks noChangeArrowheads="1"/>
            </p:cNvSpPr>
            <p:nvPr/>
          </p:nvSpPr>
          <p:spPr bwMode="auto">
            <a:xfrm>
              <a:off x="848516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43" name="Rectangle 44"/>
            <p:cNvSpPr>
              <a:spLocks noChangeArrowheads="1"/>
            </p:cNvSpPr>
            <p:nvPr/>
          </p:nvSpPr>
          <p:spPr bwMode="auto">
            <a:xfrm>
              <a:off x="880424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p>
          </p:txBody>
        </p:sp>
      </p:grpSp>
      <p:sp>
        <p:nvSpPr>
          <p:cNvPr id="44" name="任意多边形 43"/>
          <p:cNvSpPr/>
          <p:nvPr/>
        </p:nvSpPr>
        <p:spPr>
          <a:xfrm>
            <a:off x="3639473" y="2581936"/>
            <a:ext cx="1288068"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5" name="任意多边形 44"/>
          <p:cNvSpPr/>
          <p:nvPr/>
        </p:nvSpPr>
        <p:spPr>
          <a:xfrm>
            <a:off x="5254394" y="2581936"/>
            <a:ext cx="2230080"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6" name="任意多边形 45"/>
          <p:cNvSpPr/>
          <p:nvPr/>
        </p:nvSpPr>
        <p:spPr>
          <a:xfrm>
            <a:off x="7780775" y="2581935"/>
            <a:ext cx="1600232"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7" name="任意多边形 46"/>
          <p:cNvSpPr/>
          <p:nvPr/>
        </p:nvSpPr>
        <p:spPr>
          <a:xfrm>
            <a:off x="2043289" y="2581933"/>
            <a:ext cx="1284051"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文本框 4"/>
          <p:cNvSpPr txBox="1"/>
          <p:nvPr/>
        </p:nvSpPr>
        <p:spPr>
          <a:xfrm>
            <a:off x="2521436" y="5404955"/>
            <a:ext cx="6541546" cy="461665"/>
          </a:xfrm>
          <a:prstGeom prst="rect">
            <a:avLst/>
          </a:prstGeom>
          <a:solidFill>
            <a:schemeClr val="accent5">
              <a:lumMod val="20000"/>
              <a:lumOff val="80000"/>
            </a:schemeClr>
          </a:solidFill>
          <a:ln>
            <a:solidFill>
              <a:srgbClr val="C00000"/>
            </a:solidFill>
          </a:ln>
        </p:spPr>
        <p:txBody>
          <a:bodyPr wrap="square" rtlCol="0">
            <a:spAutoFit/>
          </a:bodyPr>
          <a:lstStyle/>
          <a:p>
            <a:r>
              <a:rPr lang="zh-CN" altLang="en-US" sz="2400" dirty="0"/>
              <a:t>问题：如果某个计数字节出错会发生什么情况？</a:t>
            </a:r>
          </a:p>
        </p:txBody>
      </p:sp>
    </p:spTree>
    <p:extLst>
      <p:ext uri="{BB962C8B-B14F-4D97-AF65-F5344CB8AC3E}">
        <p14:creationId xmlns:p14="http://schemas.microsoft.com/office/powerpoint/2010/main" val="324824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up)">
                                      <p:cBhvr>
                                        <p:cTn id="20" dur="500"/>
                                        <p:tgtEl>
                                          <p:spTgt spid="13"/>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wipe(left)">
                                      <p:cBhvr>
                                        <p:cTn id="29" dur="500"/>
                                        <p:tgtEl>
                                          <p:spTgt spid="4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wipe(left)">
                                      <p:cBhvr>
                                        <p:cTn id="34" dur="500"/>
                                        <p:tgtEl>
                                          <p:spTgt spid="4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wipe(left)">
                                      <p:cBhvr>
                                        <p:cTn id="39" dur="500"/>
                                        <p:tgtEl>
                                          <p:spTgt spid="4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left)">
                                      <p:cBhvr>
                                        <p:cTn id="44" dur="500"/>
                                        <p:tgtEl>
                                          <p:spTgt spid="46"/>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spcBef>
                <a:spcPts val="1200"/>
              </a:spcBef>
            </a:pPr>
            <a:r>
              <a:rPr lang="zh-CN" altLang="en-US" dirty="0">
                <a:solidFill>
                  <a:srgbClr val="C00000"/>
                </a:solidFill>
              </a:rPr>
              <a:t>字节计数法：</a:t>
            </a:r>
            <a:r>
              <a:rPr lang="zh-CN" altLang="en-US" dirty="0"/>
              <a:t>出现了一个字节</a:t>
            </a:r>
            <a:r>
              <a:rPr lang="zh-CN" altLang="en-US" dirty="0">
                <a:solidFill>
                  <a:srgbClr val="C00000"/>
                </a:solidFill>
              </a:rPr>
              <a:t>差错</a:t>
            </a:r>
            <a:r>
              <a:rPr lang="zh-CN" altLang="en-US" dirty="0"/>
              <a:t>的情形</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1807610" y="4017047"/>
            <a:ext cx="1594449" cy="995523"/>
            <a:chOff x="1628570" y="3387255"/>
            <a:chExt cx="1594449" cy="995523"/>
          </a:xfrm>
        </p:grpSpPr>
        <p:sp>
          <p:nvSpPr>
            <p:cNvPr id="49" name="左大括号 48"/>
            <p:cNvSpPr/>
            <p:nvPr/>
          </p:nvSpPr>
          <p:spPr>
            <a:xfrm rot="16200000">
              <a:off x="234628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 name="矩形 49"/>
            <p:cNvSpPr/>
            <p:nvPr/>
          </p:nvSpPr>
          <p:spPr>
            <a:xfrm>
              <a:off x="1950271" y="3674892"/>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51" name="组合 50"/>
          <p:cNvGrpSpPr/>
          <p:nvPr/>
        </p:nvGrpSpPr>
        <p:grpSpPr>
          <a:xfrm>
            <a:off x="3402060" y="4017047"/>
            <a:ext cx="1594450" cy="995523"/>
            <a:chOff x="3223020" y="3387255"/>
            <a:chExt cx="1594450" cy="995523"/>
          </a:xfrm>
        </p:grpSpPr>
        <p:sp>
          <p:nvSpPr>
            <p:cNvPr id="52" name="左大括号 51"/>
            <p:cNvSpPr/>
            <p:nvPr/>
          </p:nvSpPr>
          <p:spPr>
            <a:xfrm rot="16200000">
              <a:off x="394073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3" name="矩形 52"/>
            <p:cNvSpPr/>
            <p:nvPr/>
          </p:nvSpPr>
          <p:spPr>
            <a:xfrm>
              <a:off x="3223020" y="3674892"/>
              <a:ext cx="1594450"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出现差错</a:t>
              </a:r>
            </a:p>
          </p:txBody>
        </p:sp>
      </p:grpSp>
      <p:grpSp>
        <p:nvGrpSpPr>
          <p:cNvPr id="54" name="组合 53"/>
          <p:cNvGrpSpPr/>
          <p:nvPr/>
        </p:nvGrpSpPr>
        <p:grpSpPr>
          <a:xfrm>
            <a:off x="4996510" y="4017047"/>
            <a:ext cx="2549057" cy="997132"/>
            <a:chOff x="4817470" y="3387255"/>
            <a:chExt cx="2549057" cy="997132"/>
          </a:xfrm>
        </p:grpSpPr>
        <p:sp>
          <p:nvSpPr>
            <p:cNvPr id="55" name="左大括号 54"/>
            <p:cNvSpPr/>
            <p:nvPr/>
          </p:nvSpPr>
          <p:spPr>
            <a:xfrm rot="16200000">
              <a:off x="6012487" y="2192238"/>
              <a:ext cx="159023" cy="2549057"/>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6" name="矩形 55"/>
            <p:cNvSpPr/>
            <p:nvPr/>
          </p:nvSpPr>
          <p:spPr>
            <a:xfrm>
              <a:off x="5612074" y="3676501"/>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57" name="组合 56"/>
          <p:cNvGrpSpPr/>
          <p:nvPr/>
        </p:nvGrpSpPr>
        <p:grpSpPr>
          <a:xfrm>
            <a:off x="7533574" y="4020265"/>
            <a:ext cx="1925519" cy="990138"/>
            <a:chOff x="7354534" y="3390473"/>
            <a:chExt cx="1925519" cy="990138"/>
          </a:xfrm>
        </p:grpSpPr>
        <p:sp>
          <p:nvSpPr>
            <p:cNvPr id="58" name="左大括号 57"/>
            <p:cNvSpPr/>
            <p:nvPr/>
          </p:nvSpPr>
          <p:spPr>
            <a:xfrm rot="16200000">
              <a:off x="8237782" y="2507225"/>
              <a:ext cx="159023" cy="192551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9" name="矩形 58"/>
            <p:cNvSpPr/>
            <p:nvPr/>
          </p:nvSpPr>
          <p:spPr>
            <a:xfrm>
              <a:off x="7841769" y="3672725"/>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60" name="组合 59"/>
          <p:cNvGrpSpPr/>
          <p:nvPr/>
        </p:nvGrpSpPr>
        <p:grpSpPr>
          <a:xfrm>
            <a:off x="1807610" y="3599479"/>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61" name="Rectangle 44"/>
            <p:cNvSpPr>
              <a:spLocks noChangeArrowheads="1"/>
            </p:cNvSpPr>
            <p:nvPr/>
          </p:nvSpPr>
          <p:spPr bwMode="auto">
            <a:xfrm>
              <a:off x="1465472"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p>
          </p:txBody>
        </p:sp>
        <p:sp>
          <p:nvSpPr>
            <p:cNvPr id="62" name="Rectangle 44"/>
            <p:cNvSpPr>
              <a:spLocks noChangeArrowheads="1"/>
            </p:cNvSpPr>
            <p:nvPr/>
          </p:nvSpPr>
          <p:spPr bwMode="auto">
            <a:xfrm>
              <a:off x="1784549"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3" name="Rectangle 44"/>
            <p:cNvSpPr>
              <a:spLocks noChangeArrowheads="1"/>
            </p:cNvSpPr>
            <p:nvPr/>
          </p:nvSpPr>
          <p:spPr bwMode="auto">
            <a:xfrm>
              <a:off x="2103626"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64" name="Rectangle 44"/>
            <p:cNvSpPr>
              <a:spLocks noChangeArrowheads="1"/>
            </p:cNvSpPr>
            <p:nvPr/>
          </p:nvSpPr>
          <p:spPr bwMode="auto">
            <a:xfrm>
              <a:off x="2422703"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65" name="Rectangle 44"/>
            <p:cNvSpPr>
              <a:spLocks noChangeArrowheads="1"/>
            </p:cNvSpPr>
            <p:nvPr/>
          </p:nvSpPr>
          <p:spPr bwMode="auto">
            <a:xfrm>
              <a:off x="2741780"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66" name="Rectangle 44"/>
            <p:cNvSpPr>
              <a:spLocks noChangeArrowheads="1"/>
            </p:cNvSpPr>
            <p:nvPr/>
          </p:nvSpPr>
          <p:spPr bwMode="auto">
            <a:xfrm>
              <a:off x="3060857"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p>
          </p:txBody>
        </p:sp>
        <p:sp>
          <p:nvSpPr>
            <p:cNvPr id="67" name="Rectangle 44"/>
            <p:cNvSpPr>
              <a:spLocks noChangeArrowheads="1"/>
            </p:cNvSpPr>
            <p:nvPr/>
          </p:nvSpPr>
          <p:spPr bwMode="auto">
            <a:xfrm>
              <a:off x="3379934"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8" name="Rectangle 44"/>
            <p:cNvSpPr>
              <a:spLocks noChangeArrowheads="1"/>
            </p:cNvSpPr>
            <p:nvPr/>
          </p:nvSpPr>
          <p:spPr bwMode="auto">
            <a:xfrm>
              <a:off x="3699011"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69" name="Rectangle 44"/>
            <p:cNvSpPr>
              <a:spLocks noChangeArrowheads="1"/>
            </p:cNvSpPr>
            <p:nvPr/>
          </p:nvSpPr>
          <p:spPr bwMode="auto">
            <a:xfrm>
              <a:off x="4018088"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70" name="Rectangle 44"/>
            <p:cNvSpPr>
              <a:spLocks noChangeArrowheads="1"/>
            </p:cNvSpPr>
            <p:nvPr/>
          </p:nvSpPr>
          <p:spPr bwMode="auto">
            <a:xfrm>
              <a:off x="4337165"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71" name="Rectangle 44"/>
            <p:cNvSpPr>
              <a:spLocks noChangeArrowheads="1"/>
            </p:cNvSpPr>
            <p:nvPr/>
          </p:nvSpPr>
          <p:spPr bwMode="auto">
            <a:xfrm>
              <a:off x="465624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p>
          </p:txBody>
        </p:sp>
        <p:sp>
          <p:nvSpPr>
            <p:cNvPr id="72" name="Rectangle 44"/>
            <p:cNvSpPr>
              <a:spLocks noChangeArrowheads="1"/>
            </p:cNvSpPr>
            <p:nvPr/>
          </p:nvSpPr>
          <p:spPr bwMode="auto">
            <a:xfrm>
              <a:off x="497531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3" name="Rectangle 44"/>
            <p:cNvSpPr>
              <a:spLocks noChangeArrowheads="1"/>
            </p:cNvSpPr>
            <p:nvPr/>
          </p:nvSpPr>
          <p:spPr bwMode="auto">
            <a:xfrm>
              <a:off x="529439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74" name="Rectangle 44"/>
            <p:cNvSpPr>
              <a:spLocks noChangeArrowheads="1"/>
            </p:cNvSpPr>
            <p:nvPr/>
          </p:nvSpPr>
          <p:spPr bwMode="auto">
            <a:xfrm>
              <a:off x="561347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75" name="Rectangle 44"/>
            <p:cNvSpPr>
              <a:spLocks noChangeArrowheads="1"/>
            </p:cNvSpPr>
            <p:nvPr/>
          </p:nvSpPr>
          <p:spPr bwMode="auto">
            <a:xfrm>
              <a:off x="5932550"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76" name="Rectangle 44"/>
            <p:cNvSpPr>
              <a:spLocks noChangeArrowheads="1"/>
            </p:cNvSpPr>
            <p:nvPr/>
          </p:nvSpPr>
          <p:spPr bwMode="auto">
            <a:xfrm>
              <a:off x="6251627"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p>
          </p:txBody>
        </p:sp>
        <p:sp>
          <p:nvSpPr>
            <p:cNvPr id="77" name="Rectangle 44"/>
            <p:cNvSpPr>
              <a:spLocks noChangeArrowheads="1"/>
            </p:cNvSpPr>
            <p:nvPr/>
          </p:nvSpPr>
          <p:spPr bwMode="auto">
            <a:xfrm>
              <a:off x="6570704"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a:t>
              </a:r>
            </a:p>
          </p:txBody>
        </p:sp>
        <p:sp>
          <p:nvSpPr>
            <p:cNvPr id="78" name="Rectangle 44"/>
            <p:cNvSpPr>
              <a:spLocks noChangeArrowheads="1"/>
            </p:cNvSpPr>
            <p:nvPr/>
          </p:nvSpPr>
          <p:spPr bwMode="auto">
            <a:xfrm>
              <a:off x="6889781"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a:t>
              </a:r>
            </a:p>
          </p:txBody>
        </p:sp>
        <p:sp>
          <p:nvSpPr>
            <p:cNvPr id="79" name="Rectangle 44"/>
            <p:cNvSpPr>
              <a:spLocks noChangeArrowheads="1"/>
            </p:cNvSpPr>
            <p:nvPr/>
          </p:nvSpPr>
          <p:spPr bwMode="auto">
            <a:xfrm>
              <a:off x="7208858"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p>
          </p:txBody>
        </p:sp>
        <p:sp>
          <p:nvSpPr>
            <p:cNvPr id="80" name="Rectangle 44"/>
            <p:cNvSpPr>
              <a:spLocks noChangeArrowheads="1"/>
            </p:cNvSpPr>
            <p:nvPr/>
          </p:nvSpPr>
          <p:spPr bwMode="auto">
            <a:xfrm>
              <a:off x="7527935"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1" name="Rectangle 44"/>
            <p:cNvSpPr>
              <a:spLocks noChangeArrowheads="1"/>
            </p:cNvSpPr>
            <p:nvPr/>
          </p:nvSpPr>
          <p:spPr bwMode="auto">
            <a:xfrm>
              <a:off x="784701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82" name="Rectangle 44"/>
            <p:cNvSpPr>
              <a:spLocks noChangeArrowheads="1"/>
            </p:cNvSpPr>
            <p:nvPr/>
          </p:nvSpPr>
          <p:spPr bwMode="auto">
            <a:xfrm>
              <a:off x="816608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83" name="Rectangle 44"/>
            <p:cNvSpPr>
              <a:spLocks noChangeArrowheads="1"/>
            </p:cNvSpPr>
            <p:nvPr/>
          </p:nvSpPr>
          <p:spPr bwMode="auto">
            <a:xfrm>
              <a:off x="848516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84" name="Rectangle 44"/>
            <p:cNvSpPr>
              <a:spLocks noChangeArrowheads="1"/>
            </p:cNvSpPr>
            <p:nvPr/>
          </p:nvSpPr>
          <p:spPr bwMode="auto">
            <a:xfrm>
              <a:off x="880424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p>
          </p:txBody>
        </p:sp>
      </p:grpSp>
      <p:sp>
        <p:nvSpPr>
          <p:cNvPr id="85" name="圆角矩形 84"/>
          <p:cNvSpPr/>
          <p:nvPr/>
        </p:nvSpPr>
        <p:spPr bwMode="auto">
          <a:xfrm>
            <a:off x="3361813" y="3465189"/>
            <a:ext cx="386379" cy="486742"/>
          </a:xfrm>
          <a:prstGeom prst="roundRect">
            <a:avLst>
              <a:gd name="adj" fmla="val 28217"/>
            </a:avLst>
          </a:prstGeom>
          <a:noFill/>
          <a:ln w="15875" cap="flat" cmpd="sng" algn="ctr">
            <a:solidFill>
              <a:srgbClr val="FF0000"/>
            </a:solidFill>
            <a:prstDash val="solid"/>
            <a:round/>
            <a:headEnd type="none" w="med" len="med"/>
            <a:tailEnd type="none" w="med" len="med"/>
          </a:ln>
          <a:effectLst/>
          <a:extLst/>
        </p:spPr>
        <p:txBody>
          <a:bodyPr vert="horz" wrap="square" lIns="0" tIns="0" rIns="0" bIns="0" numCol="1" rtlCol="0" anchor="t" anchorCtr="0" compatLnSpc="1">
            <a:prstTxWarp prst="textNoShape">
              <a:avLst/>
            </a:prstTxWarp>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imes New Roman" pitchFamily="18" charset="0"/>
              <a:ea typeface="楷体" pitchFamily="49" charset="-122"/>
              <a:cs typeface="+mn-cs"/>
            </a:endParaRPr>
          </a:p>
        </p:txBody>
      </p:sp>
      <p:sp>
        <p:nvSpPr>
          <p:cNvPr id="86" name="任意多边形 85"/>
          <p:cNvSpPr/>
          <p:nvPr/>
        </p:nvSpPr>
        <p:spPr>
          <a:xfrm>
            <a:off x="3563332" y="2843020"/>
            <a:ext cx="2227782"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7" name="任意多边形 86"/>
          <p:cNvSpPr/>
          <p:nvPr/>
        </p:nvSpPr>
        <p:spPr>
          <a:xfrm>
            <a:off x="6086174" y="2843020"/>
            <a:ext cx="655988"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8" name="任意多边形 87"/>
          <p:cNvSpPr/>
          <p:nvPr/>
        </p:nvSpPr>
        <p:spPr>
          <a:xfrm>
            <a:off x="7093441" y="2843019"/>
            <a:ext cx="1517159"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9" name="任意多边形 88"/>
          <p:cNvSpPr/>
          <p:nvPr/>
        </p:nvSpPr>
        <p:spPr>
          <a:xfrm>
            <a:off x="9050210" y="2843018"/>
            <a:ext cx="872169"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0" name="矩形 89"/>
          <p:cNvSpPr/>
          <p:nvPr/>
        </p:nvSpPr>
        <p:spPr>
          <a:xfrm>
            <a:off x="4519764" y="5560045"/>
            <a:ext cx="5954272" cy="461665"/>
          </a:xfrm>
          <a:prstGeom prst="rect">
            <a:avLst/>
          </a:prstGeom>
          <a:noFill/>
          <a:ln>
            <a:noFill/>
          </a:ln>
        </p:spPr>
        <p:txBody>
          <a:bodyPr wrap="square">
            <a:spAutoFit/>
          </a:bodyPr>
          <a:lstStyle/>
          <a:p>
            <a:pPr lvl="0" algn="ctr" fontAlgn="base">
              <a:spcBef>
                <a:spcPct val="50000"/>
              </a:spcBef>
              <a:spcAft>
                <a:spcPct val="0"/>
              </a:spcAft>
              <a:defRPr/>
            </a:pPr>
            <a:r>
              <a:rPr kumimoji="1"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破坏了帧的边界，</a:t>
            </a:r>
            <a:r>
              <a:rPr kumimoji="1" lang="zh-CN" altLang="en-US" sz="2400" dirty="0">
                <a:solidFill>
                  <a:srgbClr val="C00000"/>
                </a:solidFill>
                <a:latin typeface="微软雅黑" panose="020B0503020204020204" pitchFamily="34" charset="-122"/>
                <a:ea typeface="微软雅黑" panose="020B0503020204020204" pitchFamily="34" charset="-122"/>
              </a:rPr>
              <a:t>导致一连串帧的错误</a:t>
            </a:r>
          </a:p>
        </p:txBody>
      </p:sp>
      <p:sp>
        <p:nvSpPr>
          <p:cNvPr id="91" name="任意多边形 90"/>
          <p:cNvSpPr/>
          <p:nvPr/>
        </p:nvSpPr>
        <p:spPr>
          <a:xfrm>
            <a:off x="1967148" y="2843017"/>
            <a:ext cx="1250185"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02374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left)">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wipe(left)">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wipe(left)">
                                      <p:cBhvr>
                                        <p:cTn id="17" dur="500"/>
                                        <p:tgtEl>
                                          <p:spTgt spid="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
                                        </p:tgtEl>
                                        <p:attrNameLst>
                                          <p:attrName>style.visibility</p:attrName>
                                        </p:attrNameLst>
                                      </p:cBhvr>
                                      <p:to>
                                        <p:strVal val="visible"/>
                                      </p:to>
                                    </p:set>
                                    <p:animEffect transition="in" filter="wipe(left)">
                                      <p:cBhvr>
                                        <p:cTn id="22" dur="500"/>
                                        <p:tgtEl>
                                          <p:spTgt spid="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9"/>
                                        </p:tgtEl>
                                        <p:attrNameLst>
                                          <p:attrName>style.visibility</p:attrName>
                                        </p:attrNameLst>
                                      </p:cBhvr>
                                      <p:to>
                                        <p:strVal val="visible"/>
                                      </p:to>
                                    </p:set>
                                    <p:animEffect transition="in" filter="wipe(left)">
                                      <p:cBhvr>
                                        <p:cTn id="27" dur="500"/>
                                        <p:tgtEl>
                                          <p:spTgt spid="89"/>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90"/>
                                        </p:tgtEl>
                                        <p:attrNameLst>
                                          <p:attrName>style.visibility</p:attrName>
                                        </p:attrNameLst>
                                      </p:cBhvr>
                                      <p:to>
                                        <p:strVal val="visible"/>
                                      </p:to>
                                    </p:set>
                                    <p:animEffect transition="in" filter="wipe(left)">
                                      <p:cBhvr>
                                        <p:cTn id="31"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7" grpId="0" animBg="1"/>
      <p:bldP spid="88" grpId="0" animBg="1"/>
      <p:bldP spid="89" grpId="0" animBg="1"/>
      <p:bldP spid="90" grpId="0"/>
      <p:bldP spid="9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838200" y="1510758"/>
            <a:ext cx="10515600" cy="4128042"/>
          </a:xfrm>
        </p:spPr>
        <p:txBody>
          <a:bodyPr/>
          <a:lstStyle/>
          <a:p>
            <a:pPr>
              <a:lnSpc>
                <a:spcPts val="3600"/>
              </a:lnSpc>
            </a:pPr>
            <a:r>
              <a:rPr lang="zh-CN" altLang="en-US" dirty="0">
                <a:solidFill>
                  <a:srgbClr val="C00000"/>
                </a:solidFill>
              </a:rPr>
              <a:t>带字节填充的定界符法</a:t>
            </a:r>
            <a:endParaRPr lang="en-US" altLang="zh-CN" dirty="0">
              <a:solidFill>
                <a:srgbClr val="C00000"/>
              </a:solidFill>
            </a:endParaRPr>
          </a:p>
          <a:p>
            <a:pPr lvl="1">
              <a:lnSpc>
                <a:spcPts val="3600"/>
              </a:lnSpc>
            </a:pPr>
            <a:r>
              <a:rPr lang="zh-CN" altLang="en-US" dirty="0"/>
              <a:t>定界符（</a:t>
            </a:r>
            <a:r>
              <a:rPr lang="en-US" altLang="zh-CN" dirty="0"/>
              <a:t>FLAG</a:t>
            </a:r>
            <a:r>
              <a:rPr lang="zh-CN" altLang="en-US" dirty="0"/>
              <a:t>）：一个特殊的字节，比如 </a:t>
            </a:r>
            <a:r>
              <a:rPr lang="en-US" altLang="zh-CN" dirty="0"/>
              <a:t>01111110</a:t>
            </a:r>
            <a:r>
              <a:rPr lang="zh-CN" altLang="en-US" dirty="0"/>
              <a:t>，即 </a:t>
            </a:r>
            <a:r>
              <a:rPr lang="en-US" altLang="zh-CN" dirty="0"/>
              <a:t>0x7E</a:t>
            </a:r>
            <a:r>
              <a:rPr lang="zh-CN" altLang="en-US" dirty="0"/>
              <a:t>，用于区分前后两个不同的帧</a:t>
            </a: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92" name="组合 91"/>
          <p:cNvGrpSpPr/>
          <p:nvPr/>
        </p:nvGrpSpPr>
        <p:grpSpPr>
          <a:xfrm>
            <a:off x="1658816" y="4179175"/>
            <a:ext cx="9023380" cy="431800"/>
            <a:chOff x="1489333" y="4202333"/>
            <a:chExt cx="9023380" cy="431800"/>
          </a:xfrm>
          <a:solidFill>
            <a:schemeClr val="bg1">
              <a:lumMod val="95000"/>
            </a:schemeClr>
          </a:solidFill>
          <a:scene3d>
            <a:camera prst="orthographicFront">
              <a:rot lat="0" lon="0" rev="0"/>
            </a:camera>
            <a:lightRig rig="soft" dir="t">
              <a:rot lat="0" lon="0" rev="0"/>
            </a:lightRig>
          </a:scene3d>
        </p:grpSpPr>
        <p:sp>
          <p:nvSpPr>
            <p:cNvPr id="93" name="Rectangle 10"/>
            <p:cNvSpPr>
              <a:spLocks noChangeArrowheads="1"/>
            </p:cNvSpPr>
            <p:nvPr/>
          </p:nvSpPr>
          <p:spPr bwMode="auto">
            <a:xfrm>
              <a:off x="1489333"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sp>
          <p:nvSpPr>
            <p:cNvPr id="94" name="Rectangle 10"/>
            <p:cNvSpPr>
              <a:spLocks noChangeArrowheads="1"/>
            </p:cNvSpPr>
            <p:nvPr/>
          </p:nvSpPr>
          <p:spPr bwMode="auto">
            <a:xfrm>
              <a:off x="2257505"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头标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endParaRPr>
            </a:p>
          </p:txBody>
        </p:sp>
        <p:sp>
          <p:nvSpPr>
            <p:cNvPr id="95" name="Rectangle 10"/>
            <p:cNvSpPr>
              <a:spLocks noChangeArrowheads="1"/>
            </p:cNvSpPr>
            <p:nvPr/>
          </p:nvSpPr>
          <p:spPr bwMode="auto">
            <a:xfrm>
              <a:off x="3025678" y="4202333"/>
              <a:ext cx="5950690"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有效载荷</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endParaRPr>
            </a:p>
          </p:txBody>
        </p:sp>
        <p:sp>
          <p:nvSpPr>
            <p:cNvPr id="96" name="Rectangle 10"/>
            <p:cNvSpPr>
              <a:spLocks noChangeArrowheads="1"/>
            </p:cNvSpPr>
            <p:nvPr/>
          </p:nvSpPr>
          <p:spPr bwMode="auto">
            <a:xfrm>
              <a:off x="8976367"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尾标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endParaRPr>
            </a:p>
          </p:txBody>
        </p:sp>
        <p:sp>
          <p:nvSpPr>
            <p:cNvPr id="97" name="Rectangle 10"/>
            <p:cNvSpPr>
              <a:spLocks noChangeArrowheads="1"/>
            </p:cNvSpPr>
            <p:nvPr/>
          </p:nvSpPr>
          <p:spPr bwMode="auto">
            <a:xfrm>
              <a:off x="9744540"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grpSp>
        <p:nvGrpSpPr>
          <p:cNvPr id="98" name="组合 97"/>
          <p:cNvGrpSpPr/>
          <p:nvPr/>
        </p:nvGrpSpPr>
        <p:grpSpPr>
          <a:xfrm>
            <a:off x="2426989" y="4798007"/>
            <a:ext cx="7487034" cy="717655"/>
            <a:chOff x="2257506" y="4821165"/>
            <a:chExt cx="7487034" cy="717655"/>
          </a:xfrm>
        </p:grpSpPr>
        <p:sp>
          <p:nvSpPr>
            <p:cNvPr id="99" name="左大括号 98"/>
            <p:cNvSpPr/>
            <p:nvPr/>
          </p:nvSpPr>
          <p:spPr>
            <a:xfrm rot="16200000">
              <a:off x="5921511" y="1157160"/>
              <a:ext cx="159023" cy="7487034"/>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0" name="矩形 99"/>
            <p:cNvSpPr/>
            <p:nvPr/>
          </p:nvSpPr>
          <p:spPr>
            <a:xfrm>
              <a:off x="5282710" y="5138710"/>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一个帧</a:t>
              </a:r>
            </a:p>
          </p:txBody>
        </p:sp>
      </p:grpSp>
      <p:sp>
        <p:nvSpPr>
          <p:cNvPr id="101" name="椭圆形标注 100"/>
          <p:cNvSpPr/>
          <p:nvPr/>
        </p:nvSpPr>
        <p:spPr>
          <a:xfrm>
            <a:off x="1140037" y="3355126"/>
            <a:ext cx="1388498" cy="637017"/>
          </a:xfrm>
          <a:prstGeom prst="wedgeEllipseCallout">
            <a:avLst>
              <a:gd name="adj1" fmla="val 12100"/>
              <a:gd name="adj2" fmla="val 7024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定界符</a:t>
            </a:r>
            <a:endParaRPr kumimoji="0" lang="zh-CN" altLang="en-US" sz="2000" b="0"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endParaRPr>
          </a:p>
        </p:txBody>
      </p:sp>
      <p:sp>
        <p:nvSpPr>
          <p:cNvPr id="102" name="椭圆形标注 101"/>
          <p:cNvSpPr/>
          <p:nvPr/>
        </p:nvSpPr>
        <p:spPr>
          <a:xfrm>
            <a:off x="9457434" y="3355126"/>
            <a:ext cx="1388498" cy="637017"/>
          </a:xfrm>
          <a:prstGeom prst="wedgeEllipseCallout">
            <a:avLst>
              <a:gd name="adj1" fmla="val 12100"/>
              <a:gd name="adj2" fmla="val 7024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定界符</a:t>
            </a:r>
            <a:endParaRPr kumimoji="0" lang="zh-CN" altLang="en-US" sz="2000" b="0"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endParaRPr>
          </a:p>
        </p:txBody>
      </p:sp>
      <p:sp>
        <p:nvSpPr>
          <p:cNvPr id="103" name="文本框 102"/>
          <p:cNvSpPr txBox="1"/>
          <p:nvPr/>
        </p:nvSpPr>
        <p:spPr>
          <a:xfrm>
            <a:off x="1431235" y="5739773"/>
            <a:ext cx="8839200" cy="430887"/>
          </a:xfrm>
          <a:prstGeom prst="rect">
            <a:avLst/>
          </a:prstGeom>
          <a:solidFill>
            <a:schemeClr val="accent4">
              <a:lumMod val="20000"/>
              <a:lumOff val="80000"/>
            </a:schemeClr>
          </a:solidFill>
          <a:ln>
            <a:solidFill>
              <a:schemeClr val="accent4">
                <a:lumMod val="20000"/>
                <a:lumOff val="80000"/>
              </a:schemeClr>
            </a:solidFill>
          </a:ln>
        </p:spPr>
        <p:txBody>
          <a:bodyPr wrap="square" rtlCol="0">
            <a:spAutoFit/>
          </a:bodyPr>
          <a:lstStyle/>
          <a:p>
            <a:pPr algn="ctr"/>
            <a:r>
              <a:rPr lang="zh-CN" altLang="en-US" sz="2200" dirty="0">
                <a:latin typeface="微软雅黑" panose="020B0503020204020204" pitchFamily="34" charset="-122"/>
                <a:ea typeface="微软雅黑" panose="020B0503020204020204" pitchFamily="34" charset="-122"/>
              </a:rPr>
              <a:t>问题：如果有效载荷部分包含与“</a:t>
            </a:r>
            <a:r>
              <a:rPr lang="zh-CN" altLang="en-US" sz="2200" dirty="0">
                <a:solidFill>
                  <a:srgbClr val="C00000"/>
                </a:solidFill>
                <a:latin typeface="微软雅黑" panose="020B0503020204020204" pitchFamily="34" charset="-122"/>
                <a:ea typeface="微软雅黑" panose="020B0503020204020204" pitchFamily="34" charset="-122"/>
              </a:rPr>
              <a:t>定界符</a:t>
            </a:r>
            <a:r>
              <a:rPr lang="zh-CN" altLang="en-US" sz="2200" dirty="0">
                <a:latin typeface="微软雅黑" panose="020B0503020204020204" pitchFamily="34" charset="-122"/>
                <a:ea typeface="微软雅黑" panose="020B0503020204020204" pitchFamily="34" charset="-122"/>
              </a:rPr>
              <a:t>”相同的字节会有什么问题？</a:t>
            </a:r>
          </a:p>
        </p:txBody>
      </p:sp>
    </p:spTree>
    <p:extLst>
      <p:ext uri="{BB962C8B-B14F-4D97-AF65-F5344CB8AC3E}">
        <p14:creationId xmlns:p14="http://schemas.microsoft.com/office/powerpoint/2010/main" val="46704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left)">
                                      <p:cBhvr>
                                        <p:cTn id="7" dur="500"/>
                                        <p:tgtEl>
                                          <p:spTgt spid="9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8"/>
                                        </p:tgtEl>
                                        <p:attrNameLst>
                                          <p:attrName>style.visibility</p:attrName>
                                        </p:attrNameLst>
                                      </p:cBhvr>
                                      <p:to>
                                        <p:strVal val="visible"/>
                                      </p:to>
                                    </p:set>
                                    <p:animEffect transition="in" filter="wipe(up)">
                                      <p:cBhvr>
                                        <p:cTn id="11" dur="500"/>
                                        <p:tgtEl>
                                          <p:spTgt spid="9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1"/>
                                        </p:tgtEl>
                                        <p:attrNameLst>
                                          <p:attrName>style.visibility</p:attrName>
                                        </p:attrNameLst>
                                      </p:cBhvr>
                                      <p:to>
                                        <p:strVal val="visible"/>
                                      </p:to>
                                    </p:set>
                                    <p:animEffect transition="in" filter="wipe(left)">
                                      <p:cBhvr>
                                        <p:cTn id="16" dur="500"/>
                                        <p:tgtEl>
                                          <p:spTgt spid="101"/>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02"/>
                                        </p:tgtEl>
                                        <p:attrNameLst>
                                          <p:attrName>style.visibility</p:attrName>
                                        </p:attrNameLst>
                                      </p:cBhvr>
                                      <p:to>
                                        <p:strVal val="visible"/>
                                      </p:to>
                                    </p:set>
                                    <p:animEffect transition="in" filter="wipe(left)">
                                      <p:cBhvr>
                                        <p:cTn id="20" dur="500"/>
                                        <p:tgtEl>
                                          <p:spTgt spid="10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pPr>
            <a:r>
              <a:rPr lang="zh-CN" altLang="en-US" dirty="0">
                <a:solidFill>
                  <a:srgbClr val="C00000"/>
                </a:solidFill>
              </a:rPr>
              <a:t>带字节填充的定界符法：</a:t>
            </a:r>
            <a:r>
              <a:rPr lang="zh-CN" altLang="en-US" dirty="0"/>
              <a:t>发送方检查有效载荷，进行字节填充</a:t>
            </a:r>
            <a:endParaRPr lang="en-US" altLang="zh-CN" dirty="0"/>
          </a:p>
          <a:p>
            <a:pPr>
              <a:lnSpc>
                <a:spcPts val="3600"/>
              </a:lnSpc>
            </a:pP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1342935" y="2391137"/>
            <a:ext cx="9023380" cy="431800"/>
            <a:chOff x="1489333" y="4202333"/>
            <a:chExt cx="9023380" cy="431800"/>
          </a:xfrm>
          <a:solidFill>
            <a:schemeClr val="bg1">
              <a:lumMod val="95000"/>
            </a:schemeClr>
          </a:solidFill>
          <a:scene3d>
            <a:camera prst="orthographicFront">
              <a:rot lat="0" lon="0" rev="0"/>
            </a:camera>
            <a:lightRig rig="soft" dir="t">
              <a:rot lat="0" lon="0" rev="0"/>
            </a:lightRig>
          </a:scene3d>
        </p:grpSpPr>
        <p:sp>
          <p:nvSpPr>
            <p:cNvPr id="19" name="Rectangle 10"/>
            <p:cNvSpPr>
              <a:spLocks noChangeArrowheads="1"/>
            </p:cNvSpPr>
            <p:nvPr/>
          </p:nvSpPr>
          <p:spPr bwMode="auto">
            <a:xfrm>
              <a:off x="1489333"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sp>
          <p:nvSpPr>
            <p:cNvPr id="20" name="Rectangle 10"/>
            <p:cNvSpPr>
              <a:spLocks noChangeArrowheads="1"/>
            </p:cNvSpPr>
            <p:nvPr/>
          </p:nvSpPr>
          <p:spPr bwMode="auto">
            <a:xfrm>
              <a:off x="2257505"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头标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endParaRPr>
            </a:p>
          </p:txBody>
        </p:sp>
        <p:sp>
          <p:nvSpPr>
            <p:cNvPr id="21" name="Rectangle 10"/>
            <p:cNvSpPr>
              <a:spLocks noChangeArrowheads="1"/>
            </p:cNvSpPr>
            <p:nvPr/>
          </p:nvSpPr>
          <p:spPr bwMode="auto">
            <a:xfrm>
              <a:off x="3025678" y="4202333"/>
              <a:ext cx="5950690"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有效载荷</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endParaRPr>
            </a:p>
          </p:txBody>
        </p:sp>
        <p:sp>
          <p:nvSpPr>
            <p:cNvPr id="22" name="Rectangle 10"/>
            <p:cNvSpPr>
              <a:spLocks noChangeArrowheads="1"/>
            </p:cNvSpPr>
            <p:nvPr/>
          </p:nvSpPr>
          <p:spPr bwMode="auto">
            <a:xfrm>
              <a:off x="8976367"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尾标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endParaRPr>
            </a:p>
          </p:txBody>
        </p:sp>
        <p:sp>
          <p:nvSpPr>
            <p:cNvPr id="23" name="Rectangle 10"/>
            <p:cNvSpPr>
              <a:spLocks noChangeArrowheads="1"/>
            </p:cNvSpPr>
            <p:nvPr/>
          </p:nvSpPr>
          <p:spPr bwMode="auto">
            <a:xfrm>
              <a:off x="9744540"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grpSp>
        <p:nvGrpSpPr>
          <p:cNvPr id="24" name="组合 23"/>
          <p:cNvGrpSpPr/>
          <p:nvPr/>
        </p:nvGrpSpPr>
        <p:grpSpPr>
          <a:xfrm>
            <a:off x="1342934" y="3490312"/>
            <a:ext cx="2304517" cy="431800"/>
            <a:chOff x="1307508" y="3151494"/>
            <a:chExt cx="2304517" cy="431800"/>
          </a:xfrm>
          <a:solidFill>
            <a:schemeClr val="bg1">
              <a:lumMod val="95000"/>
            </a:schemeClr>
          </a:solidFill>
          <a:scene3d>
            <a:camera prst="orthographicFront">
              <a:rot lat="0" lon="0" rev="0"/>
            </a:camera>
            <a:lightRig rig="soft" dir="t">
              <a:rot lat="0" lon="0" rev="0"/>
            </a:lightRig>
          </a:scene3d>
        </p:grpSpPr>
        <p:sp>
          <p:nvSpPr>
            <p:cNvPr id="25" name="Rectangle 10"/>
            <p:cNvSpPr>
              <a:spLocks noChangeArrowheads="1"/>
            </p:cNvSpPr>
            <p:nvPr/>
          </p:nvSpPr>
          <p:spPr bwMode="auto">
            <a:xfrm>
              <a:off x="2075680" y="315149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sp>
          <p:nvSpPr>
            <p:cNvPr id="26" name="Rectangle 10"/>
            <p:cNvSpPr>
              <a:spLocks noChangeArrowheads="1"/>
            </p:cNvSpPr>
            <p:nvPr/>
          </p:nvSpPr>
          <p:spPr bwMode="auto">
            <a:xfrm>
              <a:off x="2843852" y="315149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27" name="Rectangle 10"/>
            <p:cNvSpPr>
              <a:spLocks noChangeArrowheads="1"/>
            </p:cNvSpPr>
            <p:nvPr/>
          </p:nvSpPr>
          <p:spPr bwMode="auto">
            <a:xfrm>
              <a:off x="1307508" y="315149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grpSp>
      <p:sp>
        <p:nvSpPr>
          <p:cNvPr id="28" name="Line 78"/>
          <p:cNvSpPr>
            <a:spLocks noChangeShapeType="1"/>
          </p:cNvSpPr>
          <p:nvPr/>
        </p:nvSpPr>
        <p:spPr bwMode="auto">
          <a:xfrm flipH="1">
            <a:off x="2600146" y="2619253"/>
            <a:ext cx="1282922" cy="701974"/>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29" name="组合 28"/>
          <p:cNvGrpSpPr/>
          <p:nvPr/>
        </p:nvGrpSpPr>
        <p:grpSpPr>
          <a:xfrm>
            <a:off x="1342935" y="4197978"/>
            <a:ext cx="2304517" cy="431800"/>
            <a:chOff x="1307509" y="3859160"/>
            <a:chExt cx="2304517" cy="431800"/>
          </a:xfrm>
          <a:solidFill>
            <a:schemeClr val="bg1">
              <a:lumMod val="95000"/>
            </a:schemeClr>
          </a:solidFill>
          <a:scene3d>
            <a:camera prst="orthographicFront">
              <a:rot lat="0" lon="0" rev="0"/>
            </a:camera>
            <a:lightRig rig="soft" dir="t">
              <a:rot lat="0" lon="0" rev="0"/>
            </a:lightRig>
          </a:scene3d>
        </p:grpSpPr>
        <p:sp>
          <p:nvSpPr>
            <p:cNvPr id="30" name="Rectangle 10"/>
            <p:cNvSpPr>
              <a:spLocks noChangeArrowheads="1"/>
            </p:cNvSpPr>
            <p:nvPr/>
          </p:nvSpPr>
          <p:spPr bwMode="auto">
            <a:xfrm>
              <a:off x="2075681" y="385916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31" name="Rectangle 10"/>
            <p:cNvSpPr>
              <a:spLocks noChangeArrowheads="1"/>
            </p:cNvSpPr>
            <p:nvPr/>
          </p:nvSpPr>
          <p:spPr bwMode="auto">
            <a:xfrm>
              <a:off x="2843853" y="385916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32" name="Rectangle 10"/>
            <p:cNvSpPr>
              <a:spLocks noChangeArrowheads="1"/>
            </p:cNvSpPr>
            <p:nvPr/>
          </p:nvSpPr>
          <p:spPr bwMode="auto">
            <a:xfrm>
              <a:off x="1307509" y="385916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grpSp>
      <p:sp>
        <p:nvSpPr>
          <p:cNvPr id="33" name="Line 23"/>
          <p:cNvSpPr>
            <a:spLocks noChangeShapeType="1"/>
          </p:cNvSpPr>
          <p:nvPr/>
        </p:nvSpPr>
        <p:spPr bwMode="auto">
          <a:xfrm>
            <a:off x="5152794" y="3710204"/>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34" name="组合 33"/>
          <p:cNvGrpSpPr/>
          <p:nvPr/>
        </p:nvGrpSpPr>
        <p:grpSpPr>
          <a:xfrm>
            <a:off x="6114716" y="3490312"/>
            <a:ext cx="3072691" cy="431800"/>
            <a:chOff x="6079290" y="3151494"/>
            <a:chExt cx="3072691" cy="431800"/>
          </a:xfrm>
        </p:grpSpPr>
        <p:sp>
          <p:nvSpPr>
            <p:cNvPr id="35" name="Rectangle 10"/>
            <p:cNvSpPr>
              <a:spLocks noChangeArrowheads="1"/>
            </p:cNvSpPr>
            <p:nvPr/>
          </p:nvSpPr>
          <p:spPr bwMode="auto">
            <a:xfrm>
              <a:off x="6847462"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36" name="Rectangle 10"/>
            <p:cNvSpPr>
              <a:spLocks noChangeArrowheads="1"/>
            </p:cNvSpPr>
            <p:nvPr/>
          </p:nvSpPr>
          <p:spPr bwMode="auto">
            <a:xfrm>
              <a:off x="8383808"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37" name="Rectangle 10"/>
            <p:cNvSpPr>
              <a:spLocks noChangeArrowheads="1"/>
            </p:cNvSpPr>
            <p:nvPr/>
          </p:nvSpPr>
          <p:spPr bwMode="auto">
            <a:xfrm>
              <a:off x="6079290"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38" name="Rectangle 10"/>
            <p:cNvSpPr>
              <a:spLocks noChangeArrowheads="1"/>
            </p:cNvSpPr>
            <p:nvPr/>
          </p:nvSpPr>
          <p:spPr bwMode="auto">
            <a:xfrm>
              <a:off x="7615635"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grpSp>
        <p:nvGrpSpPr>
          <p:cNvPr id="39" name="组合 38"/>
          <p:cNvGrpSpPr/>
          <p:nvPr/>
        </p:nvGrpSpPr>
        <p:grpSpPr>
          <a:xfrm>
            <a:off x="1342933" y="4918802"/>
            <a:ext cx="3072691" cy="431800"/>
            <a:chOff x="1307507" y="4579984"/>
            <a:chExt cx="3072691" cy="431800"/>
          </a:xfrm>
          <a:solidFill>
            <a:schemeClr val="bg1">
              <a:lumMod val="95000"/>
            </a:schemeClr>
          </a:solidFill>
          <a:scene3d>
            <a:camera prst="orthographicFront">
              <a:rot lat="0" lon="0" rev="0"/>
            </a:camera>
            <a:lightRig rig="soft" dir="t">
              <a:rot lat="0" lon="0" rev="0"/>
            </a:lightRig>
          </a:scene3d>
        </p:grpSpPr>
        <p:sp>
          <p:nvSpPr>
            <p:cNvPr id="40" name="Rectangle 10"/>
            <p:cNvSpPr>
              <a:spLocks noChangeArrowheads="1"/>
            </p:cNvSpPr>
            <p:nvPr/>
          </p:nvSpPr>
          <p:spPr bwMode="auto">
            <a:xfrm>
              <a:off x="2075679"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41" name="Rectangle 10"/>
            <p:cNvSpPr>
              <a:spLocks noChangeArrowheads="1"/>
            </p:cNvSpPr>
            <p:nvPr/>
          </p:nvSpPr>
          <p:spPr bwMode="auto">
            <a:xfrm>
              <a:off x="3612025"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42" name="Rectangle 10"/>
            <p:cNvSpPr>
              <a:spLocks noChangeArrowheads="1"/>
            </p:cNvSpPr>
            <p:nvPr/>
          </p:nvSpPr>
          <p:spPr bwMode="auto">
            <a:xfrm>
              <a:off x="1307507"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43" name="Rectangle 10"/>
            <p:cNvSpPr>
              <a:spLocks noChangeArrowheads="1"/>
            </p:cNvSpPr>
            <p:nvPr/>
          </p:nvSpPr>
          <p:spPr bwMode="auto">
            <a:xfrm>
              <a:off x="2843852"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grpSp>
        <p:nvGrpSpPr>
          <p:cNvPr id="44" name="组合 43"/>
          <p:cNvGrpSpPr/>
          <p:nvPr/>
        </p:nvGrpSpPr>
        <p:grpSpPr>
          <a:xfrm>
            <a:off x="1342935" y="5626468"/>
            <a:ext cx="3072691" cy="431800"/>
            <a:chOff x="1307509" y="5287650"/>
            <a:chExt cx="3072691" cy="431800"/>
          </a:xfrm>
          <a:solidFill>
            <a:schemeClr val="bg1">
              <a:lumMod val="95000"/>
            </a:schemeClr>
          </a:solidFill>
          <a:scene3d>
            <a:camera prst="orthographicFront">
              <a:rot lat="0" lon="0" rev="0"/>
            </a:camera>
            <a:lightRig rig="soft" dir="t">
              <a:rot lat="0" lon="0" rev="0"/>
            </a:lightRig>
          </a:scene3d>
        </p:grpSpPr>
        <p:sp>
          <p:nvSpPr>
            <p:cNvPr id="45" name="Rectangle 10"/>
            <p:cNvSpPr>
              <a:spLocks noChangeArrowheads="1"/>
            </p:cNvSpPr>
            <p:nvPr/>
          </p:nvSpPr>
          <p:spPr bwMode="auto">
            <a:xfrm>
              <a:off x="2075681"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46" name="Rectangle 10"/>
            <p:cNvSpPr>
              <a:spLocks noChangeArrowheads="1"/>
            </p:cNvSpPr>
            <p:nvPr/>
          </p:nvSpPr>
          <p:spPr bwMode="auto">
            <a:xfrm>
              <a:off x="3612027"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47" name="Rectangle 10"/>
            <p:cNvSpPr>
              <a:spLocks noChangeArrowheads="1"/>
            </p:cNvSpPr>
            <p:nvPr/>
          </p:nvSpPr>
          <p:spPr bwMode="auto">
            <a:xfrm>
              <a:off x="1307509"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48" name="Rectangle 10"/>
            <p:cNvSpPr>
              <a:spLocks noChangeArrowheads="1"/>
            </p:cNvSpPr>
            <p:nvPr/>
          </p:nvSpPr>
          <p:spPr bwMode="auto">
            <a:xfrm>
              <a:off x="2843854"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grpSp>
      <p:sp>
        <p:nvSpPr>
          <p:cNvPr id="49" name="Line 23"/>
          <p:cNvSpPr>
            <a:spLocks noChangeShapeType="1"/>
          </p:cNvSpPr>
          <p:nvPr/>
        </p:nvSpPr>
        <p:spPr bwMode="auto">
          <a:xfrm>
            <a:off x="5152794" y="4417870"/>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50" name="组合 49"/>
          <p:cNvGrpSpPr/>
          <p:nvPr/>
        </p:nvGrpSpPr>
        <p:grpSpPr>
          <a:xfrm>
            <a:off x="6114716" y="4197978"/>
            <a:ext cx="3072691" cy="431800"/>
            <a:chOff x="6079290" y="3859160"/>
            <a:chExt cx="3072691" cy="431800"/>
          </a:xfrm>
        </p:grpSpPr>
        <p:sp>
          <p:nvSpPr>
            <p:cNvPr id="51" name="Rectangle 10"/>
            <p:cNvSpPr>
              <a:spLocks noChangeArrowheads="1"/>
            </p:cNvSpPr>
            <p:nvPr/>
          </p:nvSpPr>
          <p:spPr bwMode="auto">
            <a:xfrm>
              <a:off x="6847462"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52" name="Rectangle 10"/>
            <p:cNvSpPr>
              <a:spLocks noChangeArrowheads="1"/>
            </p:cNvSpPr>
            <p:nvPr/>
          </p:nvSpPr>
          <p:spPr bwMode="auto">
            <a:xfrm>
              <a:off x="8383808"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53" name="Rectangle 10"/>
            <p:cNvSpPr>
              <a:spLocks noChangeArrowheads="1"/>
            </p:cNvSpPr>
            <p:nvPr/>
          </p:nvSpPr>
          <p:spPr bwMode="auto">
            <a:xfrm>
              <a:off x="6079290"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54" name="Rectangle 10"/>
            <p:cNvSpPr>
              <a:spLocks noChangeArrowheads="1"/>
            </p:cNvSpPr>
            <p:nvPr/>
          </p:nvSpPr>
          <p:spPr bwMode="auto">
            <a:xfrm>
              <a:off x="7615635"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grpSp>
      <p:sp>
        <p:nvSpPr>
          <p:cNvPr id="55" name="Line 23"/>
          <p:cNvSpPr>
            <a:spLocks noChangeShapeType="1"/>
          </p:cNvSpPr>
          <p:nvPr/>
        </p:nvSpPr>
        <p:spPr bwMode="auto">
          <a:xfrm>
            <a:off x="5152793" y="5138694"/>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56" name="组合 55"/>
          <p:cNvGrpSpPr/>
          <p:nvPr/>
        </p:nvGrpSpPr>
        <p:grpSpPr>
          <a:xfrm>
            <a:off x="6114715" y="4918802"/>
            <a:ext cx="4609034" cy="431844"/>
            <a:chOff x="6079289" y="4579984"/>
            <a:chExt cx="4609034" cy="431844"/>
          </a:xfrm>
        </p:grpSpPr>
        <p:sp>
          <p:nvSpPr>
            <p:cNvPr id="57" name="Rectangle 10"/>
            <p:cNvSpPr>
              <a:spLocks noChangeArrowheads="1"/>
            </p:cNvSpPr>
            <p:nvPr/>
          </p:nvSpPr>
          <p:spPr bwMode="auto">
            <a:xfrm>
              <a:off x="6847461"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58" name="Rectangle 10"/>
            <p:cNvSpPr>
              <a:spLocks noChangeArrowheads="1"/>
            </p:cNvSpPr>
            <p:nvPr/>
          </p:nvSpPr>
          <p:spPr bwMode="auto">
            <a:xfrm>
              <a:off x="9920150"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59" name="Rectangle 10"/>
            <p:cNvSpPr>
              <a:spLocks noChangeArrowheads="1"/>
            </p:cNvSpPr>
            <p:nvPr/>
          </p:nvSpPr>
          <p:spPr bwMode="auto">
            <a:xfrm>
              <a:off x="6079289"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60" name="Rectangle 10"/>
            <p:cNvSpPr>
              <a:spLocks noChangeArrowheads="1"/>
            </p:cNvSpPr>
            <p:nvPr/>
          </p:nvSpPr>
          <p:spPr bwMode="auto">
            <a:xfrm>
              <a:off x="7615634"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61" name="Rectangle 10"/>
            <p:cNvSpPr>
              <a:spLocks noChangeArrowheads="1"/>
            </p:cNvSpPr>
            <p:nvPr/>
          </p:nvSpPr>
          <p:spPr bwMode="auto">
            <a:xfrm>
              <a:off x="8383806" y="4580028"/>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62" name="Rectangle 10"/>
            <p:cNvSpPr>
              <a:spLocks noChangeArrowheads="1"/>
            </p:cNvSpPr>
            <p:nvPr/>
          </p:nvSpPr>
          <p:spPr bwMode="auto">
            <a:xfrm>
              <a:off x="9151979" y="4580028"/>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sp>
        <p:nvSpPr>
          <p:cNvPr id="63" name="Line 23"/>
          <p:cNvSpPr>
            <a:spLocks noChangeShapeType="1"/>
          </p:cNvSpPr>
          <p:nvPr/>
        </p:nvSpPr>
        <p:spPr bwMode="auto">
          <a:xfrm>
            <a:off x="5152794" y="5840871"/>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64" name="组合 63"/>
          <p:cNvGrpSpPr/>
          <p:nvPr/>
        </p:nvGrpSpPr>
        <p:grpSpPr>
          <a:xfrm>
            <a:off x="6114716" y="5620979"/>
            <a:ext cx="4609034" cy="431844"/>
            <a:chOff x="6079290" y="5282161"/>
            <a:chExt cx="4609034" cy="431844"/>
          </a:xfrm>
        </p:grpSpPr>
        <p:sp>
          <p:nvSpPr>
            <p:cNvPr id="65" name="Rectangle 10"/>
            <p:cNvSpPr>
              <a:spLocks noChangeArrowheads="1"/>
            </p:cNvSpPr>
            <p:nvPr/>
          </p:nvSpPr>
          <p:spPr bwMode="auto">
            <a:xfrm>
              <a:off x="6847462"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66" name="Rectangle 10"/>
            <p:cNvSpPr>
              <a:spLocks noChangeArrowheads="1"/>
            </p:cNvSpPr>
            <p:nvPr/>
          </p:nvSpPr>
          <p:spPr bwMode="auto">
            <a:xfrm>
              <a:off x="9920151"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67" name="Rectangle 10"/>
            <p:cNvSpPr>
              <a:spLocks noChangeArrowheads="1"/>
            </p:cNvSpPr>
            <p:nvPr/>
          </p:nvSpPr>
          <p:spPr bwMode="auto">
            <a:xfrm>
              <a:off x="6079290"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68" name="Rectangle 10"/>
            <p:cNvSpPr>
              <a:spLocks noChangeArrowheads="1"/>
            </p:cNvSpPr>
            <p:nvPr/>
          </p:nvSpPr>
          <p:spPr bwMode="auto">
            <a:xfrm>
              <a:off x="7615635"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69" name="Rectangle 10"/>
            <p:cNvSpPr>
              <a:spLocks noChangeArrowheads="1"/>
            </p:cNvSpPr>
            <p:nvPr/>
          </p:nvSpPr>
          <p:spPr bwMode="auto">
            <a:xfrm>
              <a:off x="8383807" y="5282205"/>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70" name="Rectangle 10"/>
            <p:cNvSpPr>
              <a:spLocks noChangeArrowheads="1"/>
            </p:cNvSpPr>
            <p:nvPr/>
          </p:nvSpPr>
          <p:spPr bwMode="auto">
            <a:xfrm>
              <a:off x="9151980" y="5282205"/>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grpSp>
      <p:sp>
        <p:nvSpPr>
          <p:cNvPr id="71" name="圆角矩形标注 70"/>
          <p:cNvSpPr/>
          <p:nvPr/>
        </p:nvSpPr>
        <p:spPr bwMode="auto">
          <a:xfrm>
            <a:off x="7596043" y="6313046"/>
            <a:ext cx="1482908" cy="413569"/>
          </a:xfrm>
          <a:prstGeom prst="wedgeRoundRectCallout">
            <a:avLst>
              <a:gd name="adj1" fmla="val -72688"/>
              <a:gd name="adj2" fmla="val -153634"/>
              <a:gd name="adj3" fmla="val 16667"/>
            </a:avLst>
          </a:prstGeom>
          <a:solidFill>
            <a:schemeClr val="accent4">
              <a:lumMod val="20000"/>
              <a:lumOff val="80000"/>
            </a:schemeClr>
          </a:solidFill>
          <a:ln w="12700" cap="flat" cmpd="sng" algn="ctr">
            <a:noFill/>
            <a:prstDash val="solid"/>
            <a:round/>
            <a:headEnd type="none" w="med" len="med"/>
            <a:tailEnd type="none" w="med" len="med"/>
          </a:ln>
          <a:effectLst/>
          <a:extLst/>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转义字节</a:t>
            </a:r>
          </a:p>
        </p:txBody>
      </p:sp>
    </p:spTree>
    <p:extLst>
      <p:ext uri="{BB962C8B-B14F-4D97-AF65-F5344CB8AC3E}">
        <p14:creationId xmlns:p14="http://schemas.microsoft.com/office/powerpoint/2010/main" val="1663652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up)">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left)">
                                      <p:cBhvr>
                                        <p:cTn id="26" dur="5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left)">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wipe(left)">
                                      <p:cBhvr>
                                        <p:cTn id="36" dur="500"/>
                                        <p:tgtEl>
                                          <p:spTgt spid="49"/>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wipe(left)">
                                      <p:cBhvr>
                                        <p:cTn id="40" dur="500"/>
                                        <p:tgtEl>
                                          <p:spTgt spid="5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wipe(left)">
                                      <p:cBhvr>
                                        <p:cTn id="45" dur="500"/>
                                        <p:tgtEl>
                                          <p:spTgt spid="3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55"/>
                                        </p:tgtEl>
                                        <p:attrNameLst>
                                          <p:attrName>style.visibility</p:attrName>
                                        </p:attrNameLst>
                                      </p:cBhvr>
                                      <p:to>
                                        <p:strVal val="visible"/>
                                      </p:to>
                                    </p:set>
                                    <p:animEffect transition="in" filter="wipe(left)">
                                      <p:cBhvr>
                                        <p:cTn id="50" dur="500"/>
                                        <p:tgtEl>
                                          <p:spTgt spid="55"/>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56"/>
                                        </p:tgtEl>
                                        <p:attrNameLst>
                                          <p:attrName>style.visibility</p:attrName>
                                        </p:attrNameLst>
                                      </p:cBhvr>
                                      <p:to>
                                        <p:strVal val="visible"/>
                                      </p:to>
                                    </p:set>
                                    <p:animEffect transition="in" filter="wipe(left)">
                                      <p:cBhvr>
                                        <p:cTn id="54" dur="500"/>
                                        <p:tgtEl>
                                          <p:spTgt spid="5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wipe(left)">
                                      <p:cBhvr>
                                        <p:cTn id="59" dur="500"/>
                                        <p:tgtEl>
                                          <p:spTgt spid="4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63"/>
                                        </p:tgtEl>
                                        <p:attrNameLst>
                                          <p:attrName>style.visibility</p:attrName>
                                        </p:attrNameLst>
                                      </p:cBhvr>
                                      <p:to>
                                        <p:strVal val="visible"/>
                                      </p:to>
                                    </p:set>
                                    <p:animEffect transition="in" filter="wipe(left)">
                                      <p:cBhvr>
                                        <p:cTn id="64" dur="500"/>
                                        <p:tgtEl>
                                          <p:spTgt spid="63"/>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64"/>
                                        </p:tgtEl>
                                        <p:attrNameLst>
                                          <p:attrName>style.visibility</p:attrName>
                                        </p:attrNameLst>
                                      </p:cBhvr>
                                      <p:to>
                                        <p:strVal val="visible"/>
                                      </p:to>
                                    </p:set>
                                    <p:animEffect transition="in" filter="wipe(left)">
                                      <p:cBhvr>
                                        <p:cTn id="68" dur="500"/>
                                        <p:tgtEl>
                                          <p:spTgt spid="64"/>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3" grpId="0" animBg="1"/>
      <p:bldP spid="49" grpId="0" animBg="1"/>
      <p:bldP spid="55" grpId="0" animBg="1"/>
      <p:bldP spid="63" grpId="0" animBg="1"/>
      <p:bldP spid="7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spcBef>
                <a:spcPts val="1000"/>
              </a:spcBef>
            </a:pPr>
            <a:r>
              <a:rPr lang="zh-CN" altLang="en-US" dirty="0">
                <a:solidFill>
                  <a:srgbClr val="C00000"/>
                </a:solidFill>
              </a:rPr>
              <a:t>带字节填充的定界符法：</a:t>
            </a:r>
            <a:r>
              <a:rPr lang="zh-CN" altLang="en-US" dirty="0"/>
              <a:t>接收方的处理</a:t>
            </a:r>
            <a:endParaRPr lang="en-US" altLang="zh-CN" dirty="0"/>
          </a:p>
          <a:p>
            <a:pPr lvl="1">
              <a:lnSpc>
                <a:spcPts val="3600"/>
              </a:lnSpc>
              <a:spcBef>
                <a:spcPts val="1000"/>
              </a:spcBef>
            </a:pPr>
            <a:r>
              <a:rPr lang="zh-CN" altLang="en-US" dirty="0"/>
              <a:t>逐个检查收到的每一个字节</a:t>
            </a:r>
            <a:endParaRPr lang="en-US" altLang="zh-CN" dirty="0"/>
          </a:p>
          <a:p>
            <a:pPr lvl="1">
              <a:lnSpc>
                <a:spcPts val="3600"/>
              </a:lnSpc>
              <a:spcBef>
                <a:spcPts val="1000"/>
              </a:spcBef>
            </a:pPr>
            <a:r>
              <a:rPr lang="zh-CN" altLang="en-US" dirty="0"/>
              <a:t>收到</a:t>
            </a:r>
            <a:r>
              <a:rPr lang="en-US" altLang="zh-CN" dirty="0">
                <a:solidFill>
                  <a:srgbClr val="0070C0"/>
                </a:solidFill>
              </a:rPr>
              <a:t>ESC</a:t>
            </a:r>
          </a:p>
          <a:p>
            <a:pPr lvl="2">
              <a:lnSpc>
                <a:spcPts val="3600"/>
              </a:lnSpc>
              <a:spcBef>
                <a:spcPts val="1000"/>
              </a:spcBef>
              <a:buFont typeface="Microsoft YaHei" panose="020B0503020204020204" pitchFamily="34" charset="-122"/>
              <a:buChar char="−"/>
            </a:pPr>
            <a:r>
              <a:rPr lang="zh-CN" altLang="en-US" dirty="0"/>
              <a:t>则</a:t>
            </a:r>
            <a:r>
              <a:rPr lang="zh-CN" altLang="en-US" dirty="0">
                <a:solidFill>
                  <a:srgbClr val="0070C0"/>
                </a:solidFill>
              </a:rPr>
              <a:t>后一字节</a:t>
            </a:r>
            <a:r>
              <a:rPr lang="zh-CN" altLang="en-US" dirty="0">
                <a:solidFill>
                  <a:srgbClr val="C00000"/>
                </a:solidFill>
              </a:rPr>
              <a:t>无条件成为</a:t>
            </a:r>
            <a:r>
              <a:rPr lang="zh-CN" altLang="en-US" dirty="0">
                <a:solidFill>
                  <a:srgbClr val="0070C0"/>
                </a:solidFill>
              </a:rPr>
              <a:t>有效载荷</a:t>
            </a:r>
            <a:r>
              <a:rPr lang="zh-CN" altLang="en-US" dirty="0"/>
              <a:t>，不予检查</a:t>
            </a:r>
            <a:endParaRPr lang="en-US" altLang="zh-CN" dirty="0"/>
          </a:p>
          <a:p>
            <a:pPr lvl="1">
              <a:lnSpc>
                <a:spcPts val="3600"/>
              </a:lnSpc>
              <a:spcBef>
                <a:spcPts val="1000"/>
              </a:spcBef>
            </a:pPr>
            <a:r>
              <a:rPr lang="zh-CN" altLang="en-US" dirty="0"/>
              <a:t>收到</a:t>
            </a:r>
            <a:r>
              <a:rPr lang="en-US" altLang="zh-CN" dirty="0">
                <a:solidFill>
                  <a:srgbClr val="C00000"/>
                </a:solidFill>
              </a:rPr>
              <a:t>FLAG</a:t>
            </a:r>
          </a:p>
          <a:p>
            <a:pPr lvl="2">
              <a:lnSpc>
                <a:spcPts val="3600"/>
              </a:lnSpc>
              <a:spcBef>
                <a:spcPts val="1000"/>
              </a:spcBef>
              <a:buFont typeface="Microsoft YaHei" panose="020B0503020204020204" pitchFamily="34" charset="-122"/>
              <a:buChar char="−"/>
            </a:pPr>
            <a:r>
              <a:rPr lang="zh-CN" altLang="en-US" dirty="0"/>
              <a:t>则为帧的</a:t>
            </a:r>
            <a:r>
              <a:rPr lang="zh-CN" altLang="en-US" dirty="0">
                <a:solidFill>
                  <a:srgbClr val="C00000"/>
                </a:solidFill>
              </a:rPr>
              <a:t>边界</a:t>
            </a:r>
          </a:p>
          <a:p>
            <a:pPr marL="0" indent="0">
              <a:lnSpc>
                <a:spcPts val="3600"/>
              </a:lnSpc>
              <a:buNone/>
            </a:pPr>
            <a:endParaRPr lang="en-US" altLang="zh-CN" dirty="0"/>
          </a:p>
          <a:p>
            <a:pPr>
              <a:lnSpc>
                <a:spcPts val="3600"/>
              </a:lnSpc>
            </a:pP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02090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838200" y="1510758"/>
            <a:ext cx="10515600" cy="756453"/>
          </a:xfrm>
        </p:spPr>
        <p:txBody>
          <a:bodyPr/>
          <a:lstStyle/>
          <a:p>
            <a:pPr>
              <a:lnSpc>
                <a:spcPts val="3600"/>
              </a:lnSpc>
              <a:spcBef>
                <a:spcPts val="1000"/>
              </a:spcBef>
            </a:pPr>
            <a:r>
              <a:rPr lang="zh-CN" altLang="en-US" dirty="0">
                <a:solidFill>
                  <a:srgbClr val="C00000"/>
                </a:solidFill>
              </a:rPr>
              <a:t>带字节填充的定界符法：</a:t>
            </a:r>
            <a:r>
              <a:rPr lang="zh-CN" altLang="en-US" dirty="0"/>
              <a:t>收方的处理示例</a:t>
            </a:r>
            <a:endParaRPr lang="en-US" altLang="zh-CN" dirty="0"/>
          </a:p>
          <a:p>
            <a:pPr marL="0" indent="0">
              <a:lnSpc>
                <a:spcPts val="3600"/>
              </a:lnSpc>
              <a:buNone/>
            </a:pPr>
            <a:endParaRPr lang="en-US" altLang="zh-CN" dirty="0"/>
          </a:p>
          <a:p>
            <a:pPr>
              <a:lnSpc>
                <a:spcPts val="3600"/>
              </a:lnSpc>
            </a:pP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7" name="Line 23"/>
          <p:cNvSpPr>
            <a:spLocks noChangeShapeType="1"/>
          </p:cNvSpPr>
          <p:nvPr/>
        </p:nvSpPr>
        <p:spPr bwMode="auto">
          <a:xfrm>
            <a:off x="6508994" y="3384375"/>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8" name="组合 7"/>
          <p:cNvGrpSpPr/>
          <p:nvPr/>
        </p:nvGrpSpPr>
        <p:grpSpPr>
          <a:xfrm>
            <a:off x="1307509" y="3182067"/>
            <a:ext cx="3072691" cy="431800"/>
            <a:chOff x="6079290" y="3151494"/>
            <a:chExt cx="3072691" cy="431800"/>
          </a:xfrm>
        </p:grpSpPr>
        <p:sp>
          <p:nvSpPr>
            <p:cNvPr id="9" name="Rectangle 10"/>
            <p:cNvSpPr>
              <a:spLocks noChangeArrowheads="1"/>
            </p:cNvSpPr>
            <p:nvPr/>
          </p:nvSpPr>
          <p:spPr bwMode="auto">
            <a:xfrm>
              <a:off x="6847462"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10" name="Rectangle 10"/>
            <p:cNvSpPr>
              <a:spLocks noChangeArrowheads="1"/>
            </p:cNvSpPr>
            <p:nvPr/>
          </p:nvSpPr>
          <p:spPr bwMode="auto">
            <a:xfrm>
              <a:off x="8383808"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11" name="Rectangle 10"/>
            <p:cNvSpPr>
              <a:spLocks noChangeArrowheads="1"/>
            </p:cNvSpPr>
            <p:nvPr/>
          </p:nvSpPr>
          <p:spPr bwMode="auto">
            <a:xfrm>
              <a:off x="6079290"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12" name="Rectangle 10"/>
            <p:cNvSpPr>
              <a:spLocks noChangeArrowheads="1"/>
            </p:cNvSpPr>
            <p:nvPr/>
          </p:nvSpPr>
          <p:spPr bwMode="auto">
            <a:xfrm>
              <a:off x="7615635"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sp>
        <p:nvSpPr>
          <p:cNvPr id="13" name="Line 23"/>
          <p:cNvSpPr>
            <a:spLocks noChangeShapeType="1"/>
          </p:cNvSpPr>
          <p:nvPr/>
        </p:nvSpPr>
        <p:spPr bwMode="auto">
          <a:xfrm>
            <a:off x="6508994" y="4092041"/>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14" name="组合 13"/>
          <p:cNvGrpSpPr/>
          <p:nvPr/>
        </p:nvGrpSpPr>
        <p:grpSpPr>
          <a:xfrm>
            <a:off x="1307509" y="3889733"/>
            <a:ext cx="3072691" cy="431800"/>
            <a:chOff x="6079290" y="3859160"/>
            <a:chExt cx="3072691" cy="431800"/>
          </a:xfrm>
        </p:grpSpPr>
        <p:sp>
          <p:nvSpPr>
            <p:cNvPr id="15" name="Rectangle 10"/>
            <p:cNvSpPr>
              <a:spLocks noChangeArrowheads="1"/>
            </p:cNvSpPr>
            <p:nvPr/>
          </p:nvSpPr>
          <p:spPr bwMode="auto">
            <a:xfrm>
              <a:off x="6847462"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16" name="Rectangle 10"/>
            <p:cNvSpPr>
              <a:spLocks noChangeArrowheads="1"/>
            </p:cNvSpPr>
            <p:nvPr/>
          </p:nvSpPr>
          <p:spPr bwMode="auto">
            <a:xfrm>
              <a:off x="8383808"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17" name="Rectangle 10"/>
            <p:cNvSpPr>
              <a:spLocks noChangeArrowheads="1"/>
            </p:cNvSpPr>
            <p:nvPr/>
          </p:nvSpPr>
          <p:spPr bwMode="auto">
            <a:xfrm>
              <a:off x="6079290"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18" name="Rectangle 10"/>
            <p:cNvSpPr>
              <a:spLocks noChangeArrowheads="1"/>
            </p:cNvSpPr>
            <p:nvPr/>
          </p:nvSpPr>
          <p:spPr bwMode="auto">
            <a:xfrm>
              <a:off x="7615635"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grpSp>
      <p:sp>
        <p:nvSpPr>
          <p:cNvPr id="19" name="Line 23"/>
          <p:cNvSpPr>
            <a:spLocks noChangeShapeType="1"/>
          </p:cNvSpPr>
          <p:nvPr/>
        </p:nvSpPr>
        <p:spPr bwMode="auto">
          <a:xfrm>
            <a:off x="6508993" y="4812865"/>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20" name="组合 19"/>
          <p:cNvGrpSpPr/>
          <p:nvPr/>
        </p:nvGrpSpPr>
        <p:grpSpPr>
          <a:xfrm>
            <a:off x="1307508" y="4610557"/>
            <a:ext cx="4609034" cy="431844"/>
            <a:chOff x="6079289" y="4579984"/>
            <a:chExt cx="4609034" cy="431844"/>
          </a:xfrm>
        </p:grpSpPr>
        <p:sp>
          <p:nvSpPr>
            <p:cNvPr id="21" name="Rectangle 10"/>
            <p:cNvSpPr>
              <a:spLocks noChangeArrowheads="1"/>
            </p:cNvSpPr>
            <p:nvPr/>
          </p:nvSpPr>
          <p:spPr bwMode="auto">
            <a:xfrm>
              <a:off x="6847461"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22" name="Rectangle 10"/>
            <p:cNvSpPr>
              <a:spLocks noChangeArrowheads="1"/>
            </p:cNvSpPr>
            <p:nvPr/>
          </p:nvSpPr>
          <p:spPr bwMode="auto">
            <a:xfrm>
              <a:off x="9920150"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23" name="Rectangle 10"/>
            <p:cNvSpPr>
              <a:spLocks noChangeArrowheads="1"/>
            </p:cNvSpPr>
            <p:nvPr/>
          </p:nvSpPr>
          <p:spPr bwMode="auto">
            <a:xfrm>
              <a:off x="6079289"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24" name="Rectangle 10"/>
            <p:cNvSpPr>
              <a:spLocks noChangeArrowheads="1"/>
            </p:cNvSpPr>
            <p:nvPr/>
          </p:nvSpPr>
          <p:spPr bwMode="auto">
            <a:xfrm>
              <a:off x="7615634"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25" name="Rectangle 10"/>
            <p:cNvSpPr>
              <a:spLocks noChangeArrowheads="1"/>
            </p:cNvSpPr>
            <p:nvPr/>
          </p:nvSpPr>
          <p:spPr bwMode="auto">
            <a:xfrm>
              <a:off x="8383806" y="4580028"/>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26" name="Rectangle 10"/>
            <p:cNvSpPr>
              <a:spLocks noChangeArrowheads="1"/>
            </p:cNvSpPr>
            <p:nvPr/>
          </p:nvSpPr>
          <p:spPr bwMode="auto">
            <a:xfrm>
              <a:off x="9151979" y="4580028"/>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sp>
        <p:nvSpPr>
          <p:cNvPr id="27" name="Line 23"/>
          <p:cNvSpPr>
            <a:spLocks noChangeShapeType="1"/>
          </p:cNvSpPr>
          <p:nvPr/>
        </p:nvSpPr>
        <p:spPr bwMode="auto">
          <a:xfrm>
            <a:off x="6508994" y="5515042"/>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28" name="组合 27"/>
          <p:cNvGrpSpPr/>
          <p:nvPr/>
        </p:nvGrpSpPr>
        <p:grpSpPr>
          <a:xfrm>
            <a:off x="1307509" y="5312734"/>
            <a:ext cx="4609034" cy="431844"/>
            <a:chOff x="6079290" y="5282161"/>
            <a:chExt cx="4609034" cy="431844"/>
          </a:xfrm>
        </p:grpSpPr>
        <p:sp>
          <p:nvSpPr>
            <p:cNvPr id="29" name="Rectangle 10"/>
            <p:cNvSpPr>
              <a:spLocks noChangeArrowheads="1"/>
            </p:cNvSpPr>
            <p:nvPr/>
          </p:nvSpPr>
          <p:spPr bwMode="auto">
            <a:xfrm>
              <a:off x="6847462"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30" name="Rectangle 10"/>
            <p:cNvSpPr>
              <a:spLocks noChangeArrowheads="1"/>
            </p:cNvSpPr>
            <p:nvPr/>
          </p:nvSpPr>
          <p:spPr bwMode="auto">
            <a:xfrm>
              <a:off x="9920151"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31" name="Rectangle 10"/>
            <p:cNvSpPr>
              <a:spLocks noChangeArrowheads="1"/>
            </p:cNvSpPr>
            <p:nvPr/>
          </p:nvSpPr>
          <p:spPr bwMode="auto">
            <a:xfrm>
              <a:off x="6079290"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32" name="Rectangle 10"/>
            <p:cNvSpPr>
              <a:spLocks noChangeArrowheads="1"/>
            </p:cNvSpPr>
            <p:nvPr/>
          </p:nvSpPr>
          <p:spPr bwMode="auto">
            <a:xfrm>
              <a:off x="7615635"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33" name="Rectangle 10"/>
            <p:cNvSpPr>
              <a:spLocks noChangeArrowheads="1"/>
            </p:cNvSpPr>
            <p:nvPr/>
          </p:nvSpPr>
          <p:spPr bwMode="auto">
            <a:xfrm>
              <a:off x="8383807" y="5282205"/>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34" name="Rectangle 10"/>
            <p:cNvSpPr>
              <a:spLocks noChangeArrowheads="1"/>
            </p:cNvSpPr>
            <p:nvPr/>
          </p:nvSpPr>
          <p:spPr bwMode="auto">
            <a:xfrm>
              <a:off x="9151980" y="5282205"/>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grpSp>
      <p:grpSp>
        <p:nvGrpSpPr>
          <p:cNvPr id="35" name="组合 34"/>
          <p:cNvGrpSpPr/>
          <p:nvPr/>
        </p:nvGrpSpPr>
        <p:grpSpPr>
          <a:xfrm>
            <a:off x="7660147" y="3182067"/>
            <a:ext cx="2304517" cy="431800"/>
            <a:chOff x="1307508" y="3151494"/>
            <a:chExt cx="2304517" cy="431800"/>
          </a:xfrm>
          <a:solidFill>
            <a:schemeClr val="bg1">
              <a:lumMod val="95000"/>
            </a:schemeClr>
          </a:solidFill>
          <a:scene3d>
            <a:camera prst="orthographicFront">
              <a:rot lat="0" lon="0" rev="0"/>
            </a:camera>
            <a:lightRig rig="soft" dir="t">
              <a:rot lat="0" lon="0" rev="0"/>
            </a:lightRig>
          </a:scene3d>
        </p:grpSpPr>
        <p:sp>
          <p:nvSpPr>
            <p:cNvPr id="36" name="Rectangle 10"/>
            <p:cNvSpPr>
              <a:spLocks noChangeArrowheads="1"/>
            </p:cNvSpPr>
            <p:nvPr/>
          </p:nvSpPr>
          <p:spPr bwMode="auto">
            <a:xfrm>
              <a:off x="2075680" y="315149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sp>
          <p:nvSpPr>
            <p:cNvPr id="37" name="Rectangle 10"/>
            <p:cNvSpPr>
              <a:spLocks noChangeArrowheads="1"/>
            </p:cNvSpPr>
            <p:nvPr/>
          </p:nvSpPr>
          <p:spPr bwMode="auto">
            <a:xfrm>
              <a:off x="2843852" y="315149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38" name="Rectangle 10"/>
            <p:cNvSpPr>
              <a:spLocks noChangeArrowheads="1"/>
            </p:cNvSpPr>
            <p:nvPr/>
          </p:nvSpPr>
          <p:spPr bwMode="auto">
            <a:xfrm>
              <a:off x="1307508" y="315149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grpSp>
      <p:grpSp>
        <p:nvGrpSpPr>
          <p:cNvPr id="39" name="组合 38"/>
          <p:cNvGrpSpPr/>
          <p:nvPr/>
        </p:nvGrpSpPr>
        <p:grpSpPr>
          <a:xfrm>
            <a:off x="7660148" y="3889733"/>
            <a:ext cx="2304517" cy="431800"/>
            <a:chOff x="1307509" y="3859160"/>
            <a:chExt cx="2304517" cy="431800"/>
          </a:xfrm>
          <a:solidFill>
            <a:schemeClr val="bg1">
              <a:lumMod val="95000"/>
            </a:schemeClr>
          </a:solidFill>
          <a:scene3d>
            <a:camera prst="orthographicFront">
              <a:rot lat="0" lon="0" rev="0"/>
            </a:camera>
            <a:lightRig rig="soft" dir="t">
              <a:rot lat="0" lon="0" rev="0"/>
            </a:lightRig>
          </a:scene3d>
        </p:grpSpPr>
        <p:sp>
          <p:nvSpPr>
            <p:cNvPr id="40" name="Rectangle 10"/>
            <p:cNvSpPr>
              <a:spLocks noChangeArrowheads="1"/>
            </p:cNvSpPr>
            <p:nvPr/>
          </p:nvSpPr>
          <p:spPr bwMode="auto">
            <a:xfrm>
              <a:off x="2075681" y="385916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41" name="Rectangle 10"/>
            <p:cNvSpPr>
              <a:spLocks noChangeArrowheads="1"/>
            </p:cNvSpPr>
            <p:nvPr/>
          </p:nvSpPr>
          <p:spPr bwMode="auto">
            <a:xfrm>
              <a:off x="2843853" y="385916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42" name="Rectangle 10"/>
            <p:cNvSpPr>
              <a:spLocks noChangeArrowheads="1"/>
            </p:cNvSpPr>
            <p:nvPr/>
          </p:nvSpPr>
          <p:spPr bwMode="auto">
            <a:xfrm>
              <a:off x="1307509" y="385916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grpSp>
      <p:grpSp>
        <p:nvGrpSpPr>
          <p:cNvPr id="43" name="组合 42"/>
          <p:cNvGrpSpPr/>
          <p:nvPr/>
        </p:nvGrpSpPr>
        <p:grpSpPr>
          <a:xfrm>
            <a:off x="7660146" y="4610557"/>
            <a:ext cx="3072691" cy="431800"/>
            <a:chOff x="1307507" y="4579984"/>
            <a:chExt cx="3072691" cy="431800"/>
          </a:xfrm>
          <a:solidFill>
            <a:schemeClr val="bg1">
              <a:lumMod val="95000"/>
            </a:schemeClr>
          </a:solidFill>
          <a:scene3d>
            <a:camera prst="orthographicFront">
              <a:rot lat="0" lon="0" rev="0"/>
            </a:camera>
            <a:lightRig rig="soft" dir="t">
              <a:rot lat="0" lon="0" rev="0"/>
            </a:lightRig>
          </a:scene3d>
        </p:grpSpPr>
        <p:sp>
          <p:nvSpPr>
            <p:cNvPr id="44" name="Rectangle 10"/>
            <p:cNvSpPr>
              <a:spLocks noChangeArrowheads="1"/>
            </p:cNvSpPr>
            <p:nvPr/>
          </p:nvSpPr>
          <p:spPr bwMode="auto">
            <a:xfrm>
              <a:off x="2075679"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45" name="Rectangle 10"/>
            <p:cNvSpPr>
              <a:spLocks noChangeArrowheads="1"/>
            </p:cNvSpPr>
            <p:nvPr/>
          </p:nvSpPr>
          <p:spPr bwMode="auto">
            <a:xfrm>
              <a:off x="3612025"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46" name="Rectangle 10"/>
            <p:cNvSpPr>
              <a:spLocks noChangeArrowheads="1"/>
            </p:cNvSpPr>
            <p:nvPr/>
          </p:nvSpPr>
          <p:spPr bwMode="auto">
            <a:xfrm>
              <a:off x="1307507"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47" name="Rectangle 10"/>
            <p:cNvSpPr>
              <a:spLocks noChangeArrowheads="1"/>
            </p:cNvSpPr>
            <p:nvPr/>
          </p:nvSpPr>
          <p:spPr bwMode="auto">
            <a:xfrm>
              <a:off x="2843852"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grpSp>
        <p:nvGrpSpPr>
          <p:cNvPr id="48" name="组合 47"/>
          <p:cNvGrpSpPr/>
          <p:nvPr/>
        </p:nvGrpSpPr>
        <p:grpSpPr>
          <a:xfrm>
            <a:off x="7660148" y="5318223"/>
            <a:ext cx="3072691" cy="431800"/>
            <a:chOff x="1307509" y="5287650"/>
            <a:chExt cx="3072691" cy="431800"/>
          </a:xfrm>
          <a:solidFill>
            <a:schemeClr val="bg1">
              <a:lumMod val="95000"/>
            </a:schemeClr>
          </a:solidFill>
          <a:scene3d>
            <a:camera prst="orthographicFront">
              <a:rot lat="0" lon="0" rev="0"/>
            </a:camera>
            <a:lightRig rig="soft" dir="t">
              <a:rot lat="0" lon="0" rev="0"/>
            </a:lightRig>
          </a:scene3d>
        </p:grpSpPr>
        <p:sp>
          <p:nvSpPr>
            <p:cNvPr id="49" name="Rectangle 10"/>
            <p:cNvSpPr>
              <a:spLocks noChangeArrowheads="1"/>
            </p:cNvSpPr>
            <p:nvPr/>
          </p:nvSpPr>
          <p:spPr bwMode="auto">
            <a:xfrm>
              <a:off x="2075681"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50" name="Rectangle 10"/>
            <p:cNvSpPr>
              <a:spLocks noChangeArrowheads="1"/>
            </p:cNvSpPr>
            <p:nvPr/>
          </p:nvSpPr>
          <p:spPr bwMode="auto">
            <a:xfrm>
              <a:off x="3612027"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51" name="Rectangle 10"/>
            <p:cNvSpPr>
              <a:spLocks noChangeArrowheads="1"/>
            </p:cNvSpPr>
            <p:nvPr/>
          </p:nvSpPr>
          <p:spPr bwMode="auto">
            <a:xfrm>
              <a:off x="1307509"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52" name="Rectangle 10"/>
            <p:cNvSpPr>
              <a:spLocks noChangeArrowheads="1"/>
            </p:cNvSpPr>
            <p:nvPr/>
          </p:nvSpPr>
          <p:spPr bwMode="auto">
            <a:xfrm>
              <a:off x="2843854"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grpSp>
      <p:sp>
        <p:nvSpPr>
          <p:cNvPr id="53" name="矩形 52"/>
          <p:cNvSpPr/>
          <p:nvPr/>
        </p:nvSpPr>
        <p:spPr>
          <a:xfrm>
            <a:off x="1139868" y="2368596"/>
            <a:ext cx="9208882" cy="461665"/>
          </a:xfrm>
          <a:prstGeom prst="rect">
            <a:avLst/>
          </a:prstGeom>
          <a:noFill/>
          <a:ln>
            <a:noFill/>
          </a:ln>
        </p:spPr>
        <p:txBody>
          <a:bodyPr wrap="square">
            <a:spAutoFit/>
          </a:bodyPr>
          <a:lstStyle/>
          <a:p>
            <a:pPr marL="0" marR="0" lvl="0" indent="0" defTabSz="5111750" rtl="0" eaLnBrk="1" fontAlgn="base" latinLnBrk="0" hangingPunct="1">
              <a:lnSpc>
                <a:spcPct val="100000"/>
              </a:lnSpc>
              <a:spcBef>
                <a:spcPct val="50000"/>
              </a:spcBef>
              <a:spcAft>
                <a:spcPct val="0"/>
              </a:spcAft>
              <a:buClrTx/>
              <a:buSzTx/>
              <a:buFontTx/>
              <a:buNone/>
              <a:tabLst>
                <a:tab pos="5111750" algn="l"/>
                <a:tab pos="6369050" algn="l"/>
              </a:tabLst>
              <a:defRPr/>
            </a:pPr>
            <a:r>
              <a:rPr kumimoji="1"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接收方收到的数据 </a:t>
            </a:r>
            <a:r>
              <a:rPr kumimoji="1"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	</a:t>
            </a:r>
            <a:r>
              <a:rPr kumimoji="1"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	</a:t>
            </a:r>
            <a:r>
              <a:rPr kumimoji="1"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处理后的数据</a:t>
            </a:r>
            <a:r>
              <a:rPr kumimoji="1"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 </a:t>
            </a:r>
            <a:endParaRPr kumimoji="1"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54" name="文本框 53"/>
          <p:cNvSpPr txBox="1"/>
          <p:nvPr/>
        </p:nvSpPr>
        <p:spPr>
          <a:xfrm>
            <a:off x="3878806" y="6121370"/>
            <a:ext cx="5819079" cy="461665"/>
          </a:xfrm>
          <a:prstGeom prst="rect">
            <a:avLst/>
          </a:prstGeom>
          <a:solidFill>
            <a:schemeClr val="accent1">
              <a:lumMod val="20000"/>
              <a:lumOff val="80000"/>
            </a:schemeClr>
          </a:solidFill>
          <a:ln>
            <a:solidFill>
              <a:srgbClr val="C00000"/>
            </a:solidFill>
          </a:ln>
        </p:spPr>
        <p:txBody>
          <a:bodyPr wrap="square" rtlCol="0">
            <a:spAutoFit/>
          </a:bodyPr>
          <a:lstStyle>
            <a:defPPr>
              <a:defRPr lang="zh-CN"/>
            </a:defPPr>
            <a:lvl1pPr algn="ctr">
              <a:defRPr sz="2400">
                <a:solidFill>
                  <a:srgbClr val="C00000"/>
                </a:solidFill>
              </a:defRPr>
            </a:lvl1pPr>
          </a:lstStyle>
          <a:p>
            <a:r>
              <a:rPr lang="zh-CN" altLang="en-US" dirty="0">
                <a:solidFill>
                  <a:schemeClr val="tx1"/>
                </a:solidFill>
              </a:rPr>
              <a:t>问题：带字节填充的定界符法有什么不足？</a:t>
            </a:r>
          </a:p>
        </p:txBody>
      </p:sp>
    </p:spTree>
    <p:extLst>
      <p:ext uri="{BB962C8B-B14F-4D97-AF65-F5344CB8AC3E}">
        <p14:creationId xmlns:p14="http://schemas.microsoft.com/office/powerpoint/2010/main" val="414082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wipe(left)">
                                      <p:cBhvr>
                                        <p:cTn id="21" dur="500"/>
                                        <p:tgtEl>
                                          <p:spTgt spid="3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left)">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left)">
                                      <p:cBhvr>
                                        <p:cTn id="45" dur="500"/>
                                        <p:tgtEl>
                                          <p:spTgt spid="19"/>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wipe(left)">
                                      <p:cBhvr>
                                        <p:cTn id="49" dur="500"/>
                                        <p:tgtEl>
                                          <p:spTgt spid="4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left)">
                                      <p:cBhvr>
                                        <p:cTn id="54" dur="5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ipe(left)">
                                      <p:cBhvr>
                                        <p:cTn id="59" dur="500"/>
                                        <p:tgtEl>
                                          <p:spTgt spid="27"/>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wipe(left)">
                                      <p:cBhvr>
                                        <p:cTn id="63" dur="500"/>
                                        <p:tgtEl>
                                          <p:spTgt spid="48"/>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19" grpId="0" animBg="1"/>
      <p:bldP spid="27" grpId="0" animBg="1"/>
      <p:bldP spid="53" grpId="0"/>
      <p:bldP spid="5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spcBef>
                <a:spcPts val="1200"/>
              </a:spcBef>
            </a:pPr>
            <a:r>
              <a:rPr lang="zh-CN" altLang="en-US" dirty="0">
                <a:solidFill>
                  <a:srgbClr val="C00000"/>
                </a:solidFill>
              </a:rPr>
              <a:t>带</a:t>
            </a:r>
            <a:r>
              <a:rPr lang="zh-CN" altLang="en-US" b="1" dirty="0">
                <a:solidFill>
                  <a:srgbClr val="C00000"/>
                </a:solidFill>
              </a:rPr>
              <a:t>比特</a:t>
            </a:r>
            <a:r>
              <a:rPr lang="zh-CN" altLang="en-US" dirty="0">
                <a:solidFill>
                  <a:srgbClr val="C00000"/>
                </a:solidFill>
              </a:rPr>
              <a:t>填充的定界符法</a:t>
            </a:r>
            <a:endParaRPr lang="en-US" altLang="zh-CN" dirty="0">
              <a:solidFill>
                <a:srgbClr val="C00000"/>
              </a:solidFill>
            </a:endParaRPr>
          </a:p>
          <a:p>
            <a:pPr lvl="1">
              <a:lnSpc>
                <a:spcPts val="3600"/>
              </a:lnSpc>
              <a:spcBef>
                <a:spcPts val="1200"/>
              </a:spcBef>
            </a:pPr>
            <a:r>
              <a:rPr lang="zh-CN" altLang="en-US" dirty="0"/>
              <a:t>定界符：两个</a:t>
            </a:r>
            <a:r>
              <a:rPr lang="en-US" altLang="zh-CN" dirty="0"/>
              <a:t>0</a:t>
            </a:r>
            <a:r>
              <a:rPr lang="zh-CN" altLang="en-US" dirty="0"/>
              <a:t>比特之间，连续</a:t>
            </a:r>
            <a:r>
              <a:rPr lang="en-US" altLang="zh-CN" dirty="0"/>
              <a:t>6</a:t>
            </a:r>
            <a:r>
              <a:rPr lang="zh-CN" altLang="en-US" dirty="0"/>
              <a:t>个</a:t>
            </a:r>
            <a:r>
              <a:rPr lang="en-US" altLang="zh-CN" dirty="0"/>
              <a:t>1</a:t>
            </a:r>
            <a:r>
              <a:rPr lang="zh-CN" altLang="en-US" dirty="0"/>
              <a:t>比特，即</a:t>
            </a:r>
            <a:r>
              <a:rPr lang="en-US" altLang="zh-CN" dirty="0">
                <a:solidFill>
                  <a:srgbClr val="C00000"/>
                </a:solidFill>
              </a:rPr>
              <a:t>01111110</a:t>
            </a:r>
            <a:r>
              <a:rPr lang="zh-CN" altLang="en-US" dirty="0"/>
              <a:t>，</a:t>
            </a:r>
            <a:r>
              <a:rPr lang="en-US" altLang="zh-CN" dirty="0"/>
              <a:t>0x7E</a:t>
            </a:r>
            <a:endParaRPr lang="zh-CN" altLang="en-US" dirty="0"/>
          </a:p>
          <a:p>
            <a:pPr marL="457200" lvl="1" indent="0">
              <a:lnSpc>
                <a:spcPts val="3600"/>
              </a:lnSpc>
              <a:buNone/>
            </a:pP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2351627" y="3546296"/>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19" name="Rectangle 44"/>
            <p:cNvSpPr>
              <a:spLocks noChangeArrowheads="1"/>
            </p:cNvSpPr>
            <p:nvPr/>
          </p:nvSpPr>
          <p:spPr bwMode="auto">
            <a:xfrm>
              <a:off x="1465472"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20" name="Rectangle 44"/>
            <p:cNvSpPr>
              <a:spLocks noChangeArrowheads="1"/>
            </p:cNvSpPr>
            <p:nvPr/>
          </p:nvSpPr>
          <p:spPr bwMode="auto">
            <a:xfrm>
              <a:off x="1784549"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1" name="Rectangle 44"/>
            <p:cNvSpPr>
              <a:spLocks noChangeArrowheads="1"/>
            </p:cNvSpPr>
            <p:nvPr/>
          </p:nvSpPr>
          <p:spPr bwMode="auto">
            <a:xfrm>
              <a:off x="2103626"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22" name="Rectangle 44"/>
            <p:cNvSpPr>
              <a:spLocks noChangeArrowheads="1"/>
            </p:cNvSpPr>
            <p:nvPr/>
          </p:nvSpPr>
          <p:spPr bwMode="auto">
            <a:xfrm>
              <a:off x="2422703"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3" name="Rectangle 44"/>
            <p:cNvSpPr>
              <a:spLocks noChangeArrowheads="1"/>
            </p:cNvSpPr>
            <p:nvPr/>
          </p:nvSpPr>
          <p:spPr bwMode="auto">
            <a:xfrm>
              <a:off x="2741780"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4" name="Rectangle 44"/>
            <p:cNvSpPr>
              <a:spLocks noChangeArrowheads="1"/>
            </p:cNvSpPr>
            <p:nvPr/>
          </p:nvSpPr>
          <p:spPr bwMode="auto">
            <a:xfrm>
              <a:off x="3060857"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sp>
          <p:nvSpPr>
            <p:cNvPr id="25" name="Rectangle 44"/>
            <p:cNvSpPr>
              <a:spLocks noChangeArrowheads="1"/>
            </p:cNvSpPr>
            <p:nvPr/>
          </p:nvSpPr>
          <p:spPr bwMode="auto">
            <a:xfrm>
              <a:off x="3379934"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26" name="Rectangle 44"/>
            <p:cNvSpPr>
              <a:spLocks noChangeArrowheads="1"/>
            </p:cNvSpPr>
            <p:nvPr/>
          </p:nvSpPr>
          <p:spPr bwMode="auto">
            <a:xfrm>
              <a:off x="3699011"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27" name="Rectangle 44"/>
            <p:cNvSpPr>
              <a:spLocks noChangeArrowheads="1"/>
            </p:cNvSpPr>
            <p:nvPr/>
          </p:nvSpPr>
          <p:spPr bwMode="auto">
            <a:xfrm>
              <a:off x="4018088"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28" name="Rectangle 44"/>
            <p:cNvSpPr>
              <a:spLocks noChangeArrowheads="1"/>
            </p:cNvSpPr>
            <p:nvPr/>
          </p:nvSpPr>
          <p:spPr bwMode="auto">
            <a:xfrm>
              <a:off x="4337165"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29" name="Rectangle 44"/>
            <p:cNvSpPr>
              <a:spLocks noChangeArrowheads="1"/>
            </p:cNvSpPr>
            <p:nvPr/>
          </p:nvSpPr>
          <p:spPr bwMode="auto">
            <a:xfrm>
              <a:off x="465624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30" name="Rectangle 44"/>
            <p:cNvSpPr>
              <a:spLocks noChangeArrowheads="1"/>
            </p:cNvSpPr>
            <p:nvPr/>
          </p:nvSpPr>
          <p:spPr bwMode="auto">
            <a:xfrm>
              <a:off x="497531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31" name="Rectangle 44"/>
            <p:cNvSpPr>
              <a:spLocks noChangeArrowheads="1"/>
            </p:cNvSpPr>
            <p:nvPr/>
          </p:nvSpPr>
          <p:spPr bwMode="auto">
            <a:xfrm>
              <a:off x="529439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sp>
          <p:nvSpPr>
            <p:cNvPr id="32" name="Rectangle 44"/>
            <p:cNvSpPr>
              <a:spLocks noChangeArrowheads="1"/>
            </p:cNvSpPr>
            <p:nvPr/>
          </p:nvSpPr>
          <p:spPr bwMode="auto">
            <a:xfrm>
              <a:off x="561347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33" name="Rectangle 44"/>
            <p:cNvSpPr>
              <a:spLocks noChangeArrowheads="1"/>
            </p:cNvSpPr>
            <p:nvPr/>
          </p:nvSpPr>
          <p:spPr bwMode="auto">
            <a:xfrm>
              <a:off x="5932550"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34" name="Rectangle 44"/>
            <p:cNvSpPr>
              <a:spLocks noChangeArrowheads="1"/>
            </p:cNvSpPr>
            <p:nvPr/>
          </p:nvSpPr>
          <p:spPr bwMode="auto">
            <a:xfrm>
              <a:off x="6251627"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35" name="Rectangle 44"/>
            <p:cNvSpPr>
              <a:spLocks noChangeArrowheads="1"/>
            </p:cNvSpPr>
            <p:nvPr/>
          </p:nvSpPr>
          <p:spPr bwMode="auto">
            <a:xfrm>
              <a:off x="6570704"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36" name="Rectangle 44"/>
            <p:cNvSpPr>
              <a:spLocks noChangeArrowheads="1"/>
            </p:cNvSpPr>
            <p:nvPr/>
          </p:nvSpPr>
          <p:spPr bwMode="auto">
            <a:xfrm>
              <a:off x="6889781"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37" name="Rectangle 44"/>
            <p:cNvSpPr>
              <a:spLocks noChangeArrowheads="1"/>
            </p:cNvSpPr>
            <p:nvPr/>
          </p:nvSpPr>
          <p:spPr bwMode="auto">
            <a:xfrm>
              <a:off x="7208858"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38" name="Rectangle 44"/>
            <p:cNvSpPr>
              <a:spLocks noChangeArrowheads="1"/>
            </p:cNvSpPr>
            <p:nvPr/>
          </p:nvSpPr>
          <p:spPr bwMode="auto">
            <a:xfrm>
              <a:off x="7527935"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39" name="Rectangle 44"/>
            <p:cNvSpPr>
              <a:spLocks noChangeArrowheads="1"/>
            </p:cNvSpPr>
            <p:nvPr/>
          </p:nvSpPr>
          <p:spPr bwMode="auto">
            <a:xfrm>
              <a:off x="784701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40" name="Rectangle 44"/>
            <p:cNvSpPr>
              <a:spLocks noChangeArrowheads="1"/>
            </p:cNvSpPr>
            <p:nvPr/>
          </p:nvSpPr>
          <p:spPr bwMode="auto">
            <a:xfrm>
              <a:off x="816608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41" name="Rectangle 44"/>
            <p:cNvSpPr>
              <a:spLocks noChangeArrowheads="1"/>
            </p:cNvSpPr>
            <p:nvPr/>
          </p:nvSpPr>
          <p:spPr bwMode="auto">
            <a:xfrm>
              <a:off x="848516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42" name="Rectangle 44"/>
            <p:cNvSpPr>
              <a:spLocks noChangeArrowheads="1"/>
            </p:cNvSpPr>
            <p:nvPr/>
          </p:nvSpPr>
          <p:spPr bwMode="auto">
            <a:xfrm>
              <a:off x="880424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grpSp>
      <p:grpSp>
        <p:nvGrpSpPr>
          <p:cNvPr id="43" name="组合 42"/>
          <p:cNvGrpSpPr/>
          <p:nvPr/>
        </p:nvGrpSpPr>
        <p:grpSpPr>
          <a:xfrm>
            <a:off x="4050788" y="4040037"/>
            <a:ext cx="2375557" cy="770327"/>
            <a:chOff x="4242062" y="3880284"/>
            <a:chExt cx="2375557" cy="770327"/>
          </a:xfrm>
        </p:grpSpPr>
        <p:sp>
          <p:nvSpPr>
            <p:cNvPr id="44" name="左大括号 43"/>
            <p:cNvSpPr/>
            <p:nvPr/>
          </p:nvSpPr>
          <p:spPr>
            <a:xfrm rot="16200000">
              <a:off x="5347931" y="2774415"/>
              <a:ext cx="163819" cy="2375557"/>
            </a:xfrm>
            <a:prstGeom prst="leftBrace">
              <a:avLst>
                <a:gd name="adj1" fmla="val 95127"/>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 name="矩形 44"/>
            <p:cNvSpPr/>
            <p:nvPr/>
          </p:nvSpPr>
          <p:spPr>
            <a:xfrm>
              <a:off x="4696282" y="4250501"/>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定界符</a:t>
              </a:r>
            </a:p>
          </p:txBody>
        </p:sp>
      </p:grpSp>
      <p:grpSp>
        <p:nvGrpSpPr>
          <p:cNvPr id="46" name="组合 45"/>
          <p:cNvGrpSpPr/>
          <p:nvPr/>
        </p:nvGrpSpPr>
        <p:grpSpPr>
          <a:xfrm>
            <a:off x="1307508" y="4040038"/>
            <a:ext cx="2552617" cy="764096"/>
            <a:chOff x="1498782" y="3880285"/>
            <a:chExt cx="2552617" cy="764096"/>
          </a:xfrm>
        </p:grpSpPr>
        <p:sp>
          <p:nvSpPr>
            <p:cNvPr id="47" name="左大括号 46"/>
            <p:cNvSpPr/>
            <p:nvPr/>
          </p:nvSpPr>
          <p:spPr>
            <a:xfrm rot="16200000">
              <a:off x="2693181" y="2685886"/>
              <a:ext cx="163819" cy="2552617"/>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 name="矩形 47"/>
            <p:cNvSpPr/>
            <p:nvPr/>
          </p:nvSpPr>
          <p:spPr>
            <a:xfrm>
              <a:off x="2056778" y="4244271"/>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上一帧</a:t>
              </a:r>
            </a:p>
          </p:txBody>
        </p:sp>
      </p:grpSp>
      <p:grpSp>
        <p:nvGrpSpPr>
          <p:cNvPr id="49" name="组合 48"/>
          <p:cNvGrpSpPr/>
          <p:nvPr/>
        </p:nvGrpSpPr>
        <p:grpSpPr>
          <a:xfrm>
            <a:off x="6588157" y="4044103"/>
            <a:ext cx="4438466" cy="766261"/>
            <a:chOff x="6779431" y="3884350"/>
            <a:chExt cx="4438466" cy="766261"/>
          </a:xfrm>
        </p:grpSpPr>
        <p:sp>
          <p:nvSpPr>
            <p:cNvPr id="50" name="左大括号 49"/>
            <p:cNvSpPr/>
            <p:nvPr/>
          </p:nvSpPr>
          <p:spPr>
            <a:xfrm rot="16200000">
              <a:off x="8916754" y="1747027"/>
              <a:ext cx="163819" cy="4438466"/>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 name="矩形 50"/>
            <p:cNvSpPr/>
            <p:nvPr/>
          </p:nvSpPr>
          <p:spPr>
            <a:xfrm>
              <a:off x="8276860" y="4250501"/>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下一帧</a:t>
              </a:r>
            </a:p>
          </p:txBody>
        </p:sp>
      </p:grpSp>
      <p:sp>
        <p:nvSpPr>
          <p:cNvPr id="53" name="文本框 52"/>
          <p:cNvSpPr txBox="1"/>
          <p:nvPr/>
        </p:nvSpPr>
        <p:spPr>
          <a:xfrm>
            <a:off x="1865504" y="5501483"/>
            <a:ext cx="8913332" cy="430887"/>
          </a:xfrm>
          <a:prstGeom prst="rect">
            <a:avLst/>
          </a:prstGeom>
          <a:solidFill>
            <a:schemeClr val="accent4">
              <a:lumMod val="20000"/>
              <a:lumOff val="80000"/>
            </a:schemeClr>
          </a:solidFill>
          <a:ln>
            <a:solidFill>
              <a:schemeClr val="accent4">
                <a:lumMod val="20000"/>
                <a:lumOff val="80000"/>
              </a:schemeClr>
            </a:solidFill>
          </a:ln>
        </p:spPr>
        <p:txBody>
          <a:bodyPr wrap="square" rtlCol="0">
            <a:spAutoFit/>
          </a:bodyPr>
          <a:lstStyle/>
          <a:p>
            <a:pPr algn="ctr"/>
            <a:r>
              <a:rPr lang="zh-CN" altLang="en-US" sz="2200" dirty="0">
                <a:latin typeface="微软雅黑" panose="020B0503020204020204" pitchFamily="34" charset="-122"/>
                <a:ea typeface="微软雅黑" panose="020B0503020204020204" pitchFamily="34" charset="-122"/>
              </a:rPr>
              <a:t>问题：如果有效载荷部分包含与“</a:t>
            </a:r>
            <a:r>
              <a:rPr lang="zh-CN" altLang="en-US" sz="2200" dirty="0">
                <a:solidFill>
                  <a:srgbClr val="C00000"/>
                </a:solidFill>
                <a:latin typeface="微软雅黑" panose="020B0503020204020204" pitchFamily="34" charset="-122"/>
                <a:ea typeface="微软雅黑" panose="020B0503020204020204" pitchFamily="34" charset="-122"/>
              </a:rPr>
              <a:t>定界符</a:t>
            </a:r>
            <a:r>
              <a:rPr lang="zh-CN" altLang="en-US" sz="2200" dirty="0">
                <a:latin typeface="微软雅黑" panose="020B0503020204020204" pitchFamily="34" charset="-122"/>
                <a:ea typeface="微软雅黑" panose="020B0503020204020204" pitchFamily="34" charset="-122"/>
              </a:rPr>
              <a:t>”相同的位组合如何解决？</a:t>
            </a:r>
          </a:p>
        </p:txBody>
      </p:sp>
    </p:spTree>
    <p:extLst>
      <p:ext uri="{BB962C8B-B14F-4D97-AF65-F5344CB8AC3E}">
        <p14:creationId xmlns:p14="http://schemas.microsoft.com/office/powerpoint/2010/main" val="24556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linds(horizont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blinds(horizontal)">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blinds(horizontal)">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spcBef>
                <a:spcPts val="1200"/>
              </a:spcBef>
            </a:pPr>
            <a:r>
              <a:rPr lang="zh-CN" altLang="en-US" dirty="0">
                <a:solidFill>
                  <a:srgbClr val="C00000"/>
                </a:solidFill>
              </a:rPr>
              <a:t>带</a:t>
            </a:r>
            <a:r>
              <a:rPr lang="zh-CN" altLang="en-US" b="1" dirty="0">
                <a:solidFill>
                  <a:srgbClr val="C00000"/>
                </a:solidFill>
              </a:rPr>
              <a:t>比特</a:t>
            </a:r>
            <a:r>
              <a:rPr lang="zh-CN" altLang="en-US" dirty="0">
                <a:solidFill>
                  <a:srgbClr val="C00000"/>
                </a:solidFill>
              </a:rPr>
              <a:t>填充的定界符法：</a:t>
            </a:r>
            <a:r>
              <a:rPr lang="zh-CN" altLang="en-US" dirty="0"/>
              <a:t>发送方检查有效载荷</a:t>
            </a:r>
            <a:endParaRPr lang="en-US" altLang="zh-CN" dirty="0"/>
          </a:p>
          <a:p>
            <a:pPr lvl="1">
              <a:lnSpc>
                <a:spcPts val="3600"/>
              </a:lnSpc>
              <a:spcBef>
                <a:spcPts val="1200"/>
              </a:spcBef>
            </a:pPr>
            <a:r>
              <a:rPr lang="zh-CN" altLang="en-US" dirty="0"/>
              <a:t>若在</a:t>
            </a:r>
            <a:r>
              <a:rPr lang="zh-CN" altLang="en-US" dirty="0">
                <a:solidFill>
                  <a:srgbClr val="7030A0"/>
                </a:solidFill>
              </a:rPr>
              <a:t>有效载荷</a:t>
            </a:r>
            <a:r>
              <a:rPr lang="zh-CN" altLang="en-US" dirty="0"/>
              <a:t>中出现</a:t>
            </a:r>
            <a:r>
              <a:rPr lang="zh-CN" altLang="en-US" dirty="0">
                <a:solidFill>
                  <a:srgbClr val="C00000"/>
                </a:solidFill>
              </a:rPr>
              <a:t>连续</a:t>
            </a:r>
            <a:r>
              <a:rPr lang="en-US" altLang="zh-CN" dirty="0">
                <a:solidFill>
                  <a:srgbClr val="C00000"/>
                </a:solidFill>
              </a:rPr>
              <a:t>5</a:t>
            </a:r>
            <a:r>
              <a:rPr lang="zh-CN" altLang="en-US" dirty="0">
                <a:solidFill>
                  <a:srgbClr val="C00000"/>
                </a:solidFill>
              </a:rPr>
              <a:t>个</a:t>
            </a:r>
            <a:r>
              <a:rPr lang="en-US" altLang="zh-CN" dirty="0">
                <a:solidFill>
                  <a:srgbClr val="C00000"/>
                </a:solidFill>
              </a:rPr>
              <a:t>1</a:t>
            </a:r>
            <a:r>
              <a:rPr lang="zh-CN" altLang="en-US" dirty="0"/>
              <a:t>比特，则直接</a:t>
            </a:r>
            <a:r>
              <a:rPr lang="zh-CN" altLang="en-US" dirty="0">
                <a:solidFill>
                  <a:srgbClr val="C00000"/>
                </a:solidFill>
              </a:rPr>
              <a:t>插入</a:t>
            </a:r>
            <a:r>
              <a:rPr lang="en-US" altLang="zh-CN" dirty="0">
                <a:solidFill>
                  <a:srgbClr val="C00000"/>
                </a:solidFill>
              </a:rPr>
              <a:t>1</a:t>
            </a:r>
            <a:r>
              <a:rPr lang="zh-CN" altLang="en-US" dirty="0">
                <a:solidFill>
                  <a:srgbClr val="C00000"/>
                </a:solidFill>
              </a:rPr>
              <a:t>个</a:t>
            </a:r>
            <a:r>
              <a:rPr lang="en-US" altLang="zh-CN" dirty="0">
                <a:solidFill>
                  <a:srgbClr val="C00000"/>
                </a:solidFill>
              </a:rPr>
              <a:t>0</a:t>
            </a:r>
            <a:r>
              <a:rPr lang="zh-CN" altLang="en-US" dirty="0"/>
              <a:t>比特</a:t>
            </a:r>
          </a:p>
          <a:p>
            <a:pPr marL="457200" lvl="1" indent="0">
              <a:lnSpc>
                <a:spcPts val="3600"/>
              </a:lnSpc>
              <a:buNone/>
            </a:pP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a:off x="2702440" y="3535103"/>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53" name="Rectangle 44"/>
            <p:cNvSpPr>
              <a:spLocks noChangeArrowheads="1"/>
            </p:cNvSpPr>
            <p:nvPr/>
          </p:nvSpPr>
          <p:spPr bwMode="auto">
            <a:xfrm>
              <a:off x="1465472"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54" name="Rectangle 44"/>
            <p:cNvSpPr>
              <a:spLocks noChangeArrowheads="1"/>
            </p:cNvSpPr>
            <p:nvPr/>
          </p:nvSpPr>
          <p:spPr bwMode="auto">
            <a:xfrm>
              <a:off x="1784549"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5" name="Rectangle 44"/>
            <p:cNvSpPr>
              <a:spLocks noChangeArrowheads="1"/>
            </p:cNvSpPr>
            <p:nvPr/>
          </p:nvSpPr>
          <p:spPr bwMode="auto">
            <a:xfrm>
              <a:off x="2103626"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6" name="Rectangle 44"/>
            <p:cNvSpPr>
              <a:spLocks noChangeArrowheads="1"/>
            </p:cNvSpPr>
            <p:nvPr/>
          </p:nvSpPr>
          <p:spPr bwMode="auto">
            <a:xfrm>
              <a:off x="2422703"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7" name="Rectangle 44"/>
            <p:cNvSpPr>
              <a:spLocks noChangeArrowheads="1"/>
            </p:cNvSpPr>
            <p:nvPr/>
          </p:nvSpPr>
          <p:spPr bwMode="auto">
            <a:xfrm>
              <a:off x="2741780"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8" name="Rectangle 44"/>
            <p:cNvSpPr>
              <a:spLocks noChangeArrowheads="1"/>
            </p:cNvSpPr>
            <p:nvPr/>
          </p:nvSpPr>
          <p:spPr bwMode="auto">
            <a:xfrm>
              <a:off x="3060857"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9" name="Rectangle 44"/>
            <p:cNvSpPr>
              <a:spLocks noChangeArrowheads="1"/>
            </p:cNvSpPr>
            <p:nvPr/>
          </p:nvSpPr>
          <p:spPr bwMode="auto">
            <a:xfrm>
              <a:off x="3379934"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60" name="Rectangle 44"/>
            <p:cNvSpPr>
              <a:spLocks noChangeArrowheads="1"/>
            </p:cNvSpPr>
            <p:nvPr/>
          </p:nvSpPr>
          <p:spPr bwMode="auto">
            <a:xfrm>
              <a:off x="3699011"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1" name="Rectangle 44"/>
            <p:cNvSpPr>
              <a:spLocks noChangeArrowheads="1"/>
            </p:cNvSpPr>
            <p:nvPr/>
          </p:nvSpPr>
          <p:spPr bwMode="auto">
            <a:xfrm>
              <a:off x="4018088"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2" name="Rectangle 44"/>
            <p:cNvSpPr>
              <a:spLocks noChangeArrowheads="1"/>
            </p:cNvSpPr>
            <p:nvPr/>
          </p:nvSpPr>
          <p:spPr bwMode="auto">
            <a:xfrm>
              <a:off x="4337165"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3" name="Rectangle 44"/>
            <p:cNvSpPr>
              <a:spLocks noChangeArrowheads="1"/>
            </p:cNvSpPr>
            <p:nvPr/>
          </p:nvSpPr>
          <p:spPr bwMode="auto">
            <a:xfrm>
              <a:off x="465624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4" name="Rectangle 44"/>
            <p:cNvSpPr>
              <a:spLocks noChangeArrowheads="1"/>
            </p:cNvSpPr>
            <p:nvPr/>
          </p:nvSpPr>
          <p:spPr bwMode="auto">
            <a:xfrm>
              <a:off x="497531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5" name="Rectangle 44"/>
            <p:cNvSpPr>
              <a:spLocks noChangeArrowheads="1"/>
            </p:cNvSpPr>
            <p:nvPr/>
          </p:nvSpPr>
          <p:spPr bwMode="auto">
            <a:xfrm>
              <a:off x="529439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6" name="Rectangle 44"/>
            <p:cNvSpPr>
              <a:spLocks noChangeArrowheads="1"/>
            </p:cNvSpPr>
            <p:nvPr/>
          </p:nvSpPr>
          <p:spPr bwMode="auto">
            <a:xfrm>
              <a:off x="561347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67" name="Rectangle 44"/>
            <p:cNvSpPr>
              <a:spLocks noChangeArrowheads="1"/>
            </p:cNvSpPr>
            <p:nvPr/>
          </p:nvSpPr>
          <p:spPr bwMode="auto">
            <a:xfrm>
              <a:off x="5932550"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68" name="Rectangle 44"/>
            <p:cNvSpPr>
              <a:spLocks noChangeArrowheads="1"/>
            </p:cNvSpPr>
            <p:nvPr/>
          </p:nvSpPr>
          <p:spPr bwMode="auto">
            <a:xfrm>
              <a:off x="6251627"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69" name="Rectangle 44"/>
            <p:cNvSpPr>
              <a:spLocks noChangeArrowheads="1"/>
            </p:cNvSpPr>
            <p:nvPr/>
          </p:nvSpPr>
          <p:spPr bwMode="auto">
            <a:xfrm>
              <a:off x="6570704"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0" name="Rectangle 44"/>
            <p:cNvSpPr>
              <a:spLocks noChangeArrowheads="1"/>
            </p:cNvSpPr>
            <p:nvPr/>
          </p:nvSpPr>
          <p:spPr bwMode="auto">
            <a:xfrm>
              <a:off x="6889781"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1" name="Rectangle 44"/>
            <p:cNvSpPr>
              <a:spLocks noChangeArrowheads="1"/>
            </p:cNvSpPr>
            <p:nvPr/>
          </p:nvSpPr>
          <p:spPr bwMode="auto">
            <a:xfrm>
              <a:off x="7208858"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2" name="Rectangle 44"/>
            <p:cNvSpPr>
              <a:spLocks noChangeArrowheads="1"/>
            </p:cNvSpPr>
            <p:nvPr/>
          </p:nvSpPr>
          <p:spPr bwMode="auto">
            <a:xfrm>
              <a:off x="7527935"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73" name="Rectangle 44"/>
            <p:cNvSpPr>
              <a:spLocks noChangeArrowheads="1"/>
            </p:cNvSpPr>
            <p:nvPr/>
          </p:nvSpPr>
          <p:spPr bwMode="auto">
            <a:xfrm>
              <a:off x="784701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74" name="Rectangle 44"/>
            <p:cNvSpPr>
              <a:spLocks noChangeArrowheads="1"/>
            </p:cNvSpPr>
            <p:nvPr/>
          </p:nvSpPr>
          <p:spPr bwMode="auto">
            <a:xfrm>
              <a:off x="816608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75" name="Rectangle 44"/>
            <p:cNvSpPr>
              <a:spLocks noChangeArrowheads="1"/>
            </p:cNvSpPr>
            <p:nvPr/>
          </p:nvSpPr>
          <p:spPr bwMode="auto">
            <a:xfrm>
              <a:off x="848516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6" name="Rectangle 44"/>
            <p:cNvSpPr>
              <a:spLocks noChangeArrowheads="1"/>
            </p:cNvSpPr>
            <p:nvPr/>
          </p:nvSpPr>
          <p:spPr bwMode="auto">
            <a:xfrm>
              <a:off x="880424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grpSp>
      <p:sp>
        <p:nvSpPr>
          <p:cNvPr id="77" name="矩形 76"/>
          <p:cNvSpPr/>
          <p:nvPr/>
        </p:nvSpPr>
        <p:spPr>
          <a:xfrm>
            <a:off x="1092734" y="3478717"/>
            <a:ext cx="1450168"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原始载荷</a:t>
            </a:r>
          </a:p>
        </p:txBody>
      </p:sp>
      <p:sp>
        <p:nvSpPr>
          <p:cNvPr id="78" name="矩形 77"/>
          <p:cNvSpPr/>
          <p:nvPr/>
        </p:nvSpPr>
        <p:spPr>
          <a:xfrm>
            <a:off x="1092734" y="4336557"/>
            <a:ext cx="1450168"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载荷填充</a:t>
            </a:r>
          </a:p>
        </p:txBody>
      </p:sp>
      <p:grpSp>
        <p:nvGrpSpPr>
          <p:cNvPr id="79" name="组合 78"/>
          <p:cNvGrpSpPr/>
          <p:nvPr/>
        </p:nvGrpSpPr>
        <p:grpSpPr>
          <a:xfrm>
            <a:off x="2702440" y="4392943"/>
            <a:ext cx="1914462" cy="287338"/>
            <a:chOff x="2861978" y="3678775"/>
            <a:chExt cx="1914462" cy="287338"/>
          </a:xfrm>
          <a:solidFill>
            <a:schemeClr val="bg1">
              <a:lumMod val="95000"/>
            </a:schemeClr>
          </a:solidFill>
          <a:scene3d>
            <a:camera prst="orthographicFront">
              <a:rot lat="0" lon="0" rev="0"/>
            </a:camera>
            <a:lightRig rig="soft" dir="t">
              <a:rot lat="0" lon="0" rev="0"/>
            </a:lightRig>
          </a:scene3d>
        </p:grpSpPr>
        <p:sp>
          <p:nvSpPr>
            <p:cNvPr id="80" name="Rectangle 44"/>
            <p:cNvSpPr>
              <a:spLocks noChangeArrowheads="1"/>
            </p:cNvSpPr>
            <p:nvPr/>
          </p:nvSpPr>
          <p:spPr bwMode="auto">
            <a:xfrm>
              <a:off x="2861978"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81" name="Rectangle 44"/>
            <p:cNvSpPr>
              <a:spLocks noChangeArrowheads="1"/>
            </p:cNvSpPr>
            <p:nvPr/>
          </p:nvSpPr>
          <p:spPr bwMode="auto">
            <a:xfrm>
              <a:off x="3181055"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2" name="Rectangle 44"/>
            <p:cNvSpPr>
              <a:spLocks noChangeArrowheads="1"/>
            </p:cNvSpPr>
            <p:nvPr/>
          </p:nvSpPr>
          <p:spPr bwMode="auto">
            <a:xfrm>
              <a:off x="3500132"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3" name="Rectangle 44"/>
            <p:cNvSpPr>
              <a:spLocks noChangeArrowheads="1"/>
            </p:cNvSpPr>
            <p:nvPr/>
          </p:nvSpPr>
          <p:spPr bwMode="auto">
            <a:xfrm>
              <a:off x="3819209"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4" name="Rectangle 44"/>
            <p:cNvSpPr>
              <a:spLocks noChangeArrowheads="1"/>
            </p:cNvSpPr>
            <p:nvPr/>
          </p:nvSpPr>
          <p:spPr bwMode="auto">
            <a:xfrm>
              <a:off x="4138286"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5" name="Rectangle 44"/>
            <p:cNvSpPr>
              <a:spLocks noChangeArrowheads="1"/>
            </p:cNvSpPr>
            <p:nvPr/>
          </p:nvSpPr>
          <p:spPr bwMode="auto">
            <a:xfrm>
              <a:off x="4457363"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grpSp>
      <p:cxnSp>
        <p:nvCxnSpPr>
          <p:cNvPr id="86" name="直接箭头连接符 85"/>
          <p:cNvCxnSpPr/>
          <p:nvPr/>
        </p:nvCxnSpPr>
        <p:spPr>
          <a:xfrm>
            <a:off x="4616902" y="3822447"/>
            <a:ext cx="159539" cy="51411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7" name="Rectangle 44"/>
          <p:cNvSpPr>
            <a:spLocks noChangeArrowheads="1"/>
          </p:cNvSpPr>
          <p:nvPr/>
        </p:nvSpPr>
        <p:spPr bwMode="auto">
          <a:xfrm>
            <a:off x="4616902" y="4392943"/>
            <a:ext cx="319077" cy="287338"/>
          </a:xfrm>
          <a:prstGeom prst="rect">
            <a:avLst/>
          </a:prstGeom>
          <a:solidFill>
            <a:schemeClr val="bg1">
              <a:lumMod val="95000"/>
            </a:schemeClr>
          </a:solidFill>
          <a:ln w="1270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grpSp>
        <p:nvGrpSpPr>
          <p:cNvPr id="88" name="组合 87"/>
          <p:cNvGrpSpPr/>
          <p:nvPr/>
        </p:nvGrpSpPr>
        <p:grpSpPr>
          <a:xfrm>
            <a:off x="4935979" y="4392943"/>
            <a:ext cx="1914462" cy="287344"/>
            <a:chOff x="5095517" y="3678775"/>
            <a:chExt cx="1914462" cy="287344"/>
          </a:xfrm>
          <a:solidFill>
            <a:schemeClr val="bg1">
              <a:lumMod val="95000"/>
            </a:schemeClr>
          </a:solidFill>
          <a:scene3d>
            <a:camera prst="orthographicFront">
              <a:rot lat="0" lon="0" rev="0"/>
            </a:camera>
            <a:lightRig rig="soft" dir="t">
              <a:rot lat="0" lon="0" rev="0"/>
            </a:lightRig>
          </a:scene3d>
        </p:grpSpPr>
        <p:sp>
          <p:nvSpPr>
            <p:cNvPr id="89" name="Rectangle 44"/>
            <p:cNvSpPr>
              <a:spLocks noChangeArrowheads="1"/>
            </p:cNvSpPr>
            <p:nvPr/>
          </p:nvSpPr>
          <p:spPr bwMode="auto">
            <a:xfrm>
              <a:off x="5095517"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90" name="Rectangle 44"/>
            <p:cNvSpPr>
              <a:spLocks noChangeArrowheads="1"/>
            </p:cNvSpPr>
            <p:nvPr/>
          </p:nvSpPr>
          <p:spPr bwMode="auto">
            <a:xfrm>
              <a:off x="5414594"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1" name="Rectangle 44"/>
            <p:cNvSpPr>
              <a:spLocks noChangeArrowheads="1"/>
            </p:cNvSpPr>
            <p:nvPr/>
          </p:nvSpPr>
          <p:spPr bwMode="auto">
            <a:xfrm>
              <a:off x="5733671"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2" name="Rectangle 44"/>
            <p:cNvSpPr>
              <a:spLocks noChangeArrowheads="1"/>
            </p:cNvSpPr>
            <p:nvPr/>
          </p:nvSpPr>
          <p:spPr bwMode="auto">
            <a:xfrm>
              <a:off x="6052748"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3" name="Rectangle 44"/>
            <p:cNvSpPr>
              <a:spLocks noChangeArrowheads="1"/>
            </p:cNvSpPr>
            <p:nvPr/>
          </p:nvSpPr>
          <p:spPr bwMode="auto">
            <a:xfrm>
              <a:off x="6371825"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4" name="Rectangle 44"/>
            <p:cNvSpPr>
              <a:spLocks noChangeArrowheads="1"/>
            </p:cNvSpPr>
            <p:nvPr/>
          </p:nvSpPr>
          <p:spPr bwMode="auto">
            <a:xfrm>
              <a:off x="6690902"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grpSp>
      <p:cxnSp>
        <p:nvCxnSpPr>
          <p:cNvPr id="95" name="直接箭头连接符 94"/>
          <p:cNvCxnSpPr/>
          <p:nvPr/>
        </p:nvCxnSpPr>
        <p:spPr>
          <a:xfrm>
            <a:off x="6531363" y="3822447"/>
            <a:ext cx="397338" cy="51411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6" name="Rectangle 44"/>
          <p:cNvSpPr>
            <a:spLocks noChangeArrowheads="1"/>
          </p:cNvSpPr>
          <p:nvPr/>
        </p:nvSpPr>
        <p:spPr bwMode="auto">
          <a:xfrm>
            <a:off x="6850441" y="4392949"/>
            <a:ext cx="319077" cy="287338"/>
          </a:xfrm>
          <a:prstGeom prst="rect">
            <a:avLst/>
          </a:prstGeom>
          <a:solidFill>
            <a:schemeClr val="bg1">
              <a:lumMod val="95000"/>
            </a:schemeClr>
          </a:solidFill>
          <a:ln w="1270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grpSp>
        <p:nvGrpSpPr>
          <p:cNvPr id="97" name="组合 96"/>
          <p:cNvGrpSpPr/>
          <p:nvPr/>
        </p:nvGrpSpPr>
        <p:grpSpPr>
          <a:xfrm>
            <a:off x="7169518" y="4392949"/>
            <a:ext cx="3828922" cy="287338"/>
            <a:chOff x="7329056" y="3678781"/>
            <a:chExt cx="3828922" cy="287338"/>
          </a:xfrm>
          <a:solidFill>
            <a:schemeClr val="bg1">
              <a:lumMod val="95000"/>
            </a:schemeClr>
          </a:solidFill>
          <a:scene3d>
            <a:camera prst="orthographicFront">
              <a:rot lat="0" lon="0" rev="0"/>
            </a:camera>
            <a:lightRig rig="soft" dir="t">
              <a:rot lat="0" lon="0" rev="0"/>
            </a:lightRig>
          </a:scene3d>
        </p:grpSpPr>
        <p:sp>
          <p:nvSpPr>
            <p:cNvPr id="98" name="Rectangle 44"/>
            <p:cNvSpPr>
              <a:spLocks noChangeArrowheads="1"/>
            </p:cNvSpPr>
            <p:nvPr/>
          </p:nvSpPr>
          <p:spPr bwMode="auto">
            <a:xfrm>
              <a:off x="7329056"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9" name="Rectangle 44"/>
            <p:cNvSpPr>
              <a:spLocks noChangeArrowheads="1"/>
            </p:cNvSpPr>
            <p:nvPr/>
          </p:nvSpPr>
          <p:spPr bwMode="auto">
            <a:xfrm>
              <a:off x="7648133"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0" name="Rectangle 44"/>
            <p:cNvSpPr>
              <a:spLocks noChangeArrowheads="1"/>
            </p:cNvSpPr>
            <p:nvPr/>
          </p:nvSpPr>
          <p:spPr bwMode="auto">
            <a:xfrm>
              <a:off x="7967210"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1" name="Rectangle 44"/>
            <p:cNvSpPr>
              <a:spLocks noChangeArrowheads="1"/>
            </p:cNvSpPr>
            <p:nvPr/>
          </p:nvSpPr>
          <p:spPr bwMode="auto">
            <a:xfrm>
              <a:off x="8286287"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2" name="Rectangle 44"/>
            <p:cNvSpPr>
              <a:spLocks noChangeArrowheads="1"/>
            </p:cNvSpPr>
            <p:nvPr/>
          </p:nvSpPr>
          <p:spPr bwMode="auto">
            <a:xfrm>
              <a:off x="8605364"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03" name="Rectangle 44"/>
            <p:cNvSpPr>
              <a:spLocks noChangeArrowheads="1"/>
            </p:cNvSpPr>
            <p:nvPr/>
          </p:nvSpPr>
          <p:spPr bwMode="auto">
            <a:xfrm>
              <a:off x="8924441"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04" name="Rectangle 44"/>
            <p:cNvSpPr>
              <a:spLocks noChangeArrowheads="1"/>
            </p:cNvSpPr>
            <p:nvPr/>
          </p:nvSpPr>
          <p:spPr bwMode="auto">
            <a:xfrm>
              <a:off x="9243518"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05" name="Rectangle 44"/>
            <p:cNvSpPr>
              <a:spLocks noChangeArrowheads="1"/>
            </p:cNvSpPr>
            <p:nvPr/>
          </p:nvSpPr>
          <p:spPr bwMode="auto">
            <a:xfrm>
              <a:off x="10200747"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6" name="Rectangle 44"/>
            <p:cNvSpPr>
              <a:spLocks noChangeArrowheads="1"/>
            </p:cNvSpPr>
            <p:nvPr/>
          </p:nvSpPr>
          <p:spPr bwMode="auto">
            <a:xfrm>
              <a:off x="10519824"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07" name="Rectangle 44"/>
            <p:cNvSpPr>
              <a:spLocks noChangeArrowheads="1"/>
            </p:cNvSpPr>
            <p:nvPr/>
          </p:nvSpPr>
          <p:spPr bwMode="auto">
            <a:xfrm>
              <a:off x="10838901"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8" name="Rectangle 44"/>
            <p:cNvSpPr>
              <a:spLocks noChangeArrowheads="1"/>
            </p:cNvSpPr>
            <p:nvPr/>
          </p:nvSpPr>
          <p:spPr bwMode="auto">
            <a:xfrm>
              <a:off x="9562595"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9" name="Rectangle 44"/>
            <p:cNvSpPr>
              <a:spLocks noChangeArrowheads="1"/>
            </p:cNvSpPr>
            <p:nvPr/>
          </p:nvSpPr>
          <p:spPr bwMode="auto">
            <a:xfrm>
              <a:off x="9881672"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grpSp>
      <p:cxnSp>
        <p:nvCxnSpPr>
          <p:cNvPr id="110" name="直接箭头连接符 109"/>
          <p:cNvCxnSpPr/>
          <p:nvPr/>
        </p:nvCxnSpPr>
        <p:spPr>
          <a:xfrm>
            <a:off x="2702440" y="3953933"/>
            <a:ext cx="1914462"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a:off x="4696671" y="3953933"/>
            <a:ext cx="1834692"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p:nvPr/>
        </p:nvCxnSpPr>
        <p:spPr>
          <a:xfrm>
            <a:off x="6690902" y="3953933"/>
            <a:ext cx="3669384"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481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left)">
                                      <p:cBhvr>
                                        <p:cTn id="7" dur="500"/>
                                        <p:tgtEl>
                                          <p:spTgt spid="7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wipe(left)">
                                      <p:cBhvr>
                                        <p:cTn id="11" dur="500"/>
                                        <p:tgtEl>
                                          <p:spTgt spid="5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8"/>
                                        </p:tgtEl>
                                        <p:attrNameLst>
                                          <p:attrName>style.visibility</p:attrName>
                                        </p:attrNameLst>
                                      </p:cBhvr>
                                      <p:to>
                                        <p:strVal val="visible"/>
                                      </p:to>
                                    </p:set>
                                    <p:animEffect transition="in" filter="wipe(left)">
                                      <p:cBhvr>
                                        <p:cTn id="16" dur="500"/>
                                        <p:tgtEl>
                                          <p:spTgt spid="7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0"/>
                                        </p:tgtEl>
                                        <p:attrNameLst>
                                          <p:attrName>style.visibility</p:attrName>
                                        </p:attrNameLst>
                                      </p:cBhvr>
                                      <p:to>
                                        <p:strVal val="visible"/>
                                      </p:to>
                                    </p:set>
                                    <p:animEffect transition="in" filter="wipe(left)">
                                      <p:cBhvr>
                                        <p:cTn id="21" dur="500"/>
                                        <p:tgtEl>
                                          <p:spTgt spid="1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9"/>
                                        </p:tgtEl>
                                        <p:attrNameLst>
                                          <p:attrName>style.visibility</p:attrName>
                                        </p:attrNameLst>
                                      </p:cBhvr>
                                      <p:to>
                                        <p:strVal val="visible"/>
                                      </p:to>
                                    </p:set>
                                    <p:animEffect transition="in" filter="wipe(left)">
                                      <p:cBhvr>
                                        <p:cTn id="26" dur="500"/>
                                        <p:tgtEl>
                                          <p:spTgt spid="7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86"/>
                                        </p:tgtEl>
                                        <p:attrNameLst>
                                          <p:attrName>style.visibility</p:attrName>
                                        </p:attrNameLst>
                                      </p:cBhvr>
                                      <p:to>
                                        <p:strVal val="visible"/>
                                      </p:to>
                                    </p:set>
                                    <p:animEffect transition="in" filter="wipe(up)">
                                      <p:cBhvr>
                                        <p:cTn id="31" dur="500"/>
                                        <p:tgtEl>
                                          <p:spTgt spid="86"/>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8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11"/>
                                        </p:tgtEl>
                                        <p:attrNameLst>
                                          <p:attrName>style.visibility</p:attrName>
                                        </p:attrNameLst>
                                      </p:cBhvr>
                                      <p:to>
                                        <p:strVal val="visible"/>
                                      </p:to>
                                    </p:set>
                                    <p:animEffect transition="in" filter="wipe(left)">
                                      <p:cBhvr>
                                        <p:cTn id="39" dur="500"/>
                                        <p:tgtEl>
                                          <p:spTgt spid="11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88"/>
                                        </p:tgtEl>
                                        <p:attrNameLst>
                                          <p:attrName>style.visibility</p:attrName>
                                        </p:attrNameLst>
                                      </p:cBhvr>
                                      <p:to>
                                        <p:strVal val="visible"/>
                                      </p:to>
                                    </p:set>
                                    <p:animEffect transition="in" filter="wipe(left)">
                                      <p:cBhvr>
                                        <p:cTn id="44" dur="500"/>
                                        <p:tgtEl>
                                          <p:spTgt spid="8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95"/>
                                        </p:tgtEl>
                                        <p:attrNameLst>
                                          <p:attrName>style.visibility</p:attrName>
                                        </p:attrNameLst>
                                      </p:cBhvr>
                                      <p:to>
                                        <p:strVal val="visible"/>
                                      </p:to>
                                    </p:set>
                                    <p:animEffect transition="in" filter="wipe(up)">
                                      <p:cBhvr>
                                        <p:cTn id="49" dur="500"/>
                                        <p:tgtEl>
                                          <p:spTgt spid="95"/>
                                        </p:tgtEl>
                                      </p:cBhvr>
                                    </p:animEffect>
                                  </p:child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0"/>
                                          </p:stCondLst>
                                        </p:cTn>
                                        <p:tgtEl>
                                          <p:spTgt spid="9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12"/>
                                        </p:tgtEl>
                                        <p:attrNameLst>
                                          <p:attrName>style.visibility</p:attrName>
                                        </p:attrNameLst>
                                      </p:cBhvr>
                                      <p:to>
                                        <p:strVal val="visible"/>
                                      </p:to>
                                    </p:set>
                                    <p:animEffect transition="in" filter="wipe(left)">
                                      <p:cBhvr>
                                        <p:cTn id="57" dur="500"/>
                                        <p:tgtEl>
                                          <p:spTgt spid="1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97"/>
                                        </p:tgtEl>
                                        <p:attrNameLst>
                                          <p:attrName>style.visibility</p:attrName>
                                        </p:attrNameLst>
                                      </p:cBhvr>
                                      <p:to>
                                        <p:strVal val="visible"/>
                                      </p:to>
                                    </p:set>
                                    <p:animEffect transition="in" filter="wipe(left)">
                                      <p:cBhvr>
                                        <p:cTn id="62"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P spid="87" grpId="0" animBg="1"/>
      <p:bldP spid="9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pPr>
            <a:r>
              <a:rPr lang="zh-CN" altLang="en-US" dirty="0">
                <a:solidFill>
                  <a:srgbClr val="C00000"/>
                </a:solidFill>
              </a:rPr>
              <a:t>带</a:t>
            </a:r>
            <a:r>
              <a:rPr lang="zh-CN" altLang="en-US" b="1" dirty="0">
                <a:solidFill>
                  <a:srgbClr val="C00000"/>
                </a:solidFill>
              </a:rPr>
              <a:t>比特</a:t>
            </a:r>
            <a:r>
              <a:rPr lang="zh-CN" altLang="en-US" dirty="0">
                <a:solidFill>
                  <a:srgbClr val="C00000"/>
                </a:solidFill>
              </a:rPr>
              <a:t>填充的定界符法：</a:t>
            </a:r>
            <a:r>
              <a:rPr lang="zh-CN" altLang="en-US" dirty="0"/>
              <a:t>接收方的处理</a:t>
            </a:r>
            <a:endParaRPr lang="en-US" altLang="zh-CN" dirty="0"/>
          </a:p>
          <a:p>
            <a:pPr lvl="1">
              <a:lnSpc>
                <a:spcPts val="3600"/>
              </a:lnSpc>
            </a:pPr>
            <a:r>
              <a:rPr lang="zh-CN" altLang="en-US" dirty="0"/>
              <a:t>若出现</a:t>
            </a:r>
            <a:r>
              <a:rPr lang="zh-CN" altLang="en-US" dirty="0">
                <a:solidFill>
                  <a:srgbClr val="7030A0"/>
                </a:solidFill>
              </a:rPr>
              <a:t>连续</a:t>
            </a:r>
            <a:r>
              <a:rPr lang="en-US" altLang="zh-CN" dirty="0">
                <a:solidFill>
                  <a:srgbClr val="7030A0"/>
                </a:solidFill>
              </a:rPr>
              <a:t>5</a:t>
            </a:r>
            <a:r>
              <a:rPr lang="zh-CN" altLang="en-US" dirty="0">
                <a:solidFill>
                  <a:srgbClr val="7030A0"/>
                </a:solidFill>
              </a:rPr>
              <a:t>个</a:t>
            </a:r>
            <a:r>
              <a:rPr lang="en-US" altLang="zh-CN" dirty="0">
                <a:solidFill>
                  <a:srgbClr val="7030A0"/>
                </a:solidFill>
              </a:rPr>
              <a:t>1</a:t>
            </a:r>
            <a:r>
              <a:rPr lang="zh-CN" altLang="en-US" dirty="0"/>
              <a:t>比特</a:t>
            </a:r>
            <a:endParaRPr lang="en-US" altLang="zh-CN" dirty="0"/>
          </a:p>
          <a:p>
            <a:pPr lvl="2">
              <a:lnSpc>
                <a:spcPts val="3600"/>
              </a:lnSpc>
              <a:spcBef>
                <a:spcPts val="0"/>
              </a:spcBef>
              <a:buFont typeface="Microsoft YaHei" panose="020B0503020204020204" pitchFamily="34" charset="-122"/>
              <a:buChar char="−"/>
            </a:pPr>
            <a:r>
              <a:rPr lang="zh-CN" altLang="en-US" dirty="0"/>
              <a:t>若下一比特为</a:t>
            </a:r>
            <a:r>
              <a:rPr lang="en-US" altLang="zh-CN" dirty="0">
                <a:solidFill>
                  <a:srgbClr val="C00000"/>
                </a:solidFill>
              </a:rPr>
              <a:t>0</a:t>
            </a:r>
            <a:r>
              <a:rPr lang="zh-CN" altLang="en-US" dirty="0"/>
              <a:t>，则为</a:t>
            </a:r>
            <a:r>
              <a:rPr lang="zh-CN" altLang="en-US" dirty="0">
                <a:solidFill>
                  <a:srgbClr val="7030A0"/>
                </a:solidFill>
              </a:rPr>
              <a:t>有效载荷</a:t>
            </a:r>
            <a:r>
              <a:rPr lang="zh-CN" altLang="en-US" dirty="0"/>
              <a:t>，直接</a:t>
            </a:r>
            <a:r>
              <a:rPr lang="zh-CN" altLang="en-US" dirty="0">
                <a:solidFill>
                  <a:srgbClr val="7030A0"/>
                </a:solidFill>
              </a:rPr>
              <a:t>丢弃</a:t>
            </a:r>
            <a:r>
              <a:rPr lang="en-US" altLang="zh-CN" dirty="0">
                <a:solidFill>
                  <a:srgbClr val="7030A0"/>
                </a:solidFill>
              </a:rPr>
              <a:t>0</a:t>
            </a:r>
            <a:r>
              <a:rPr lang="zh-CN" altLang="en-US" dirty="0"/>
              <a:t>比特</a:t>
            </a:r>
            <a:endParaRPr lang="en-US" altLang="zh-CN" dirty="0"/>
          </a:p>
          <a:p>
            <a:pPr lvl="2">
              <a:lnSpc>
                <a:spcPts val="3600"/>
              </a:lnSpc>
              <a:spcBef>
                <a:spcPts val="0"/>
              </a:spcBef>
              <a:buFont typeface="Microsoft YaHei" panose="020B0503020204020204" pitchFamily="34" charset="-122"/>
              <a:buChar char="−"/>
            </a:pPr>
            <a:r>
              <a:rPr lang="zh-CN" altLang="en-US" dirty="0"/>
              <a:t>若下一比特为</a:t>
            </a:r>
            <a:r>
              <a:rPr lang="en-US" altLang="zh-CN" dirty="0">
                <a:solidFill>
                  <a:srgbClr val="C00000"/>
                </a:solidFill>
              </a:rPr>
              <a:t>1</a:t>
            </a:r>
            <a:r>
              <a:rPr lang="zh-CN" altLang="en-US" dirty="0"/>
              <a:t>，则连同后一比特的</a:t>
            </a:r>
            <a:r>
              <a:rPr lang="en-US" altLang="zh-CN" dirty="0"/>
              <a:t>0</a:t>
            </a:r>
            <a:r>
              <a:rPr lang="zh-CN" altLang="en-US" dirty="0"/>
              <a:t>，构成</a:t>
            </a:r>
            <a:r>
              <a:rPr lang="zh-CN" altLang="en-US" dirty="0">
                <a:solidFill>
                  <a:srgbClr val="7030A0"/>
                </a:solidFill>
              </a:rPr>
              <a:t>定界符，</a:t>
            </a:r>
            <a:r>
              <a:rPr lang="zh-CN" altLang="en-US" dirty="0"/>
              <a:t>一帧结束</a:t>
            </a:r>
          </a:p>
          <a:p>
            <a:pPr marL="457200" lvl="1" indent="0">
              <a:lnSpc>
                <a:spcPts val="3600"/>
              </a:lnSpc>
              <a:buNone/>
            </a:pP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13" name="Rectangle 44"/>
          <p:cNvSpPr>
            <a:spLocks noChangeArrowheads="1"/>
          </p:cNvSpPr>
          <p:nvPr/>
        </p:nvSpPr>
        <p:spPr bwMode="auto">
          <a:xfrm>
            <a:off x="7015215" y="4554313"/>
            <a:ext cx="319077" cy="287338"/>
          </a:xfrm>
          <a:prstGeom prst="rect">
            <a:avLst/>
          </a:prstGeom>
          <a:solidFill>
            <a:schemeClr val="bg1">
              <a:lumMod val="95000"/>
            </a:schemeClr>
          </a:solidFill>
          <a:ln w="1270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sp>
        <p:nvSpPr>
          <p:cNvPr id="114" name="Rectangle 44"/>
          <p:cNvSpPr>
            <a:spLocks noChangeArrowheads="1"/>
          </p:cNvSpPr>
          <p:nvPr/>
        </p:nvSpPr>
        <p:spPr bwMode="auto">
          <a:xfrm>
            <a:off x="4781676" y="4554307"/>
            <a:ext cx="319077" cy="287338"/>
          </a:xfrm>
          <a:prstGeom prst="rect">
            <a:avLst/>
          </a:prstGeom>
          <a:solidFill>
            <a:schemeClr val="bg1">
              <a:lumMod val="95000"/>
            </a:schemeClr>
          </a:solidFill>
          <a:ln w="1270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grpSp>
        <p:nvGrpSpPr>
          <p:cNvPr id="115" name="组合 114"/>
          <p:cNvGrpSpPr/>
          <p:nvPr/>
        </p:nvGrpSpPr>
        <p:grpSpPr>
          <a:xfrm>
            <a:off x="2867214" y="5537993"/>
            <a:ext cx="1914462" cy="287338"/>
            <a:chOff x="3131931" y="5275314"/>
            <a:chExt cx="1914462" cy="287338"/>
          </a:xfrm>
          <a:solidFill>
            <a:schemeClr val="bg1">
              <a:lumMod val="95000"/>
            </a:schemeClr>
          </a:solidFill>
          <a:scene3d>
            <a:camera prst="orthographicFront">
              <a:rot lat="0" lon="0" rev="0"/>
            </a:camera>
            <a:lightRig rig="soft" dir="t">
              <a:rot lat="0" lon="0" rev="0"/>
            </a:lightRig>
          </a:scene3d>
        </p:grpSpPr>
        <p:sp>
          <p:nvSpPr>
            <p:cNvPr id="116" name="Rectangle 44"/>
            <p:cNvSpPr>
              <a:spLocks noChangeArrowheads="1"/>
            </p:cNvSpPr>
            <p:nvPr/>
          </p:nvSpPr>
          <p:spPr bwMode="auto">
            <a:xfrm>
              <a:off x="3131931"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p>
          </p:txBody>
        </p:sp>
        <p:sp>
          <p:nvSpPr>
            <p:cNvPr id="117" name="Rectangle 44"/>
            <p:cNvSpPr>
              <a:spLocks noChangeArrowheads="1"/>
            </p:cNvSpPr>
            <p:nvPr/>
          </p:nvSpPr>
          <p:spPr bwMode="auto">
            <a:xfrm>
              <a:off x="3451008"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18" name="Rectangle 44"/>
            <p:cNvSpPr>
              <a:spLocks noChangeArrowheads="1"/>
            </p:cNvSpPr>
            <p:nvPr/>
          </p:nvSpPr>
          <p:spPr bwMode="auto">
            <a:xfrm>
              <a:off x="3770085"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19" name="Rectangle 44"/>
            <p:cNvSpPr>
              <a:spLocks noChangeArrowheads="1"/>
            </p:cNvSpPr>
            <p:nvPr/>
          </p:nvSpPr>
          <p:spPr bwMode="auto">
            <a:xfrm>
              <a:off x="4089162"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0" name="Rectangle 44"/>
            <p:cNvSpPr>
              <a:spLocks noChangeArrowheads="1"/>
            </p:cNvSpPr>
            <p:nvPr/>
          </p:nvSpPr>
          <p:spPr bwMode="auto">
            <a:xfrm>
              <a:off x="4408239"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1" name="Rectangle 44"/>
            <p:cNvSpPr>
              <a:spLocks noChangeArrowheads="1"/>
            </p:cNvSpPr>
            <p:nvPr/>
          </p:nvSpPr>
          <p:spPr bwMode="auto">
            <a:xfrm>
              <a:off x="4727316"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grpSp>
      <p:grpSp>
        <p:nvGrpSpPr>
          <p:cNvPr id="122" name="组合 121"/>
          <p:cNvGrpSpPr/>
          <p:nvPr/>
        </p:nvGrpSpPr>
        <p:grpSpPr>
          <a:xfrm>
            <a:off x="4781676" y="5537993"/>
            <a:ext cx="1914462" cy="287344"/>
            <a:chOff x="5046393" y="5275314"/>
            <a:chExt cx="1914462" cy="287344"/>
          </a:xfrm>
          <a:solidFill>
            <a:schemeClr val="bg1">
              <a:lumMod val="95000"/>
            </a:schemeClr>
          </a:solidFill>
          <a:scene3d>
            <a:camera prst="orthographicFront">
              <a:rot lat="0" lon="0" rev="0"/>
            </a:camera>
            <a:lightRig rig="soft" dir="t">
              <a:rot lat="0" lon="0" rev="0"/>
            </a:lightRig>
          </a:scene3d>
        </p:grpSpPr>
        <p:sp>
          <p:nvSpPr>
            <p:cNvPr id="123" name="Rectangle 44"/>
            <p:cNvSpPr>
              <a:spLocks noChangeArrowheads="1"/>
            </p:cNvSpPr>
            <p:nvPr/>
          </p:nvSpPr>
          <p:spPr bwMode="auto">
            <a:xfrm>
              <a:off x="5046393"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p>
          </p:txBody>
        </p:sp>
        <p:sp>
          <p:nvSpPr>
            <p:cNvPr id="124" name="Rectangle 44"/>
            <p:cNvSpPr>
              <a:spLocks noChangeArrowheads="1"/>
            </p:cNvSpPr>
            <p:nvPr/>
          </p:nvSpPr>
          <p:spPr bwMode="auto">
            <a:xfrm>
              <a:off x="5365470"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5" name="Rectangle 44"/>
            <p:cNvSpPr>
              <a:spLocks noChangeArrowheads="1"/>
            </p:cNvSpPr>
            <p:nvPr/>
          </p:nvSpPr>
          <p:spPr bwMode="auto">
            <a:xfrm>
              <a:off x="5684547"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6" name="Rectangle 44"/>
            <p:cNvSpPr>
              <a:spLocks noChangeArrowheads="1"/>
            </p:cNvSpPr>
            <p:nvPr/>
          </p:nvSpPr>
          <p:spPr bwMode="auto">
            <a:xfrm>
              <a:off x="6003624"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7" name="Rectangle 44"/>
            <p:cNvSpPr>
              <a:spLocks noChangeArrowheads="1"/>
            </p:cNvSpPr>
            <p:nvPr/>
          </p:nvSpPr>
          <p:spPr bwMode="auto">
            <a:xfrm>
              <a:off x="6322701"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8" name="Rectangle 44"/>
            <p:cNvSpPr>
              <a:spLocks noChangeArrowheads="1"/>
            </p:cNvSpPr>
            <p:nvPr/>
          </p:nvSpPr>
          <p:spPr bwMode="auto">
            <a:xfrm>
              <a:off x="6641778"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grpSp>
      <p:grpSp>
        <p:nvGrpSpPr>
          <p:cNvPr id="129" name="组合 128"/>
          <p:cNvGrpSpPr/>
          <p:nvPr/>
        </p:nvGrpSpPr>
        <p:grpSpPr>
          <a:xfrm>
            <a:off x="6696138" y="5537999"/>
            <a:ext cx="3828924" cy="287338"/>
            <a:chOff x="6960855" y="5275320"/>
            <a:chExt cx="3828924" cy="287338"/>
          </a:xfrm>
          <a:solidFill>
            <a:schemeClr val="bg1">
              <a:lumMod val="95000"/>
            </a:schemeClr>
          </a:solidFill>
          <a:scene3d>
            <a:camera prst="orthographicFront">
              <a:rot lat="0" lon="0" rev="0"/>
            </a:camera>
            <a:lightRig rig="soft" dir="t">
              <a:rot lat="0" lon="0" rev="0"/>
            </a:lightRig>
          </a:scene3d>
        </p:grpSpPr>
        <p:sp>
          <p:nvSpPr>
            <p:cNvPr id="130" name="Rectangle 44"/>
            <p:cNvSpPr>
              <a:spLocks noChangeArrowheads="1"/>
            </p:cNvSpPr>
            <p:nvPr/>
          </p:nvSpPr>
          <p:spPr bwMode="auto">
            <a:xfrm>
              <a:off x="6960855"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31" name="Rectangle 44"/>
            <p:cNvSpPr>
              <a:spLocks noChangeArrowheads="1"/>
            </p:cNvSpPr>
            <p:nvPr/>
          </p:nvSpPr>
          <p:spPr bwMode="auto">
            <a:xfrm>
              <a:off x="7279932"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2" name="Rectangle 44"/>
            <p:cNvSpPr>
              <a:spLocks noChangeArrowheads="1"/>
            </p:cNvSpPr>
            <p:nvPr/>
          </p:nvSpPr>
          <p:spPr bwMode="auto">
            <a:xfrm>
              <a:off x="7599009"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3" name="Rectangle 44"/>
            <p:cNvSpPr>
              <a:spLocks noChangeArrowheads="1"/>
            </p:cNvSpPr>
            <p:nvPr/>
          </p:nvSpPr>
          <p:spPr bwMode="auto">
            <a:xfrm>
              <a:off x="7918086"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4" name="Rectangle 44"/>
            <p:cNvSpPr>
              <a:spLocks noChangeArrowheads="1"/>
            </p:cNvSpPr>
            <p:nvPr/>
          </p:nvSpPr>
          <p:spPr bwMode="auto">
            <a:xfrm>
              <a:off x="8237163"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35" name="Rectangle 44"/>
            <p:cNvSpPr>
              <a:spLocks noChangeArrowheads="1"/>
            </p:cNvSpPr>
            <p:nvPr/>
          </p:nvSpPr>
          <p:spPr bwMode="auto">
            <a:xfrm>
              <a:off x="8556240"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36" name="Rectangle 44"/>
            <p:cNvSpPr>
              <a:spLocks noChangeArrowheads="1"/>
            </p:cNvSpPr>
            <p:nvPr/>
          </p:nvSpPr>
          <p:spPr bwMode="auto">
            <a:xfrm>
              <a:off x="8875317"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37" name="Rectangle 44"/>
            <p:cNvSpPr>
              <a:spLocks noChangeArrowheads="1"/>
            </p:cNvSpPr>
            <p:nvPr/>
          </p:nvSpPr>
          <p:spPr bwMode="auto">
            <a:xfrm>
              <a:off x="9194394"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8" name="Rectangle 44"/>
            <p:cNvSpPr>
              <a:spLocks noChangeArrowheads="1"/>
            </p:cNvSpPr>
            <p:nvPr/>
          </p:nvSpPr>
          <p:spPr bwMode="auto">
            <a:xfrm>
              <a:off x="9513471"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9" name="Rectangle 44"/>
            <p:cNvSpPr>
              <a:spLocks noChangeArrowheads="1"/>
            </p:cNvSpPr>
            <p:nvPr/>
          </p:nvSpPr>
          <p:spPr bwMode="auto">
            <a:xfrm>
              <a:off x="9832548"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40" name="Rectangle 44"/>
            <p:cNvSpPr>
              <a:spLocks noChangeArrowheads="1"/>
            </p:cNvSpPr>
            <p:nvPr/>
          </p:nvSpPr>
          <p:spPr bwMode="auto">
            <a:xfrm>
              <a:off x="10151625"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41" name="Rectangle 44"/>
            <p:cNvSpPr>
              <a:spLocks noChangeArrowheads="1"/>
            </p:cNvSpPr>
            <p:nvPr/>
          </p:nvSpPr>
          <p:spPr bwMode="auto">
            <a:xfrm>
              <a:off x="10470702"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grpSp>
      <p:sp>
        <p:nvSpPr>
          <p:cNvPr id="142" name="矩形 141"/>
          <p:cNvSpPr/>
          <p:nvPr/>
        </p:nvSpPr>
        <p:spPr>
          <a:xfrm>
            <a:off x="1042791" y="5481607"/>
            <a:ext cx="1715708" cy="400110"/>
          </a:xfrm>
          <a:prstGeom prst="rect">
            <a:avLst/>
          </a:prstGeom>
          <a:noFill/>
          <a:ln>
            <a:noFill/>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处理后的载荷</a:t>
            </a:r>
          </a:p>
        </p:txBody>
      </p:sp>
      <p:sp>
        <p:nvSpPr>
          <p:cNvPr id="143" name="矩形 142"/>
          <p:cNvSpPr/>
          <p:nvPr/>
        </p:nvSpPr>
        <p:spPr>
          <a:xfrm>
            <a:off x="1042791" y="4497921"/>
            <a:ext cx="1824422" cy="400110"/>
          </a:xfrm>
          <a:prstGeom prst="rect">
            <a:avLst/>
          </a:prstGeom>
          <a:noFill/>
          <a:ln>
            <a:noFill/>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收到的比特流</a:t>
            </a:r>
          </a:p>
        </p:txBody>
      </p:sp>
      <p:grpSp>
        <p:nvGrpSpPr>
          <p:cNvPr id="144" name="组合 143"/>
          <p:cNvGrpSpPr/>
          <p:nvPr/>
        </p:nvGrpSpPr>
        <p:grpSpPr>
          <a:xfrm>
            <a:off x="2867214" y="4554307"/>
            <a:ext cx="1914462" cy="287338"/>
            <a:chOff x="2861978" y="3678775"/>
            <a:chExt cx="1914462" cy="287338"/>
          </a:xfrm>
          <a:solidFill>
            <a:schemeClr val="bg1">
              <a:lumMod val="95000"/>
            </a:schemeClr>
          </a:solidFill>
          <a:scene3d>
            <a:camera prst="orthographicFront">
              <a:rot lat="0" lon="0" rev="0"/>
            </a:camera>
            <a:lightRig rig="soft" dir="t">
              <a:rot lat="0" lon="0" rev="0"/>
            </a:lightRig>
          </a:scene3d>
        </p:grpSpPr>
        <p:sp>
          <p:nvSpPr>
            <p:cNvPr id="145" name="Rectangle 44"/>
            <p:cNvSpPr>
              <a:spLocks noChangeArrowheads="1"/>
            </p:cNvSpPr>
            <p:nvPr/>
          </p:nvSpPr>
          <p:spPr bwMode="auto">
            <a:xfrm>
              <a:off x="2861978"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p>
          </p:txBody>
        </p:sp>
        <p:sp>
          <p:nvSpPr>
            <p:cNvPr id="146" name="Rectangle 44"/>
            <p:cNvSpPr>
              <a:spLocks noChangeArrowheads="1"/>
            </p:cNvSpPr>
            <p:nvPr/>
          </p:nvSpPr>
          <p:spPr bwMode="auto">
            <a:xfrm>
              <a:off x="3181055"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47" name="Rectangle 44"/>
            <p:cNvSpPr>
              <a:spLocks noChangeArrowheads="1"/>
            </p:cNvSpPr>
            <p:nvPr/>
          </p:nvSpPr>
          <p:spPr bwMode="auto">
            <a:xfrm>
              <a:off x="3500132"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48" name="Rectangle 44"/>
            <p:cNvSpPr>
              <a:spLocks noChangeArrowheads="1"/>
            </p:cNvSpPr>
            <p:nvPr/>
          </p:nvSpPr>
          <p:spPr bwMode="auto">
            <a:xfrm>
              <a:off x="3819209"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49" name="Rectangle 44"/>
            <p:cNvSpPr>
              <a:spLocks noChangeArrowheads="1"/>
            </p:cNvSpPr>
            <p:nvPr/>
          </p:nvSpPr>
          <p:spPr bwMode="auto">
            <a:xfrm>
              <a:off x="4138286"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0" name="Rectangle 44"/>
            <p:cNvSpPr>
              <a:spLocks noChangeArrowheads="1"/>
            </p:cNvSpPr>
            <p:nvPr/>
          </p:nvSpPr>
          <p:spPr bwMode="auto">
            <a:xfrm>
              <a:off x="4457363"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grpSp>
      <p:grpSp>
        <p:nvGrpSpPr>
          <p:cNvPr id="151" name="组合 150"/>
          <p:cNvGrpSpPr/>
          <p:nvPr/>
        </p:nvGrpSpPr>
        <p:grpSpPr>
          <a:xfrm>
            <a:off x="5100753" y="4554307"/>
            <a:ext cx="1914462" cy="287344"/>
            <a:chOff x="5095517" y="3678775"/>
            <a:chExt cx="1914462" cy="287344"/>
          </a:xfrm>
          <a:solidFill>
            <a:schemeClr val="bg1">
              <a:lumMod val="95000"/>
            </a:schemeClr>
          </a:solidFill>
          <a:scene3d>
            <a:camera prst="orthographicFront">
              <a:rot lat="0" lon="0" rev="0"/>
            </a:camera>
            <a:lightRig rig="soft" dir="t">
              <a:rot lat="0" lon="0" rev="0"/>
            </a:lightRig>
          </a:scene3d>
        </p:grpSpPr>
        <p:sp>
          <p:nvSpPr>
            <p:cNvPr id="152" name="Rectangle 44"/>
            <p:cNvSpPr>
              <a:spLocks noChangeArrowheads="1"/>
            </p:cNvSpPr>
            <p:nvPr/>
          </p:nvSpPr>
          <p:spPr bwMode="auto">
            <a:xfrm>
              <a:off x="5095517"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p>
          </p:txBody>
        </p:sp>
        <p:sp>
          <p:nvSpPr>
            <p:cNvPr id="153" name="Rectangle 44"/>
            <p:cNvSpPr>
              <a:spLocks noChangeArrowheads="1"/>
            </p:cNvSpPr>
            <p:nvPr/>
          </p:nvSpPr>
          <p:spPr bwMode="auto">
            <a:xfrm>
              <a:off x="5414594"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4" name="Rectangle 44"/>
            <p:cNvSpPr>
              <a:spLocks noChangeArrowheads="1"/>
            </p:cNvSpPr>
            <p:nvPr/>
          </p:nvSpPr>
          <p:spPr bwMode="auto">
            <a:xfrm>
              <a:off x="5733671"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5" name="Rectangle 44"/>
            <p:cNvSpPr>
              <a:spLocks noChangeArrowheads="1"/>
            </p:cNvSpPr>
            <p:nvPr/>
          </p:nvSpPr>
          <p:spPr bwMode="auto">
            <a:xfrm>
              <a:off x="6052748"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6" name="Rectangle 44"/>
            <p:cNvSpPr>
              <a:spLocks noChangeArrowheads="1"/>
            </p:cNvSpPr>
            <p:nvPr/>
          </p:nvSpPr>
          <p:spPr bwMode="auto">
            <a:xfrm>
              <a:off x="6371825"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7" name="Rectangle 44"/>
            <p:cNvSpPr>
              <a:spLocks noChangeArrowheads="1"/>
            </p:cNvSpPr>
            <p:nvPr/>
          </p:nvSpPr>
          <p:spPr bwMode="auto">
            <a:xfrm>
              <a:off x="6690902"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grpSp>
      <p:grpSp>
        <p:nvGrpSpPr>
          <p:cNvPr id="158" name="组合 157"/>
          <p:cNvGrpSpPr/>
          <p:nvPr/>
        </p:nvGrpSpPr>
        <p:grpSpPr>
          <a:xfrm>
            <a:off x="7334292" y="4554313"/>
            <a:ext cx="3828922" cy="287338"/>
            <a:chOff x="7329056" y="3678781"/>
            <a:chExt cx="3828922" cy="287338"/>
          </a:xfrm>
          <a:solidFill>
            <a:schemeClr val="bg1">
              <a:lumMod val="95000"/>
            </a:schemeClr>
          </a:solidFill>
          <a:scene3d>
            <a:camera prst="orthographicFront">
              <a:rot lat="0" lon="0" rev="0"/>
            </a:camera>
            <a:lightRig rig="soft" dir="t">
              <a:rot lat="0" lon="0" rev="0"/>
            </a:lightRig>
          </a:scene3d>
        </p:grpSpPr>
        <p:sp>
          <p:nvSpPr>
            <p:cNvPr id="159" name="Rectangle 44"/>
            <p:cNvSpPr>
              <a:spLocks noChangeArrowheads="1"/>
            </p:cNvSpPr>
            <p:nvPr/>
          </p:nvSpPr>
          <p:spPr bwMode="auto">
            <a:xfrm>
              <a:off x="7329056"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0" name="Rectangle 44"/>
            <p:cNvSpPr>
              <a:spLocks noChangeArrowheads="1"/>
            </p:cNvSpPr>
            <p:nvPr/>
          </p:nvSpPr>
          <p:spPr bwMode="auto">
            <a:xfrm>
              <a:off x="7648133"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1" name="Rectangle 44"/>
            <p:cNvSpPr>
              <a:spLocks noChangeArrowheads="1"/>
            </p:cNvSpPr>
            <p:nvPr/>
          </p:nvSpPr>
          <p:spPr bwMode="auto">
            <a:xfrm>
              <a:off x="7967210"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2" name="Rectangle 44"/>
            <p:cNvSpPr>
              <a:spLocks noChangeArrowheads="1"/>
            </p:cNvSpPr>
            <p:nvPr/>
          </p:nvSpPr>
          <p:spPr bwMode="auto">
            <a:xfrm>
              <a:off x="8286287"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3" name="Rectangle 44"/>
            <p:cNvSpPr>
              <a:spLocks noChangeArrowheads="1"/>
            </p:cNvSpPr>
            <p:nvPr/>
          </p:nvSpPr>
          <p:spPr bwMode="auto">
            <a:xfrm>
              <a:off x="8605364"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4" name="Rectangle 44"/>
            <p:cNvSpPr>
              <a:spLocks noChangeArrowheads="1"/>
            </p:cNvSpPr>
            <p:nvPr/>
          </p:nvSpPr>
          <p:spPr bwMode="auto">
            <a:xfrm>
              <a:off x="8924441"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5" name="Rectangle 44"/>
            <p:cNvSpPr>
              <a:spLocks noChangeArrowheads="1"/>
            </p:cNvSpPr>
            <p:nvPr/>
          </p:nvSpPr>
          <p:spPr bwMode="auto">
            <a:xfrm>
              <a:off x="9243518"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6" name="Rectangle 44"/>
            <p:cNvSpPr>
              <a:spLocks noChangeArrowheads="1"/>
            </p:cNvSpPr>
            <p:nvPr/>
          </p:nvSpPr>
          <p:spPr bwMode="auto">
            <a:xfrm>
              <a:off x="10200747"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7" name="Rectangle 44"/>
            <p:cNvSpPr>
              <a:spLocks noChangeArrowheads="1"/>
            </p:cNvSpPr>
            <p:nvPr/>
          </p:nvSpPr>
          <p:spPr bwMode="auto">
            <a:xfrm>
              <a:off x="10519824"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8" name="Rectangle 44"/>
            <p:cNvSpPr>
              <a:spLocks noChangeArrowheads="1"/>
            </p:cNvSpPr>
            <p:nvPr/>
          </p:nvSpPr>
          <p:spPr bwMode="auto">
            <a:xfrm>
              <a:off x="10838901"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9" name="Rectangle 44"/>
            <p:cNvSpPr>
              <a:spLocks noChangeArrowheads="1"/>
            </p:cNvSpPr>
            <p:nvPr/>
          </p:nvSpPr>
          <p:spPr bwMode="auto">
            <a:xfrm>
              <a:off x="9562595"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70" name="Rectangle 44"/>
            <p:cNvSpPr>
              <a:spLocks noChangeArrowheads="1"/>
            </p:cNvSpPr>
            <p:nvPr/>
          </p:nvSpPr>
          <p:spPr bwMode="auto">
            <a:xfrm>
              <a:off x="9881672"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a:extLst/>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grpSp>
      <p:cxnSp>
        <p:nvCxnSpPr>
          <p:cNvPr id="171" name="直接箭头连接符 170"/>
          <p:cNvCxnSpPr>
            <a:endCxn id="114" idx="0"/>
          </p:cNvCxnSpPr>
          <p:nvPr/>
        </p:nvCxnSpPr>
        <p:spPr>
          <a:xfrm flipH="1">
            <a:off x="4941215" y="3983811"/>
            <a:ext cx="159538" cy="570496"/>
          </a:xfrm>
          <a:prstGeom prst="straightConnector1">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2" name="矩形 171"/>
          <p:cNvSpPr/>
          <p:nvPr/>
        </p:nvSpPr>
        <p:spPr>
          <a:xfrm>
            <a:off x="5100753" y="3668352"/>
            <a:ext cx="697627" cy="400110"/>
          </a:xfrm>
          <a:prstGeom prst="rect">
            <a:avLst/>
          </a:prstGeom>
          <a:noFill/>
          <a:ln>
            <a:noFill/>
          </a:ln>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丢弃</a:t>
            </a:r>
          </a:p>
        </p:txBody>
      </p:sp>
      <p:cxnSp>
        <p:nvCxnSpPr>
          <p:cNvPr id="173" name="直接箭头连接符 172"/>
          <p:cNvCxnSpPr>
            <a:endCxn id="113" idx="0"/>
          </p:cNvCxnSpPr>
          <p:nvPr/>
        </p:nvCxnSpPr>
        <p:spPr>
          <a:xfrm flipH="1">
            <a:off x="7174754" y="4053574"/>
            <a:ext cx="159538" cy="500739"/>
          </a:xfrm>
          <a:prstGeom prst="straightConnector1">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4" name="矩形 173"/>
          <p:cNvSpPr/>
          <p:nvPr/>
        </p:nvSpPr>
        <p:spPr>
          <a:xfrm>
            <a:off x="7391484" y="3668352"/>
            <a:ext cx="697627" cy="400110"/>
          </a:xfrm>
          <a:prstGeom prst="rect">
            <a:avLst/>
          </a:prstGeom>
          <a:noFill/>
          <a:ln>
            <a:noFill/>
          </a:ln>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丢弃</a:t>
            </a:r>
          </a:p>
        </p:txBody>
      </p:sp>
      <p:sp>
        <p:nvSpPr>
          <p:cNvPr id="175" name="Line 78"/>
          <p:cNvSpPr>
            <a:spLocks noChangeShapeType="1"/>
          </p:cNvSpPr>
          <p:nvPr/>
        </p:nvSpPr>
        <p:spPr bwMode="auto">
          <a:xfrm flipH="1">
            <a:off x="4941213" y="4869766"/>
            <a:ext cx="281807" cy="668234"/>
          </a:xfrm>
          <a:prstGeom prst="line">
            <a:avLst/>
          </a:prstGeom>
          <a:noFill/>
          <a:ln w="19050">
            <a:solidFill>
              <a:srgbClr val="C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sp>
        <p:nvSpPr>
          <p:cNvPr id="176" name="Line 78"/>
          <p:cNvSpPr>
            <a:spLocks noChangeShapeType="1"/>
          </p:cNvSpPr>
          <p:nvPr/>
        </p:nvSpPr>
        <p:spPr bwMode="auto">
          <a:xfrm flipH="1">
            <a:off x="6855674" y="4898031"/>
            <a:ext cx="550059" cy="639962"/>
          </a:xfrm>
          <a:prstGeom prst="line">
            <a:avLst/>
          </a:prstGeom>
          <a:noFill/>
          <a:ln w="19050">
            <a:solidFill>
              <a:srgbClr val="C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cxnSp>
        <p:nvCxnSpPr>
          <p:cNvPr id="177" name="直接箭头连接符 176"/>
          <p:cNvCxnSpPr/>
          <p:nvPr/>
        </p:nvCxnSpPr>
        <p:spPr>
          <a:xfrm>
            <a:off x="2867215" y="4994409"/>
            <a:ext cx="1914461"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8" name="直接箭头连接符 177"/>
          <p:cNvCxnSpPr/>
          <p:nvPr/>
        </p:nvCxnSpPr>
        <p:spPr>
          <a:xfrm>
            <a:off x="5174506" y="4994409"/>
            <a:ext cx="1840709"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9" name="直接箭头连接符 178"/>
          <p:cNvCxnSpPr/>
          <p:nvPr/>
        </p:nvCxnSpPr>
        <p:spPr>
          <a:xfrm>
            <a:off x="7391484" y="4994409"/>
            <a:ext cx="3669384"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631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wipe(left)">
                                      <p:cBhvr>
                                        <p:cTn id="7" dur="5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4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5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5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1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2"/>
                                        </p:tgtEl>
                                        <p:attrNameLst>
                                          <p:attrName>style.visibility</p:attrName>
                                        </p:attrNameLst>
                                      </p:cBhvr>
                                      <p:to>
                                        <p:strVal val="visible"/>
                                      </p:to>
                                    </p:set>
                                    <p:animEffect transition="in" filter="wipe(left)">
                                      <p:cBhvr>
                                        <p:cTn id="24" dur="500"/>
                                        <p:tgtEl>
                                          <p:spTgt spid="14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77"/>
                                        </p:tgtEl>
                                        <p:attrNameLst>
                                          <p:attrName>style.visibility</p:attrName>
                                        </p:attrNameLst>
                                      </p:cBhvr>
                                      <p:to>
                                        <p:strVal val="visible"/>
                                      </p:to>
                                    </p:set>
                                    <p:animEffect transition="in" filter="wipe(left)">
                                      <p:cBhvr>
                                        <p:cTn id="29" dur="500"/>
                                        <p:tgtEl>
                                          <p:spTgt spid="177"/>
                                        </p:tgtEl>
                                      </p:cBhvr>
                                    </p:animEffect>
                                  </p:childTnLst>
                                  <p:subTnLst>
                                    <p:set>
                                      <p:cBhvr override="childStyle">
                                        <p:cTn dur="1" fill="hold" display="0" masterRel="nextClick" afterEffect="1"/>
                                        <p:tgtEl>
                                          <p:spTgt spid="177"/>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1" nodeType="clickEffect">
                                  <p:stCondLst>
                                    <p:cond delay="0"/>
                                  </p:stCondLst>
                                  <p:childTnLst>
                                    <p:set>
                                      <p:cBhvr>
                                        <p:cTn id="33" dur="1" fill="hold">
                                          <p:stCondLst>
                                            <p:cond delay="0"/>
                                          </p:stCondLst>
                                        </p:cTn>
                                        <p:tgtEl>
                                          <p:spTgt spid="114"/>
                                        </p:tgtEl>
                                        <p:attrNameLst>
                                          <p:attrName>style.visibility</p:attrName>
                                        </p:attrNameLst>
                                      </p:cBhvr>
                                      <p:to>
                                        <p:strVal val="visible"/>
                                      </p:to>
                                    </p:set>
                                    <p:animEffect transition="in" filter="randombar(horizontal)">
                                      <p:cBhvr>
                                        <p:cTn id="34" dur="500"/>
                                        <p:tgtEl>
                                          <p:spTgt spid="114"/>
                                        </p:tgtEl>
                                      </p:cBhvr>
                                    </p:animEffect>
                                  </p:childTnLst>
                                  <p:subTnLst>
                                    <p:animClr clrSpc="rgb" dir="cw">
                                      <p:cBhvr override="childStyle">
                                        <p:cTn dur="1" fill="hold" display="0" masterRel="nextClick" afterEffect="1"/>
                                        <p:tgtEl>
                                          <p:spTgt spid="114"/>
                                        </p:tgtEl>
                                        <p:attrNameLst>
                                          <p:attrName>ppt_c</p:attrName>
                                        </p:attrNameLst>
                                      </p:cBhvr>
                                      <p:to>
                                        <a:schemeClr val="bg1"/>
                                      </p:to>
                                    </p:animClr>
                                  </p:subTnLst>
                                </p:cTn>
                              </p:par>
                              <p:par>
                                <p:cTn id="35" presetID="14" presetClass="entr" presetSubtype="10" fill="hold" nodeType="withEffect">
                                  <p:stCondLst>
                                    <p:cond delay="0"/>
                                  </p:stCondLst>
                                  <p:childTnLst>
                                    <p:set>
                                      <p:cBhvr>
                                        <p:cTn id="36" dur="1" fill="hold">
                                          <p:stCondLst>
                                            <p:cond delay="0"/>
                                          </p:stCondLst>
                                        </p:cTn>
                                        <p:tgtEl>
                                          <p:spTgt spid="171"/>
                                        </p:tgtEl>
                                        <p:attrNameLst>
                                          <p:attrName>style.visibility</p:attrName>
                                        </p:attrNameLst>
                                      </p:cBhvr>
                                      <p:to>
                                        <p:strVal val="visible"/>
                                      </p:to>
                                    </p:set>
                                    <p:animEffect transition="in" filter="randombar(horizontal)">
                                      <p:cBhvr>
                                        <p:cTn id="37" dur="500"/>
                                        <p:tgtEl>
                                          <p:spTgt spid="171"/>
                                        </p:tgtEl>
                                      </p:cBhvr>
                                    </p:animEffect>
                                  </p:childTnLst>
                                  <p:subTnLst>
                                    <p:animClr clrSpc="rgb" dir="cw">
                                      <p:cBhvr override="childStyle">
                                        <p:cTn dur="1" fill="hold" display="0" masterRel="nextClick" afterEffect="1"/>
                                        <p:tgtEl>
                                          <p:spTgt spid="171"/>
                                        </p:tgtEl>
                                        <p:attrNameLst>
                                          <p:attrName>ppt_c</p:attrName>
                                        </p:attrNameLst>
                                      </p:cBhvr>
                                      <p:to>
                                        <a:schemeClr val="bg1"/>
                                      </p:to>
                                    </p:animClr>
                                  </p:subTnLst>
                                </p:cTn>
                              </p:par>
                              <p:par>
                                <p:cTn id="38" presetID="14" presetClass="entr" presetSubtype="10" fill="hold" grpId="0" nodeType="withEffect">
                                  <p:stCondLst>
                                    <p:cond delay="0"/>
                                  </p:stCondLst>
                                  <p:childTnLst>
                                    <p:set>
                                      <p:cBhvr>
                                        <p:cTn id="39" dur="1" fill="hold">
                                          <p:stCondLst>
                                            <p:cond delay="0"/>
                                          </p:stCondLst>
                                        </p:cTn>
                                        <p:tgtEl>
                                          <p:spTgt spid="172"/>
                                        </p:tgtEl>
                                        <p:attrNameLst>
                                          <p:attrName>style.visibility</p:attrName>
                                        </p:attrNameLst>
                                      </p:cBhvr>
                                      <p:to>
                                        <p:strVal val="visible"/>
                                      </p:to>
                                    </p:set>
                                    <p:animEffect transition="in" filter="randombar(horizontal)">
                                      <p:cBhvr>
                                        <p:cTn id="40" dur="500"/>
                                        <p:tgtEl>
                                          <p:spTgt spid="172"/>
                                        </p:tgtEl>
                                      </p:cBhvr>
                                    </p:animEffect>
                                  </p:childTnLst>
                                  <p:subTnLst>
                                    <p:animClr clrSpc="rgb" dir="cw">
                                      <p:cBhvr override="childStyle">
                                        <p:cTn dur="1" fill="hold" display="0" masterRel="nextClick" afterEffect="1"/>
                                        <p:tgtEl>
                                          <p:spTgt spid="172"/>
                                        </p:tgtEl>
                                        <p:attrNameLst>
                                          <p:attrName>ppt_c</p:attrName>
                                        </p:attrNameLst>
                                      </p:cBhvr>
                                      <p:to>
                                        <a:schemeClr val="bg1"/>
                                      </p:to>
                                    </p:animClr>
                                  </p:sub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15"/>
                                        </p:tgtEl>
                                        <p:attrNameLst>
                                          <p:attrName>style.visibility</p:attrName>
                                        </p:attrNameLst>
                                      </p:cBhvr>
                                      <p:to>
                                        <p:strVal val="visible"/>
                                      </p:to>
                                    </p:set>
                                    <p:animEffect transition="in" filter="wipe(left)">
                                      <p:cBhvr>
                                        <p:cTn id="45" dur="500"/>
                                        <p:tgtEl>
                                          <p:spTgt spid="11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78"/>
                                        </p:tgtEl>
                                        <p:attrNameLst>
                                          <p:attrName>style.visibility</p:attrName>
                                        </p:attrNameLst>
                                      </p:cBhvr>
                                      <p:to>
                                        <p:strVal val="visible"/>
                                      </p:to>
                                    </p:set>
                                    <p:animEffect transition="in" filter="wipe(left)">
                                      <p:cBhvr>
                                        <p:cTn id="50" dur="500"/>
                                        <p:tgtEl>
                                          <p:spTgt spid="178"/>
                                        </p:tgtEl>
                                      </p:cBhvr>
                                    </p:animEffect>
                                  </p:childTnLst>
                                  <p:subTnLst>
                                    <p:set>
                                      <p:cBhvr override="childStyle">
                                        <p:cTn dur="1" fill="hold" display="0" masterRel="nextClick" afterEffect="1"/>
                                        <p:tgtEl>
                                          <p:spTgt spid="178"/>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1" nodeType="clickEffect">
                                  <p:stCondLst>
                                    <p:cond delay="0"/>
                                  </p:stCondLst>
                                  <p:childTnLst>
                                    <p:set>
                                      <p:cBhvr>
                                        <p:cTn id="54" dur="1" fill="hold">
                                          <p:stCondLst>
                                            <p:cond delay="0"/>
                                          </p:stCondLst>
                                        </p:cTn>
                                        <p:tgtEl>
                                          <p:spTgt spid="113"/>
                                        </p:tgtEl>
                                        <p:attrNameLst>
                                          <p:attrName>style.visibility</p:attrName>
                                        </p:attrNameLst>
                                      </p:cBhvr>
                                      <p:to>
                                        <p:strVal val="visible"/>
                                      </p:to>
                                    </p:set>
                                    <p:animEffect transition="in" filter="randombar(horizontal)">
                                      <p:cBhvr>
                                        <p:cTn id="55" dur="500"/>
                                        <p:tgtEl>
                                          <p:spTgt spid="113"/>
                                        </p:tgtEl>
                                      </p:cBhvr>
                                    </p:animEffect>
                                  </p:childTnLst>
                                  <p:subTnLst>
                                    <p:animClr clrSpc="rgb" dir="cw">
                                      <p:cBhvr override="childStyle">
                                        <p:cTn dur="1" fill="hold" display="0" masterRel="nextClick" afterEffect="1"/>
                                        <p:tgtEl>
                                          <p:spTgt spid="113"/>
                                        </p:tgtEl>
                                        <p:attrNameLst>
                                          <p:attrName>ppt_c</p:attrName>
                                        </p:attrNameLst>
                                      </p:cBhvr>
                                      <p:to>
                                        <a:schemeClr val="bg1"/>
                                      </p:to>
                                    </p:animClr>
                                  </p:subTnLst>
                                </p:cTn>
                              </p:par>
                              <p:par>
                                <p:cTn id="56" presetID="14" presetClass="entr" presetSubtype="10" fill="hold" nodeType="withEffect">
                                  <p:stCondLst>
                                    <p:cond delay="0"/>
                                  </p:stCondLst>
                                  <p:childTnLst>
                                    <p:set>
                                      <p:cBhvr>
                                        <p:cTn id="57" dur="1" fill="hold">
                                          <p:stCondLst>
                                            <p:cond delay="0"/>
                                          </p:stCondLst>
                                        </p:cTn>
                                        <p:tgtEl>
                                          <p:spTgt spid="173"/>
                                        </p:tgtEl>
                                        <p:attrNameLst>
                                          <p:attrName>style.visibility</p:attrName>
                                        </p:attrNameLst>
                                      </p:cBhvr>
                                      <p:to>
                                        <p:strVal val="visible"/>
                                      </p:to>
                                    </p:set>
                                    <p:animEffect transition="in" filter="randombar(horizontal)">
                                      <p:cBhvr>
                                        <p:cTn id="58" dur="500"/>
                                        <p:tgtEl>
                                          <p:spTgt spid="173"/>
                                        </p:tgtEl>
                                      </p:cBhvr>
                                    </p:animEffect>
                                  </p:childTnLst>
                                  <p:subTnLst>
                                    <p:animClr clrSpc="rgb" dir="cw">
                                      <p:cBhvr override="childStyle">
                                        <p:cTn dur="1" fill="hold" display="0" masterRel="nextClick" afterEffect="1"/>
                                        <p:tgtEl>
                                          <p:spTgt spid="173"/>
                                        </p:tgtEl>
                                        <p:attrNameLst>
                                          <p:attrName>ppt_c</p:attrName>
                                        </p:attrNameLst>
                                      </p:cBhvr>
                                      <p:to>
                                        <a:schemeClr val="bg1"/>
                                      </p:to>
                                    </p:animClr>
                                  </p:subTnLst>
                                </p:cTn>
                              </p:par>
                              <p:par>
                                <p:cTn id="59" presetID="14" presetClass="entr" presetSubtype="10" fill="hold" grpId="0" nodeType="withEffect">
                                  <p:stCondLst>
                                    <p:cond delay="0"/>
                                  </p:stCondLst>
                                  <p:childTnLst>
                                    <p:set>
                                      <p:cBhvr>
                                        <p:cTn id="60" dur="1" fill="hold">
                                          <p:stCondLst>
                                            <p:cond delay="0"/>
                                          </p:stCondLst>
                                        </p:cTn>
                                        <p:tgtEl>
                                          <p:spTgt spid="174"/>
                                        </p:tgtEl>
                                        <p:attrNameLst>
                                          <p:attrName>style.visibility</p:attrName>
                                        </p:attrNameLst>
                                      </p:cBhvr>
                                      <p:to>
                                        <p:strVal val="visible"/>
                                      </p:to>
                                    </p:set>
                                    <p:animEffect transition="in" filter="randombar(horizontal)">
                                      <p:cBhvr>
                                        <p:cTn id="61" dur="500"/>
                                        <p:tgtEl>
                                          <p:spTgt spid="174"/>
                                        </p:tgtEl>
                                      </p:cBhvr>
                                    </p:animEffect>
                                  </p:childTnLst>
                                  <p:subTnLst>
                                    <p:animClr clrSpc="rgb" dir="cw">
                                      <p:cBhvr override="childStyle">
                                        <p:cTn dur="1" fill="hold" display="0" masterRel="nextClick" afterEffect="1"/>
                                        <p:tgtEl>
                                          <p:spTgt spid="174"/>
                                        </p:tgtEl>
                                        <p:attrNameLst>
                                          <p:attrName>ppt_c</p:attrName>
                                        </p:attrNameLst>
                                      </p:cBhvr>
                                      <p:to>
                                        <a:schemeClr val="bg1"/>
                                      </p:to>
                                    </p:animClr>
                                  </p:sub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175"/>
                                        </p:tgtEl>
                                        <p:attrNameLst>
                                          <p:attrName>style.visibility</p:attrName>
                                        </p:attrNameLst>
                                      </p:cBhvr>
                                      <p:to>
                                        <p:strVal val="visible"/>
                                      </p:to>
                                    </p:set>
                                    <p:animEffect transition="in" filter="wipe(up)">
                                      <p:cBhvr>
                                        <p:cTn id="66" dur="500"/>
                                        <p:tgtEl>
                                          <p:spTgt spid="17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22"/>
                                        </p:tgtEl>
                                        <p:attrNameLst>
                                          <p:attrName>style.visibility</p:attrName>
                                        </p:attrNameLst>
                                      </p:cBhvr>
                                      <p:to>
                                        <p:strVal val="visible"/>
                                      </p:to>
                                    </p:set>
                                    <p:animEffect transition="in" filter="wipe(left)">
                                      <p:cBhvr>
                                        <p:cTn id="71" dur="500"/>
                                        <p:tgtEl>
                                          <p:spTgt spid="12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79"/>
                                        </p:tgtEl>
                                        <p:attrNameLst>
                                          <p:attrName>style.visibility</p:attrName>
                                        </p:attrNameLst>
                                      </p:cBhvr>
                                      <p:to>
                                        <p:strVal val="visible"/>
                                      </p:to>
                                    </p:set>
                                    <p:animEffect transition="in" filter="wipe(left)">
                                      <p:cBhvr>
                                        <p:cTn id="76" dur="500"/>
                                        <p:tgtEl>
                                          <p:spTgt spid="179"/>
                                        </p:tgtEl>
                                      </p:cBhvr>
                                    </p:animEffect>
                                  </p:childTnLst>
                                  <p:subTnLst>
                                    <p:set>
                                      <p:cBhvr override="childStyle">
                                        <p:cTn dur="1" fill="hold" display="0" masterRel="nextClick" afterEffect="1"/>
                                        <p:tgtEl>
                                          <p:spTgt spid="179"/>
                                        </p:tgtEl>
                                        <p:attrNameLst>
                                          <p:attrName>style.visibility</p:attrName>
                                        </p:attrNameLst>
                                      </p:cBhvr>
                                      <p:to>
                                        <p:strVal val="hidden"/>
                                      </p:to>
                                    </p:set>
                                  </p:sub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176"/>
                                        </p:tgtEl>
                                        <p:attrNameLst>
                                          <p:attrName>style.visibility</p:attrName>
                                        </p:attrNameLst>
                                      </p:cBhvr>
                                      <p:to>
                                        <p:strVal val="visible"/>
                                      </p:to>
                                    </p:set>
                                    <p:animEffect transition="in" filter="wipe(up)">
                                      <p:cBhvr>
                                        <p:cTn id="81" dur="500"/>
                                        <p:tgtEl>
                                          <p:spTgt spid="176"/>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29"/>
                                        </p:tgtEl>
                                        <p:attrNameLst>
                                          <p:attrName>style.visibility</p:attrName>
                                        </p:attrNameLst>
                                      </p:cBhvr>
                                      <p:to>
                                        <p:strVal val="visible"/>
                                      </p:to>
                                    </p:set>
                                    <p:animEffect transition="in" filter="wipe(left)">
                                      <p:cBhvr>
                                        <p:cTn id="86"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13" grpId="1" animBg="1"/>
      <p:bldP spid="114" grpId="0" animBg="1"/>
      <p:bldP spid="114" grpId="1" animBg="1"/>
      <p:bldP spid="142" grpId="0"/>
      <p:bldP spid="143" grpId="0"/>
      <p:bldP spid="172" grpId="0"/>
      <p:bldP spid="174" grpId="0"/>
      <p:bldP spid="175" grpId="0" animBg="1"/>
      <p:bldP spid="17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631065" y="1371601"/>
            <a:ext cx="10998557" cy="5063124"/>
          </a:xfrm>
        </p:spPr>
        <p:txBody>
          <a:bodyPr>
            <a:normAutofit fontScale="92500"/>
          </a:bodyPr>
          <a:lstStyle/>
          <a:p>
            <a:pPr>
              <a:lnSpc>
                <a:spcPts val="2800"/>
              </a:lnSpc>
            </a:pPr>
            <a:r>
              <a:rPr lang="zh-CN" altLang="en-US" dirty="0">
                <a:solidFill>
                  <a:srgbClr val="C00000"/>
                </a:solidFill>
              </a:rPr>
              <a:t>物理层编码违例：</a:t>
            </a:r>
            <a:endParaRPr lang="en-US" altLang="zh-CN" dirty="0">
              <a:solidFill>
                <a:srgbClr val="C00000"/>
              </a:solidFill>
            </a:endParaRPr>
          </a:p>
          <a:p>
            <a:pPr lvl="1">
              <a:lnSpc>
                <a:spcPts val="2800"/>
              </a:lnSpc>
            </a:pPr>
            <a:r>
              <a:rPr lang="zh-CN" altLang="en-US" dirty="0"/>
              <a:t>核心思想：选择的定界符不会在数据部分出现</a:t>
            </a:r>
            <a:endParaRPr lang="en-US" altLang="zh-CN" dirty="0"/>
          </a:p>
          <a:p>
            <a:pPr lvl="1">
              <a:lnSpc>
                <a:spcPts val="2800"/>
              </a:lnSpc>
              <a:spcBef>
                <a:spcPts val="1200"/>
              </a:spcBef>
            </a:pPr>
            <a:r>
              <a:rPr lang="en-US" altLang="zh-CN" dirty="0"/>
              <a:t>4B/5B</a:t>
            </a:r>
            <a:r>
              <a:rPr lang="zh-CN" altLang="en-US" dirty="0"/>
              <a:t>编码方案</a:t>
            </a:r>
            <a:endParaRPr lang="en-US" altLang="zh-CN" dirty="0"/>
          </a:p>
          <a:p>
            <a:pPr lvl="2">
              <a:lnSpc>
                <a:spcPts val="2800"/>
              </a:lnSpc>
              <a:buFont typeface="Microsoft YaHei" panose="020B0503020204020204" pitchFamily="34" charset="-122"/>
              <a:buChar char="−"/>
            </a:pPr>
            <a:r>
              <a:rPr lang="en-US" altLang="zh-CN" sz="2100" dirty="0"/>
              <a:t>4</a:t>
            </a:r>
            <a:r>
              <a:rPr lang="zh-CN" altLang="en-US" sz="2100" dirty="0"/>
              <a:t>比特数据映射成</a:t>
            </a:r>
            <a:r>
              <a:rPr lang="en-US" altLang="zh-CN" sz="2100" dirty="0">
                <a:solidFill>
                  <a:srgbClr val="7030A0"/>
                </a:solidFill>
              </a:rPr>
              <a:t>5</a:t>
            </a:r>
            <a:r>
              <a:rPr lang="zh-CN" altLang="en-US" sz="2100" dirty="0">
                <a:solidFill>
                  <a:srgbClr val="7030A0"/>
                </a:solidFill>
              </a:rPr>
              <a:t>比特编码，</a:t>
            </a:r>
            <a:r>
              <a:rPr lang="zh-CN" altLang="en-US" dirty="0"/>
              <a:t>剩余的一半码字（</a:t>
            </a:r>
            <a:r>
              <a:rPr lang="en-US" altLang="zh-CN" dirty="0"/>
              <a:t>16</a:t>
            </a:r>
            <a:r>
              <a:rPr lang="zh-CN" altLang="en-US" dirty="0"/>
              <a:t>个码字）未使用，可以用做帧定界符</a:t>
            </a:r>
            <a:endParaRPr lang="en-US" altLang="zh-CN" dirty="0"/>
          </a:p>
          <a:p>
            <a:pPr lvl="2">
              <a:lnSpc>
                <a:spcPts val="2800"/>
              </a:lnSpc>
              <a:buFont typeface="Microsoft YaHei" panose="020B0503020204020204" pitchFamily="34" charset="-122"/>
              <a:buChar char="−"/>
            </a:pPr>
            <a:r>
              <a:rPr lang="zh-CN" altLang="en-US" dirty="0"/>
              <a:t>例如：</a:t>
            </a:r>
            <a:r>
              <a:rPr lang="en-US" altLang="zh-CN" dirty="0"/>
              <a:t> 00110</a:t>
            </a:r>
            <a:r>
              <a:rPr lang="zh-CN" altLang="en-US" dirty="0"/>
              <a:t>组合不包含在</a:t>
            </a:r>
            <a:r>
              <a:rPr lang="en-US" altLang="zh-CN" dirty="0"/>
              <a:t>4B/5B</a:t>
            </a:r>
            <a:r>
              <a:rPr lang="zh-CN" altLang="en-US" dirty="0"/>
              <a:t>编码中，可做帧定界符</a:t>
            </a:r>
            <a:endParaRPr lang="en-US" altLang="zh-CN" dirty="0"/>
          </a:p>
          <a:p>
            <a:pPr lvl="1">
              <a:lnSpc>
                <a:spcPts val="2800"/>
              </a:lnSpc>
              <a:spcBef>
                <a:spcPts val="1200"/>
              </a:spcBef>
            </a:pPr>
            <a:r>
              <a:rPr lang="zh-CN" altLang="en-US" dirty="0"/>
              <a:t>前导码</a:t>
            </a:r>
            <a:endParaRPr lang="en-US" altLang="zh-CN" dirty="0"/>
          </a:p>
          <a:p>
            <a:pPr lvl="2">
              <a:lnSpc>
                <a:spcPts val="2800"/>
              </a:lnSpc>
              <a:buFont typeface="Microsoft YaHei" panose="020B0503020204020204" pitchFamily="34" charset="-122"/>
              <a:buChar char="−"/>
            </a:pPr>
            <a:r>
              <a:rPr lang="zh-CN" altLang="en-US" dirty="0"/>
              <a:t>存在很长的 </a:t>
            </a:r>
            <a:r>
              <a:rPr lang="zh-CN" altLang="en-US" dirty="0">
                <a:solidFill>
                  <a:srgbClr val="7030A0"/>
                </a:solidFill>
              </a:rPr>
              <a:t>前导码</a:t>
            </a:r>
            <a:r>
              <a:rPr lang="zh-CN" altLang="en-US" dirty="0"/>
              <a:t>（</a:t>
            </a:r>
            <a:r>
              <a:rPr lang="en-US" altLang="zh-CN" dirty="0"/>
              <a:t>preamble</a:t>
            </a:r>
            <a:r>
              <a:rPr lang="zh-CN" altLang="en-US" dirty="0"/>
              <a:t>），可以用作定界符</a:t>
            </a:r>
            <a:endParaRPr lang="en-US" altLang="zh-CN" dirty="0"/>
          </a:p>
          <a:p>
            <a:pPr lvl="2">
              <a:lnSpc>
                <a:spcPts val="2800"/>
              </a:lnSpc>
              <a:buFont typeface="Microsoft YaHei" panose="020B0503020204020204" pitchFamily="34" charset="-122"/>
              <a:buChar char="−"/>
            </a:pPr>
            <a:r>
              <a:rPr lang="zh-CN" altLang="en-US" dirty="0"/>
              <a:t>例如：传统以太网、</a:t>
            </a:r>
            <a:r>
              <a:rPr lang="en-US" altLang="zh-CN" dirty="0"/>
              <a:t>802.11</a:t>
            </a:r>
          </a:p>
          <a:p>
            <a:pPr lvl="1">
              <a:lnSpc>
                <a:spcPts val="2800"/>
              </a:lnSpc>
              <a:spcBef>
                <a:spcPts val="1200"/>
              </a:spcBef>
            </a:pPr>
            <a:r>
              <a:rPr lang="zh-CN" altLang="en-US" dirty="0"/>
              <a:t>曼切斯特编码 </a:t>
            </a:r>
            <a:r>
              <a:rPr lang="en-US" altLang="zh-CN" dirty="0"/>
              <a:t>/ </a:t>
            </a:r>
            <a:r>
              <a:rPr lang="zh-CN" altLang="en-US" dirty="0"/>
              <a:t>差分曼切斯特编码</a:t>
            </a:r>
            <a:endParaRPr lang="en-US" altLang="zh-CN" dirty="0"/>
          </a:p>
          <a:p>
            <a:pPr lvl="2">
              <a:lnSpc>
                <a:spcPts val="2800"/>
              </a:lnSpc>
              <a:buFont typeface="Microsoft YaHei" panose="020B0503020204020204" pitchFamily="34" charset="-122"/>
              <a:buChar char="−"/>
            </a:pPr>
            <a:r>
              <a:rPr lang="zh-CN" altLang="en-US" dirty="0"/>
              <a:t>正常的信号在周期</a:t>
            </a:r>
            <a:r>
              <a:rPr lang="zh-CN" altLang="en-US" sz="2100" dirty="0">
                <a:solidFill>
                  <a:srgbClr val="7030A0"/>
                </a:solidFill>
              </a:rPr>
              <a:t>中间有跳变</a:t>
            </a:r>
            <a:r>
              <a:rPr lang="zh-CN" altLang="en-US" dirty="0"/>
              <a:t>，持续的高电平（或低电平）为违例码，可以用作定界符</a:t>
            </a:r>
            <a:endParaRPr lang="en-US" altLang="zh-CN" dirty="0"/>
          </a:p>
          <a:p>
            <a:pPr lvl="2">
              <a:lnSpc>
                <a:spcPts val="2800"/>
              </a:lnSpc>
              <a:buFont typeface="Microsoft YaHei" panose="020B0503020204020204" pitchFamily="34" charset="-122"/>
              <a:buChar char="−"/>
            </a:pPr>
            <a:r>
              <a:rPr lang="zh-CN" altLang="en-US" dirty="0"/>
              <a:t>例如：</a:t>
            </a:r>
            <a:r>
              <a:rPr lang="en-US" altLang="zh-CN" dirty="0"/>
              <a:t>802.5</a:t>
            </a:r>
            <a:r>
              <a:rPr lang="zh-CN" altLang="en-US" dirty="0"/>
              <a:t>令牌环网</a:t>
            </a: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41167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差错控制</a:t>
            </a:r>
          </a:p>
        </p:txBody>
      </p:sp>
      <p:sp>
        <p:nvSpPr>
          <p:cNvPr id="3" name="内容占位符 2"/>
          <p:cNvSpPr>
            <a:spLocks noGrp="1"/>
          </p:cNvSpPr>
          <p:nvPr>
            <p:ph idx="1"/>
          </p:nvPr>
        </p:nvSpPr>
        <p:spPr/>
        <p:txBody>
          <a:bodyPr>
            <a:normAutofit/>
          </a:bodyPr>
          <a:lstStyle/>
          <a:p>
            <a:r>
              <a:rPr lang="zh-CN" altLang="en-US" dirty="0"/>
              <a:t>链路层存在的一个问题：</a:t>
            </a:r>
            <a:r>
              <a:rPr lang="zh-CN" altLang="en-US" dirty="0">
                <a:solidFill>
                  <a:srgbClr val="C00000"/>
                </a:solidFill>
              </a:rPr>
              <a:t>信道的噪声导致数据传输问题</a:t>
            </a:r>
            <a:endParaRPr lang="en-US" altLang="zh-CN" dirty="0">
              <a:solidFill>
                <a:srgbClr val="C00000"/>
              </a:solidFill>
            </a:endParaRPr>
          </a:p>
          <a:p>
            <a:pPr lvl="1"/>
            <a:r>
              <a:rPr lang="zh-CN" altLang="en-US" dirty="0"/>
              <a:t>差错（</a:t>
            </a:r>
            <a:r>
              <a:rPr lang="en-US" altLang="zh-CN" dirty="0"/>
              <a:t> incorrect </a:t>
            </a:r>
            <a:r>
              <a:rPr lang="zh-CN" altLang="en-US" dirty="0"/>
              <a:t>）：数据发生错误</a:t>
            </a:r>
            <a:endParaRPr lang="en-US" altLang="zh-CN" dirty="0"/>
          </a:p>
          <a:p>
            <a:pPr lvl="1"/>
            <a:r>
              <a:rPr lang="zh-CN" altLang="en-US" dirty="0"/>
              <a:t>丢失（</a:t>
            </a:r>
            <a:r>
              <a:rPr lang="en-US" altLang="zh-CN" dirty="0"/>
              <a:t> lost </a:t>
            </a:r>
            <a:r>
              <a:rPr lang="zh-CN" altLang="en-US" dirty="0"/>
              <a:t>）：接收方未收到</a:t>
            </a:r>
            <a:endParaRPr lang="en-US" altLang="zh-CN" dirty="0"/>
          </a:p>
          <a:p>
            <a:pPr lvl="1"/>
            <a:r>
              <a:rPr lang="zh-CN" altLang="en-US" dirty="0">
                <a:solidFill>
                  <a:srgbClr val="7030A0"/>
                </a:solidFill>
              </a:rPr>
              <a:t>乱序（</a:t>
            </a:r>
            <a:r>
              <a:rPr lang="en-US" altLang="zh-CN" dirty="0">
                <a:solidFill>
                  <a:srgbClr val="7030A0"/>
                </a:solidFill>
              </a:rPr>
              <a:t>out of order</a:t>
            </a:r>
            <a:r>
              <a:rPr lang="zh-CN" altLang="en-US" dirty="0">
                <a:solidFill>
                  <a:srgbClr val="7030A0"/>
                </a:solidFill>
              </a:rPr>
              <a:t>）：先发后到，后发先到</a:t>
            </a:r>
            <a:endParaRPr lang="en-US" altLang="zh-CN" dirty="0">
              <a:solidFill>
                <a:srgbClr val="7030A0"/>
              </a:solidFill>
            </a:endParaRPr>
          </a:p>
          <a:p>
            <a:pPr lvl="1"/>
            <a:r>
              <a:rPr lang="zh-CN" altLang="en-US" dirty="0"/>
              <a:t>重复（</a:t>
            </a:r>
            <a:r>
              <a:rPr lang="en-US" altLang="zh-CN" dirty="0"/>
              <a:t>repeatedly delivery</a:t>
            </a:r>
            <a:r>
              <a:rPr lang="zh-CN" altLang="en-US" dirty="0"/>
              <a:t>）：一次发送，多次接收</a:t>
            </a:r>
            <a:endParaRPr lang="en-US" altLang="zh-CN" dirty="0"/>
          </a:p>
          <a:p>
            <a:pPr>
              <a:spcBef>
                <a:spcPts val="2400"/>
              </a:spcBef>
            </a:pPr>
            <a:r>
              <a:rPr lang="zh-CN" altLang="en-US" dirty="0"/>
              <a:t>解决方案：</a:t>
            </a:r>
            <a:r>
              <a:rPr lang="zh-CN" altLang="en-US" dirty="0">
                <a:solidFill>
                  <a:srgbClr val="C00000"/>
                </a:solidFill>
              </a:rPr>
              <a:t>差错检测与纠正、确认重传</a:t>
            </a:r>
            <a:endParaRPr lang="en-US" altLang="zh-CN" dirty="0">
              <a:solidFill>
                <a:srgbClr val="C00000"/>
              </a:solidFill>
            </a:endParaRPr>
          </a:p>
          <a:p>
            <a:pPr lvl="1"/>
            <a:r>
              <a:rPr lang="zh-CN" altLang="en-US" dirty="0"/>
              <a:t>确认：</a:t>
            </a:r>
            <a:r>
              <a:rPr lang="zh-CN" altLang="en-US" dirty="0">
                <a:solidFill>
                  <a:srgbClr val="7030A0"/>
                </a:solidFill>
              </a:rPr>
              <a:t>接收方</a:t>
            </a:r>
            <a:r>
              <a:rPr lang="zh-CN" altLang="en-US" dirty="0"/>
              <a:t>校验数据（差错校验），并给发送方应答，防止</a:t>
            </a:r>
            <a:r>
              <a:rPr lang="zh-CN" altLang="en-US" dirty="0">
                <a:solidFill>
                  <a:srgbClr val="7030A0"/>
                </a:solidFill>
              </a:rPr>
              <a:t>差错</a:t>
            </a:r>
            <a:endParaRPr lang="en-US" altLang="zh-CN" dirty="0"/>
          </a:p>
          <a:p>
            <a:pPr lvl="1"/>
            <a:r>
              <a:rPr lang="zh-CN" altLang="en-US" dirty="0"/>
              <a:t>定时器：</a:t>
            </a:r>
            <a:r>
              <a:rPr lang="zh-CN" altLang="en-US" dirty="0">
                <a:solidFill>
                  <a:srgbClr val="7030A0"/>
                </a:solidFill>
              </a:rPr>
              <a:t>发送方</a:t>
            </a:r>
            <a:r>
              <a:rPr lang="zh-CN" altLang="en-US" dirty="0"/>
              <a:t>启动定时器，防止</a:t>
            </a:r>
            <a:r>
              <a:rPr lang="zh-CN" altLang="en-US" dirty="0">
                <a:solidFill>
                  <a:srgbClr val="7030A0"/>
                </a:solidFill>
              </a:rPr>
              <a:t>丢失</a:t>
            </a:r>
            <a:endParaRPr lang="en-US" altLang="zh-CN" dirty="0"/>
          </a:p>
          <a:p>
            <a:pPr lvl="1"/>
            <a:r>
              <a:rPr lang="zh-CN" altLang="en-US" dirty="0"/>
              <a:t>顺序号：</a:t>
            </a:r>
            <a:r>
              <a:rPr lang="zh-CN" altLang="en-US" dirty="0">
                <a:solidFill>
                  <a:srgbClr val="7030A0"/>
                </a:solidFill>
              </a:rPr>
              <a:t>接收方</a:t>
            </a:r>
            <a:r>
              <a:rPr lang="zh-CN" altLang="en-US" dirty="0"/>
              <a:t>检查序号，防止</a:t>
            </a:r>
            <a:r>
              <a:rPr lang="zh-CN" altLang="en-US" dirty="0">
                <a:solidFill>
                  <a:srgbClr val="7030A0"/>
                </a:solidFill>
              </a:rPr>
              <a:t>乱序</a:t>
            </a:r>
            <a:r>
              <a:rPr lang="zh-CN" altLang="en-US" dirty="0"/>
              <a:t>递交、</a:t>
            </a:r>
            <a:r>
              <a:rPr lang="zh-CN" altLang="en-US" dirty="0">
                <a:solidFill>
                  <a:srgbClr val="7030A0"/>
                </a:solidFill>
              </a:rPr>
              <a:t>重复</a:t>
            </a:r>
            <a:r>
              <a:rPr lang="zh-CN" altLang="en-US" dirty="0"/>
              <a:t>递交</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12869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left)">
                                      <p:cBhvr>
                                        <p:cTn id="7" dur="500"/>
                                        <p:tgtEl>
                                          <p:spTgt spid="3">
                                            <p:txEl>
                                              <p:pRg st="5" end="5"/>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left)">
                                      <p:cBhvr>
                                        <p:cTn id="10" dur="500"/>
                                        <p:tgtEl>
                                          <p:spTgt spid="3">
                                            <p:txEl>
                                              <p:pRg st="6" end="6"/>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left)">
                                      <p:cBhvr>
                                        <p:cTn id="13" dur="500"/>
                                        <p:tgtEl>
                                          <p:spTgt spid="3">
                                            <p:txEl>
                                              <p:pRg st="7" end="7"/>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left)">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solidFill>
                  <a:srgbClr val="C00000"/>
                </a:solidFill>
              </a:rPr>
              <a:t>3.2 </a:t>
            </a:r>
            <a:r>
              <a:rPr kumimoji="1" lang="zh-CN" altLang="zh-CN" dirty="0">
                <a:solidFill>
                  <a:srgbClr val="C00000"/>
                </a:solidFill>
              </a:rPr>
              <a:t>差错检测和纠正</a:t>
            </a:r>
            <a:endParaRPr kumimoji="1" lang="en-US" altLang="zh-CN" dirty="0">
              <a:solidFill>
                <a:srgbClr val="C00000"/>
              </a:solidFill>
            </a:endParaRPr>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kumimoji="1" lang="zh-CN" altLang="en-US" dirty="0"/>
          </a:p>
          <a:p>
            <a:pPr marL="0" indent="0">
              <a:lnSpc>
                <a:spcPct val="130000"/>
              </a:lnSpc>
              <a:buNone/>
            </a:pPr>
            <a:r>
              <a:rPr kumimoji="1" lang="en-US" altLang="zh-CN" dirty="0"/>
              <a:t>3.5 </a:t>
            </a:r>
            <a:r>
              <a:rPr kumimoji="1" lang="zh-CN" altLang="zh-CN" dirty="0"/>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764996" y="2133600"/>
            <a:ext cx="4768770" cy="1669143"/>
          </a:xfrm>
          <a:prstGeom prst="wedgeRectCallout">
            <a:avLst>
              <a:gd name="adj1" fmla="val -84124"/>
              <a:gd name="adj2" fmla="val -3053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差错检测与纠正概述</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典型的纠错码</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典型的检错码</a:t>
            </a:r>
            <a:endParaRPr lang="en-US" altLang="zh-CN" sz="2400" dirty="0">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27489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838200" y="1384300"/>
            <a:ext cx="10820400" cy="1840814"/>
          </a:xfrm>
        </p:spPr>
        <p:txBody>
          <a:bodyPr>
            <a:normAutofit/>
          </a:bodyPr>
          <a:lstStyle/>
          <a:p>
            <a:pPr>
              <a:lnSpc>
                <a:spcPct val="140000"/>
              </a:lnSpc>
            </a:pPr>
            <a:r>
              <a:rPr kumimoji="1" lang="zh-CN" altLang="en-US" dirty="0"/>
              <a:t>如何解决信道传输差错问题</a:t>
            </a:r>
            <a:endParaRPr kumimoji="1" lang="en-US" altLang="zh-CN" dirty="0"/>
          </a:p>
          <a:p>
            <a:pPr lvl="1">
              <a:lnSpc>
                <a:spcPct val="140000"/>
              </a:lnSpc>
            </a:pPr>
            <a:r>
              <a:rPr kumimoji="1" lang="zh-CN" altLang="en-US" dirty="0"/>
              <a:t>通常采用</a:t>
            </a:r>
            <a:r>
              <a:rPr kumimoji="1" lang="zh-CN" altLang="en-US" dirty="0">
                <a:solidFill>
                  <a:srgbClr val="C00000"/>
                </a:solidFill>
              </a:rPr>
              <a:t>增加冗余信息（或称校验信息）</a:t>
            </a:r>
            <a:r>
              <a:rPr kumimoji="1" lang="zh-CN" altLang="en-US" dirty="0"/>
              <a:t>的策略</a:t>
            </a:r>
            <a:endParaRPr kumimoji="1" lang="en-US" altLang="zh-CN" dirty="0"/>
          </a:p>
          <a:p>
            <a:pPr lvl="1">
              <a:lnSpc>
                <a:spcPct val="140000"/>
              </a:lnSpc>
            </a:pPr>
            <a:r>
              <a:rPr kumimoji="1" lang="zh-CN" altLang="en-US" dirty="0"/>
              <a:t>简单示例：每个比特传三份，如果每比特的三份中有一位出错，可以纠正</a:t>
            </a:r>
            <a:endParaRPr kumimoji="1"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6" name="表格 5"/>
          <p:cNvGraphicFramePr>
            <a:graphicFrameLocks noGrp="1"/>
          </p:cNvGraphicFramePr>
          <p:nvPr/>
        </p:nvGraphicFramePr>
        <p:xfrm>
          <a:off x="2040911" y="3420271"/>
          <a:ext cx="6155520" cy="1416633"/>
        </p:xfrm>
        <a:graphic>
          <a:graphicData uri="http://schemas.openxmlformats.org/drawingml/2006/table">
            <a:tbl>
              <a:tblPr firstRow="1" bandRow="1">
                <a:tableStyleId>{5C22544A-7EE6-4342-B048-85BDC9FD1C3A}</a:tableStyleId>
              </a:tblPr>
              <a:tblGrid>
                <a:gridCol w="439680">
                  <a:extLst>
                    <a:ext uri="{9D8B030D-6E8A-4147-A177-3AD203B41FA5}">
                      <a16:colId xmlns:a16="http://schemas.microsoft.com/office/drawing/2014/main" val="2159514440"/>
                    </a:ext>
                  </a:extLst>
                </a:gridCol>
                <a:gridCol w="439680">
                  <a:extLst>
                    <a:ext uri="{9D8B030D-6E8A-4147-A177-3AD203B41FA5}">
                      <a16:colId xmlns:a16="http://schemas.microsoft.com/office/drawing/2014/main" val="566667465"/>
                    </a:ext>
                  </a:extLst>
                </a:gridCol>
                <a:gridCol w="439680">
                  <a:extLst>
                    <a:ext uri="{9D8B030D-6E8A-4147-A177-3AD203B41FA5}">
                      <a16:colId xmlns:a16="http://schemas.microsoft.com/office/drawing/2014/main" val="2631221232"/>
                    </a:ext>
                  </a:extLst>
                </a:gridCol>
                <a:gridCol w="439680">
                  <a:extLst>
                    <a:ext uri="{9D8B030D-6E8A-4147-A177-3AD203B41FA5}">
                      <a16:colId xmlns:a16="http://schemas.microsoft.com/office/drawing/2014/main" val="2659543706"/>
                    </a:ext>
                  </a:extLst>
                </a:gridCol>
                <a:gridCol w="439680">
                  <a:extLst>
                    <a:ext uri="{9D8B030D-6E8A-4147-A177-3AD203B41FA5}">
                      <a16:colId xmlns:a16="http://schemas.microsoft.com/office/drawing/2014/main" val="4149966517"/>
                    </a:ext>
                  </a:extLst>
                </a:gridCol>
                <a:gridCol w="439680">
                  <a:extLst>
                    <a:ext uri="{9D8B030D-6E8A-4147-A177-3AD203B41FA5}">
                      <a16:colId xmlns:a16="http://schemas.microsoft.com/office/drawing/2014/main" val="95372404"/>
                    </a:ext>
                  </a:extLst>
                </a:gridCol>
                <a:gridCol w="439680">
                  <a:extLst>
                    <a:ext uri="{9D8B030D-6E8A-4147-A177-3AD203B41FA5}">
                      <a16:colId xmlns:a16="http://schemas.microsoft.com/office/drawing/2014/main" val="1044709437"/>
                    </a:ext>
                  </a:extLst>
                </a:gridCol>
                <a:gridCol w="439680">
                  <a:extLst>
                    <a:ext uri="{9D8B030D-6E8A-4147-A177-3AD203B41FA5}">
                      <a16:colId xmlns:a16="http://schemas.microsoft.com/office/drawing/2014/main" val="3856979970"/>
                    </a:ext>
                  </a:extLst>
                </a:gridCol>
                <a:gridCol w="439680">
                  <a:extLst>
                    <a:ext uri="{9D8B030D-6E8A-4147-A177-3AD203B41FA5}">
                      <a16:colId xmlns:a16="http://schemas.microsoft.com/office/drawing/2014/main" val="2092690815"/>
                    </a:ext>
                  </a:extLst>
                </a:gridCol>
                <a:gridCol w="439680">
                  <a:extLst>
                    <a:ext uri="{9D8B030D-6E8A-4147-A177-3AD203B41FA5}">
                      <a16:colId xmlns:a16="http://schemas.microsoft.com/office/drawing/2014/main" val="3187205882"/>
                    </a:ext>
                  </a:extLst>
                </a:gridCol>
                <a:gridCol w="439680">
                  <a:extLst>
                    <a:ext uri="{9D8B030D-6E8A-4147-A177-3AD203B41FA5}">
                      <a16:colId xmlns:a16="http://schemas.microsoft.com/office/drawing/2014/main" val="4172268858"/>
                    </a:ext>
                  </a:extLst>
                </a:gridCol>
                <a:gridCol w="439680">
                  <a:extLst>
                    <a:ext uri="{9D8B030D-6E8A-4147-A177-3AD203B41FA5}">
                      <a16:colId xmlns:a16="http://schemas.microsoft.com/office/drawing/2014/main" val="3914894513"/>
                    </a:ext>
                  </a:extLst>
                </a:gridCol>
                <a:gridCol w="439680">
                  <a:extLst>
                    <a:ext uri="{9D8B030D-6E8A-4147-A177-3AD203B41FA5}">
                      <a16:colId xmlns:a16="http://schemas.microsoft.com/office/drawing/2014/main" val="2325384079"/>
                    </a:ext>
                  </a:extLst>
                </a:gridCol>
                <a:gridCol w="439680">
                  <a:extLst>
                    <a:ext uri="{9D8B030D-6E8A-4147-A177-3AD203B41FA5}">
                      <a16:colId xmlns:a16="http://schemas.microsoft.com/office/drawing/2014/main" val="1459483936"/>
                    </a:ext>
                  </a:extLst>
                </a:gridCol>
              </a:tblGrid>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rgbClr val="00B0F0"/>
                          </a:solidFill>
                          <a:latin typeface="微软雅黑" panose="020B0503020204020204" pitchFamily="34" charset="-122"/>
                          <a:ea typeface="微软雅黑" panose="020B0503020204020204" pitchFamily="34" charset="-122"/>
                        </a:rPr>
                        <a:t>0</a:t>
                      </a:r>
                      <a:endParaRPr lang="zh-CN" altLang="en-US" sz="2000" b="0" dirty="0">
                        <a:solidFill>
                          <a:srgbClr val="00B0F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03751117"/>
                  </a:ext>
                </a:extLst>
              </a:tr>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rgbClr val="00B0F0"/>
                          </a:solidFill>
                          <a:latin typeface="微软雅黑" panose="020B0503020204020204" pitchFamily="34" charset="-122"/>
                          <a:ea typeface="微软雅黑" panose="020B0503020204020204" pitchFamily="34" charset="-122"/>
                        </a:rPr>
                        <a:t>1</a:t>
                      </a:r>
                      <a:endParaRPr lang="zh-CN" altLang="en-US" sz="2000" b="0" dirty="0">
                        <a:solidFill>
                          <a:srgbClr val="00B0F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4392764"/>
                  </a:ext>
                </a:extLst>
              </a:tr>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0484220"/>
                  </a:ext>
                </a:extLst>
              </a:tr>
            </a:tbl>
          </a:graphicData>
        </a:graphic>
      </p:graphicFrame>
      <p:sp>
        <p:nvSpPr>
          <p:cNvPr id="7" name="矩形 6"/>
          <p:cNvSpPr/>
          <p:nvPr/>
        </p:nvSpPr>
        <p:spPr>
          <a:xfrm>
            <a:off x="2043807" y="3369617"/>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2477235"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919127" y="3363894"/>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356483"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797635"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227636"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672552" y="3365051"/>
            <a:ext cx="430001"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3421773" y="3963804"/>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00B0F0"/>
                </a:solidFill>
                <a:latin typeface="微软雅黑" panose="020B0503020204020204" pitchFamily="34" charset="-122"/>
                <a:ea typeface="微软雅黑" panose="020B0503020204020204" pitchFamily="34" charset="-122"/>
              </a:rPr>
              <a:t>0</a:t>
            </a:r>
            <a:endParaRPr lang="zh-CN" altLang="en-US" sz="2000" dirty="0">
              <a:solidFill>
                <a:srgbClr val="00B0F0"/>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733610" y="3491736"/>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00B0F0"/>
                </a:solidFill>
                <a:latin typeface="微软雅黑" panose="020B0503020204020204" pitchFamily="34" charset="-122"/>
                <a:ea typeface="微软雅黑" panose="020B0503020204020204" pitchFamily="34" charset="-122"/>
              </a:rPr>
              <a:t>1</a:t>
            </a:r>
            <a:endParaRPr lang="zh-CN" altLang="en-US" sz="2000" dirty="0">
              <a:solidFill>
                <a:srgbClr val="00B0F0"/>
              </a:solidFill>
              <a:latin typeface="微软雅黑" panose="020B0503020204020204" pitchFamily="34" charset="-122"/>
              <a:ea typeface="微软雅黑" panose="020B0503020204020204" pitchFamily="34" charset="-122"/>
            </a:endParaRPr>
          </a:p>
        </p:txBody>
      </p:sp>
      <p:sp>
        <p:nvSpPr>
          <p:cNvPr id="17" name="矩形 16"/>
          <p:cNvSpPr/>
          <p:nvPr/>
        </p:nvSpPr>
        <p:spPr>
          <a:xfrm>
            <a:off x="4672553" y="3369075"/>
            <a:ext cx="435304"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3354401" y="3365461"/>
            <a:ext cx="437859"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2043807" y="5139645"/>
            <a:ext cx="6196509" cy="1088966"/>
            <a:chOff x="2043807" y="5139645"/>
            <a:chExt cx="6196509" cy="1088966"/>
          </a:xfrm>
        </p:grpSpPr>
        <p:sp>
          <p:nvSpPr>
            <p:cNvPr id="19" name="文本框 18"/>
            <p:cNvSpPr txBox="1"/>
            <p:nvPr/>
          </p:nvSpPr>
          <p:spPr>
            <a:xfrm>
              <a:off x="2043807" y="5828501"/>
              <a:ext cx="2092857" cy="400110"/>
            </a:xfrm>
            <a:prstGeom prst="rect">
              <a:avLst/>
            </a:prstGeom>
            <a:solidFill>
              <a:srgbClr val="66CCFF"/>
            </a:solidFill>
            <a:ln>
              <a:solidFill>
                <a:srgbClr val="00B0F0"/>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33.3%</a:t>
              </a:r>
              <a:endParaRPr lang="zh-CN" altLang="en-US" sz="200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4136663" y="5828501"/>
              <a:ext cx="4103652" cy="400110"/>
            </a:xfrm>
            <a:prstGeom prst="rect">
              <a:avLst/>
            </a:prstGeom>
            <a:solidFill>
              <a:srgbClr val="009999"/>
            </a:solidFill>
            <a:ln>
              <a:solidFill>
                <a:srgbClr val="00B0F0"/>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66.7%</a:t>
              </a:r>
              <a:endParaRPr lang="zh-CN" altLang="en-US" sz="2000" dirty="0">
                <a:latin typeface="微软雅黑" panose="020B0503020204020204" pitchFamily="34" charset="-122"/>
                <a:ea typeface="微软雅黑" panose="020B0503020204020204" pitchFamily="34" charset="-122"/>
              </a:endParaRPr>
            </a:p>
          </p:txBody>
        </p:sp>
        <p:sp>
          <p:nvSpPr>
            <p:cNvPr id="21" name="右大括号 20"/>
            <p:cNvSpPr/>
            <p:nvPr/>
          </p:nvSpPr>
          <p:spPr>
            <a:xfrm rot="16200000">
              <a:off x="2961432" y="4591352"/>
              <a:ext cx="257605" cy="2092856"/>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2348089" y="5147733"/>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原始数据</a:t>
              </a:r>
            </a:p>
          </p:txBody>
        </p:sp>
        <p:sp>
          <p:nvSpPr>
            <p:cNvPr id="23" name="右大括号 22"/>
            <p:cNvSpPr/>
            <p:nvPr/>
          </p:nvSpPr>
          <p:spPr>
            <a:xfrm rot="16200000">
              <a:off x="6073154" y="3597454"/>
              <a:ext cx="247552" cy="4086773"/>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文本框 23"/>
            <p:cNvSpPr txBox="1"/>
            <p:nvPr/>
          </p:nvSpPr>
          <p:spPr>
            <a:xfrm>
              <a:off x="5559778" y="5139645"/>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冗余信息</a:t>
              </a:r>
            </a:p>
          </p:txBody>
        </p:sp>
      </p:grpSp>
      <p:sp>
        <p:nvSpPr>
          <p:cNvPr id="25" name="矩形 24"/>
          <p:cNvSpPr/>
          <p:nvPr/>
        </p:nvSpPr>
        <p:spPr>
          <a:xfrm>
            <a:off x="8789667" y="3789690"/>
            <a:ext cx="3140603" cy="984885"/>
          </a:xfrm>
          <a:prstGeom prst="rect">
            <a:avLst/>
          </a:prstGeom>
        </p:spPr>
        <p:txBody>
          <a:bodyPr wrap="none">
            <a:spAutoFit/>
          </a:bodyPr>
          <a:lstStyle/>
          <a:p>
            <a:pPr>
              <a:spcBef>
                <a:spcPts val="1200"/>
              </a:spcBef>
            </a:pPr>
            <a:r>
              <a:rPr kumimoji="1" lang="zh-CN" altLang="en-US" sz="2400" dirty="0">
                <a:solidFill>
                  <a:srgbClr val="C00000"/>
                </a:solidFill>
                <a:latin typeface="微软雅黑" panose="020B0503020204020204" pitchFamily="34" charset="-122"/>
                <a:ea typeface="微软雅黑" panose="020B0503020204020204" pitchFamily="34" charset="-122"/>
              </a:rPr>
              <a:t>携带</a:t>
            </a:r>
            <a:r>
              <a:rPr kumimoji="1" lang="en-US" altLang="zh-CN" sz="2400" dirty="0">
                <a:solidFill>
                  <a:srgbClr val="C00000"/>
                </a:solidFill>
                <a:latin typeface="微软雅黑" panose="020B0503020204020204" pitchFamily="34" charset="-122"/>
                <a:ea typeface="微软雅黑" panose="020B0503020204020204" pitchFamily="34" charset="-122"/>
              </a:rPr>
              <a:t>2/3</a:t>
            </a:r>
            <a:r>
              <a:rPr kumimoji="1" lang="zh-CN" altLang="en-US" sz="2400" dirty="0">
                <a:solidFill>
                  <a:srgbClr val="C00000"/>
                </a:solidFill>
                <a:latin typeface="微软雅黑" panose="020B0503020204020204" pitchFamily="34" charset="-122"/>
                <a:ea typeface="微软雅黑" panose="020B0503020204020204" pitchFamily="34" charset="-122"/>
              </a:rPr>
              <a:t>的冗余信息！</a:t>
            </a:r>
            <a:endParaRPr kumimoji="1" lang="en-US" altLang="zh-CN" sz="2400" dirty="0">
              <a:solidFill>
                <a:srgbClr val="C00000"/>
              </a:solidFill>
              <a:latin typeface="微软雅黑" panose="020B0503020204020204" pitchFamily="34" charset="-122"/>
              <a:ea typeface="微软雅黑" panose="020B0503020204020204" pitchFamily="34" charset="-122"/>
            </a:endParaRPr>
          </a:p>
          <a:p>
            <a:pPr algn="ctr">
              <a:spcBef>
                <a:spcPts val="1200"/>
              </a:spcBef>
            </a:pPr>
            <a:r>
              <a:rPr kumimoji="1" lang="zh-CN" altLang="en-US" sz="2400" dirty="0">
                <a:solidFill>
                  <a:srgbClr val="C00000"/>
                </a:solidFill>
                <a:latin typeface="微软雅黑" panose="020B0503020204020204" pitchFamily="34" charset="-122"/>
                <a:ea typeface="微软雅黑" panose="020B0503020204020204" pitchFamily="34" charset="-122"/>
              </a:rPr>
              <a:t>冗余信息量大！</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77349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par>
                          <p:cTn id="27" fill="hold">
                            <p:stCondLst>
                              <p:cond delay="500"/>
                            </p:stCondLst>
                            <p:childTnLst>
                              <p:par>
                                <p:cTn id="28" presetID="45" presetClass="entr" presetSubtype="0" fill="hold" grpId="0" nodeType="afterEffect">
                                  <p:stCondLst>
                                    <p:cond delay="0"/>
                                  </p:stCondLst>
                                  <p:iterate type="lt">
                                    <p:tmPct val="10000"/>
                                  </p:iterate>
                                  <p:childTnLst>
                                    <p:set>
                                      <p:cBhvr>
                                        <p:cTn id="29" dur="1" fill="hold">
                                          <p:stCondLst>
                                            <p:cond delay="0"/>
                                          </p:stCondLst>
                                        </p:cTn>
                                        <p:tgtEl>
                                          <p:spTgt spid="14"/>
                                        </p:tgtEl>
                                        <p:attrNameLst>
                                          <p:attrName>style.visibility</p:attrName>
                                        </p:attrNameLst>
                                      </p:cBhvr>
                                      <p:to>
                                        <p:strVal val="visible"/>
                                      </p:to>
                                    </p:set>
                                    <p:animEffect transition="in" filter="fade">
                                      <p:cBhvr>
                                        <p:cTn id="30" dur="5000"/>
                                        <p:tgtEl>
                                          <p:spTgt spid="14"/>
                                        </p:tgtEl>
                                      </p:cBhvr>
                                    </p:animEffect>
                                    <p:anim calcmode="lin" valueType="num">
                                      <p:cBhvr>
                                        <p:cTn id="31" dur="5000" fill="hold"/>
                                        <p:tgtEl>
                                          <p:spTgt spid="14"/>
                                        </p:tgtEl>
                                        <p:attrNameLst>
                                          <p:attrName>ppt_w</p:attrName>
                                        </p:attrNameLst>
                                      </p:cBhvr>
                                      <p:tavLst>
                                        <p:tav tm="0" fmla="#ppt_w*sin(2.5*pi*$)">
                                          <p:val>
                                            <p:fltVal val="0"/>
                                          </p:val>
                                        </p:tav>
                                        <p:tav tm="100000">
                                          <p:val>
                                            <p:fltVal val="1"/>
                                          </p:val>
                                        </p:tav>
                                      </p:tavLst>
                                    </p:anim>
                                    <p:anim calcmode="lin" valueType="num">
                                      <p:cBhvr>
                                        <p:cTn id="32"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4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par>
                          <p:cTn id="52" fill="hold">
                            <p:stCondLst>
                              <p:cond delay="400"/>
                            </p:stCondLst>
                            <p:childTnLst>
                              <p:par>
                                <p:cTn id="53" presetID="45" presetClass="entr" presetSubtype="0" fill="hold" grpId="0" nodeType="afterEffect">
                                  <p:stCondLst>
                                    <p:cond delay="0"/>
                                  </p:stCondLst>
                                  <p:iterate type="lt">
                                    <p:tmPct val="10000"/>
                                  </p:iterate>
                                  <p:childTnLst>
                                    <p:set>
                                      <p:cBhvr>
                                        <p:cTn id="54" dur="1" fill="hold">
                                          <p:stCondLst>
                                            <p:cond delay="0"/>
                                          </p:stCondLst>
                                        </p:cTn>
                                        <p:tgtEl>
                                          <p:spTgt spid="15"/>
                                        </p:tgtEl>
                                        <p:attrNameLst>
                                          <p:attrName>style.visibility</p:attrName>
                                        </p:attrNameLst>
                                      </p:cBhvr>
                                      <p:to>
                                        <p:strVal val="visible"/>
                                      </p:to>
                                    </p:set>
                                    <p:animEffect transition="in" filter="fade">
                                      <p:cBhvr>
                                        <p:cTn id="55" dur="5000"/>
                                        <p:tgtEl>
                                          <p:spTgt spid="15"/>
                                        </p:tgtEl>
                                      </p:cBhvr>
                                    </p:animEffect>
                                    <p:anim calcmode="lin" valueType="num">
                                      <p:cBhvr>
                                        <p:cTn id="56" dur="5000" fill="hold"/>
                                        <p:tgtEl>
                                          <p:spTgt spid="15"/>
                                        </p:tgtEl>
                                        <p:attrNameLst>
                                          <p:attrName>ppt_w</p:attrName>
                                        </p:attrNameLst>
                                      </p:cBhvr>
                                      <p:tavLst>
                                        <p:tav tm="0" fmla="#ppt_w*sin(2.5*pi*$)">
                                          <p:val>
                                            <p:fltVal val="0"/>
                                          </p:val>
                                        </p:tav>
                                        <p:tav tm="100000">
                                          <p:val>
                                            <p:fltVal val="1"/>
                                          </p:val>
                                        </p:tav>
                                      </p:tavLst>
                                    </p:anim>
                                    <p:anim calcmode="lin" valueType="num">
                                      <p:cBhvr>
                                        <p:cTn id="57" dur="50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6" presetClass="entr" presetSubtype="16"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circle(in)">
                                      <p:cBhvr>
                                        <p:cTn id="70"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838199" y="1343891"/>
            <a:ext cx="10709031" cy="4753561"/>
          </a:xfrm>
        </p:spPr>
        <p:txBody>
          <a:bodyPr>
            <a:normAutofit fontScale="92500"/>
          </a:bodyPr>
          <a:lstStyle/>
          <a:p>
            <a:pPr>
              <a:lnSpc>
                <a:spcPct val="140000"/>
              </a:lnSpc>
            </a:pPr>
            <a:r>
              <a:rPr kumimoji="1" lang="zh-CN" altLang="en-US" dirty="0">
                <a:solidFill>
                  <a:srgbClr val="C00000"/>
                </a:solidFill>
              </a:rPr>
              <a:t>目标：</a:t>
            </a:r>
            <a:r>
              <a:rPr kumimoji="1" lang="zh-CN" altLang="en-US" dirty="0"/>
              <a:t>保证一定差错检测和纠错能力的前提下，如何减少冗余信息量？</a:t>
            </a:r>
            <a:endParaRPr lang="zh-CN" altLang="en-US" dirty="0"/>
          </a:p>
          <a:p>
            <a:pPr>
              <a:lnSpc>
                <a:spcPct val="140000"/>
              </a:lnSpc>
            </a:pPr>
            <a:r>
              <a:rPr kumimoji="1" lang="zh-CN" altLang="en-US" dirty="0">
                <a:solidFill>
                  <a:srgbClr val="C00000"/>
                </a:solidFill>
              </a:rPr>
              <a:t>考虑的问题</a:t>
            </a:r>
            <a:endParaRPr kumimoji="1" lang="en-US" altLang="zh-CN" dirty="0">
              <a:solidFill>
                <a:srgbClr val="C00000"/>
              </a:solidFill>
            </a:endParaRPr>
          </a:p>
          <a:p>
            <a:pPr lvl="1">
              <a:lnSpc>
                <a:spcPct val="140000"/>
              </a:lnSpc>
            </a:pPr>
            <a:r>
              <a:rPr kumimoji="1" lang="zh-CN" altLang="en-US" dirty="0"/>
              <a:t>信道的特征和传输需求</a:t>
            </a:r>
            <a:endParaRPr kumimoji="1" lang="en-US" altLang="zh-CN" dirty="0"/>
          </a:p>
          <a:p>
            <a:pPr lvl="1">
              <a:lnSpc>
                <a:spcPct val="140000"/>
              </a:lnSpc>
            </a:pPr>
            <a:r>
              <a:rPr kumimoji="1" lang="zh-CN" altLang="en-US" dirty="0"/>
              <a:t>冗余信息的计算方法、携带的冗余信息量</a:t>
            </a:r>
            <a:endParaRPr kumimoji="1" lang="en-US" altLang="zh-CN" dirty="0"/>
          </a:p>
          <a:p>
            <a:pPr lvl="1">
              <a:lnSpc>
                <a:spcPct val="140000"/>
              </a:lnSpc>
            </a:pPr>
            <a:r>
              <a:rPr kumimoji="1" lang="zh-CN" altLang="en-US" dirty="0"/>
              <a:t>计算的复杂度等</a:t>
            </a:r>
            <a:endParaRPr kumimoji="1" lang="en-US" altLang="zh-CN" dirty="0"/>
          </a:p>
          <a:p>
            <a:pPr>
              <a:lnSpc>
                <a:spcPct val="140000"/>
              </a:lnSpc>
            </a:pPr>
            <a:r>
              <a:rPr kumimoji="1" lang="zh-CN" altLang="en-US" dirty="0">
                <a:solidFill>
                  <a:srgbClr val="C00000"/>
                </a:solidFill>
              </a:rPr>
              <a:t>两种主要策略</a:t>
            </a:r>
            <a:endParaRPr kumimoji="1" lang="en-US" altLang="zh-CN" dirty="0">
              <a:solidFill>
                <a:srgbClr val="C00000"/>
              </a:solidFill>
            </a:endParaRPr>
          </a:p>
          <a:p>
            <a:pPr lvl="1">
              <a:lnSpc>
                <a:spcPct val="140000"/>
              </a:lnSpc>
            </a:pPr>
            <a:r>
              <a:rPr kumimoji="1" lang="zh-CN" altLang="en-US" dirty="0"/>
              <a:t>检错码（</a:t>
            </a:r>
            <a:r>
              <a:rPr kumimoji="1" lang="en-US" altLang="zh-CN" dirty="0"/>
              <a:t>error-detecting code</a:t>
            </a:r>
            <a:r>
              <a:rPr kumimoji="1" lang="zh-CN" altLang="en-US" dirty="0"/>
              <a:t>）</a:t>
            </a:r>
            <a:endParaRPr kumimoji="1" lang="en-US" altLang="zh-CN" dirty="0">
              <a:solidFill>
                <a:srgbClr val="C00000"/>
              </a:solidFill>
            </a:endParaRPr>
          </a:p>
          <a:p>
            <a:pPr lvl="1">
              <a:lnSpc>
                <a:spcPct val="140000"/>
              </a:lnSpc>
            </a:pPr>
            <a:r>
              <a:rPr kumimoji="1" lang="zh-CN" altLang="en-US" dirty="0"/>
              <a:t>纠错码（</a:t>
            </a:r>
            <a:r>
              <a:rPr kumimoji="1" lang="en-US" altLang="zh-CN" dirty="0"/>
              <a:t>error-correcting code)</a:t>
            </a: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3632711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838200" y="1409700"/>
            <a:ext cx="10515600" cy="4687752"/>
          </a:xfrm>
        </p:spPr>
        <p:txBody>
          <a:bodyPr>
            <a:normAutofit/>
          </a:bodyPr>
          <a:lstStyle/>
          <a:p>
            <a:pPr>
              <a:lnSpc>
                <a:spcPct val="140000"/>
              </a:lnSpc>
            </a:pPr>
            <a:r>
              <a:rPr kumimoji="1" lang="zh-CN" altLang="en-US" dirty="0"/>
              <a:t>检错码（</a:t>
            </a:r>
            <a:r>
              <a:rPr kumimoji="1" lang="en-US" altLang="zh-CN" dirty="0"/>
              <a:t>error-detecting code</a:t>
            </a:r>
            <a:r>
              <a:rPr kumimoji="1" lang="zh-CN" altLang="en-US" dirty="0"/>
              <a:t>）</a:t>
            </a:r>
            <a:endParaRPr kumimoji="1" lang="en-US" altLang="zh-CN" dirty="0"/>
          </a:p>
          <a:p>
            <a:pPr lvl="1">
              <a:lnSpc>
                <a:spcPct val="140000"/>
              </a:lnSpc>
            </a:pPr>
            <a:r>
              <a:rPr kumimoji="1" lang="zh-CN" altLang="en-US" dirty="0"/>
              <a:t>在被发送的数据块中，包含一些冗余信息，但这些信息只能使接收方推断是否发生错误，但不能推断哪位发生错误，接收方可以请求发送方重传数据</a:t>
            </a:r>
            <a:endParaRPr kumimoji="1" lang="en-US" altLang="zh-CN" dirty="0"/>
          </a:p>
          <a:p>
            <a:pPr lvl="1">
              <a:lnSpc>
                <a:spcPct val="140000"/>
              </a:lnSpc>
            </a:pPr>
            <a:r>
              <a:rPr kumimoji="1" lang="zh-CN" altLang="en-US" dirty="0"/>
              <a:t>主要用在高可靠、误码率较低的信道上，例如光纤链路</a:t>
            </a:r>
            <a:endParaRPr kumimoji="1" lang="en-US" altLang="zh-CN" dirty="0"/>
          </a:p>
          <a:p>
            <a:pPr lvl="1">
              <a:lnSpc>
                <a:spcPct val="140000"/>
              </a:lnSpc>
            </a:pPr>
            <a:r>
              <a:rPr kumimoji="1" lang="zh-CN" altLang="en-US" dirty="0"/>
              <a:t>偶尔发生的差错，可以通过重传解决差错问题</a:t>
            </a:r>
            <a:endParaRPr kumimoji="1" lang="en-US" altLang="zh-CN" dirty="0"/>
          </a:p>
          <a:p>
            <a:pPr lvl="1">
              <a:lnSpc>
                <a:spcPct val="140000"/>
              </a:lnSpc>
            </a:pPr>
            <a:endParaRPr kumimoji="1" lang="zh-CN" altLang="en-US"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35564285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838200" y="1409700"/>
            <a:ext cx="10706100" cy="4687752"/>
          </a:xfrm>
        </p:spPr>
        <p:txBody>
          <a:bodyPr>
            <a:normAutofit/>
          </a:bodyPr>
          <a:lstStyle/>
          <a:p>
            <a:pPr>
              <a:lnSpc>
                <a:spcPct val="140000"/>
              </a:lnSpc>
              <a:spcBef>
                <a:spcPts val="800"/>
              </a:spcBef>
            </a:pPr>
            <a:r>
              <a:rPr kumimoji="1" lang="zh-CN" altLang="en-US" dirty="0"/>
              <a:t>纠错码（</a:t>
            </a:r>
            <a:r>
              <a:rPr kumimoji="1" lang="en-US" altLang="zh-CN" dirty="0"/>
              <a:t>error-correcting code)</a:t>
            </a:r>
          </a:p>
          <a:p>
            <a:pPr lvl="1">
              <a:lnSpc>
                <a:spcPct val="140000"/>
              </a:lnSpc>
              <a:spcBef>
                <a:spcPts val="800"/>
              </a:spcBef>
            </a:pPr>
            <a:r>
              <a:rPr lang="zh-CN" altLang="en-US" dirty="0"/>
              <a:t>发送方在每个数据块中加入足够的冗余信息，使得接收方能够判断接收到的数据是否有错，并能纠正错误（</a:t>
            </a:r>
            <a:r>
              <a:rPr lang="zh-CN" altLang="en-US" dirty="0">
                <a:solidFill>
                  <a:srgbClr val="C00000"/>
                </a:solidFill>
              </a:rPr>
              <a:t>定位出错的位置</a:t>
            </a:r>
            <a:r>
              <a:rPr lang="zh-CN" altLang="en-US" dirty="0"/>
              <a:t>）</a:t>
            </a:r>
          </a:p>
          <a:p>
            <a:pPr lvl="1">
              <a:lnSpc>
                <a:spcPct val="140000"/>
              </a:lnSpc>
              <a:spcBef>
                <a:spcPts val="800"/>
              </a:spcBef>
            </a:pPr>
            <a:r>
              <a:rPr kumimoji="1" lang="zh-CN" altLang="en-US" dirty="0"/>
              <a:t>主要用于错误发生比较频繁的信道上，如无线链路</a:t>
            </a:r>
            <a:endParaRPr kumimoji="1" lang="en-US" altLang="zh-CN" dirty="0"/>
          </a:p>
          <a:p>
            <a:pPr lvl="1">
              <a:lnSpc>
                <a:spcPct val="140000"/>
              </a:lnSpc>
              <a:spcBef>
                <a:spcPts val="800"/>
              </a:spcBef>
            </a:pPr>
            <a:r>
              <a:rPr kumimoji="1" lang="zh-CN" altLang="en-US" dirty="0"/>
              <a:t>也经常用于物理层，以及更高层（例如，实时流媒体应用和内容分发）</a:t>
            </a:r>
            <a:endParaRPr kumimoji="1" lang="en-US" altLang="zh-CN" dirty="0"/>
          </a:p>
          <a:p>
            <a:pPr lvl="1">
              <a:lnSpc>
                <a:spcPct val="140000"/>
              </a:lnSpc>
              <a:spcBef>
                <a:spcPts val="800"/>
              </a:spcBef>
            </a:pPr>
            <a:r>
              <a:rPr kumimoji="1" lang="zh-CN" altLang="en-US" dirty="0"/>
              <a:t>使用纠错码的技术通常称为</a:t>
            </a:r>
            <a:r>
              <a:rPr kumimoji="1" lang="zh-CN" altLang="en-US" dirty="0">
                <a:solidFill>
                  <a:srgbClr val="C00000"/>
                </a:solidFill>
              </a:rPr>
              <a:t>前向纠错</a:t>
            </a:r>
            <a:r>
              <a:rPr kumimoji="1" lang="zh-CN" altLang="en-US" dirty="0"/>
              <a:t>（</a:t>
            </a:r>
            <a:r>
              <a:rPr kumimoji="1" lang="en-US" altLang="zh-CN" dirty="0"/>
              <a:t>FEC</a:t>
            </a:r>
            <a:r>
              <a:rPr kumimoji="1" lang="zh-CN" altLang="en-US" dirty="0"/>
              <a:t>，</a:t>
            </a:r>
            <a:r>
              <a:rPr kumimoji="1" lang="en-US" altLang="zh-CN" dirty="0"/>
              <a:t>Forward Error Correction)</a:t>
            </a:r>
            <a:endParaRPr kumimoji="1" lang="zh-CN" altLang="en-US"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4019238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736979" y="1469182"/>
            <a:ext cx="10809027" cy="4923967"/>
          </a:xfrm>
        </p:spPr>
        <p:txBody>
          <a:bodyPr>
            <a:normAutofit fontScale="92500"/>
          </a:bodyPr>
          <a:lstStyle/>
          <a:p>
            <a:pPr>
              <a:lnSpc>
                <a:spcPts val="3500"/>
              </a:lnSpc>
              <a:spcBef>
                <a:spcPts val="1200"/>
              </a:spcBef>
            </a:pPr>
            <a:r>
              <a:rPr kumimoji="1" lang="zh-CN" altLang="en-US" dirty="0"/>
              <a:t>码字 </a:t>
            </a:r>
            <a:r>
              <a:rPr kumimoji="1" lang="en-US" altLang="zh-CN" dirty="0"/>
              <a:t>(code word)</a:t>
            </a:r>
            <a:r>
              <a:rPr kumimoji="1" lang="zh-CN" altLang="en-US" dirty="0"/>
              <a:t>：一个包含</a:t>
            </a:r>
            <a:r>
              <a:rPr kumimoji="1" lang="en-US" altLang="zh-CN" dirty="0"/>
              <a:t>m</a:t>
            </a:r>
            <a:r>
              <a:rPr kumimoji="1" lang="zh-CN" altLang="en-US" dirty="0"/>
              <a:t>个数据位和</a:t>
            </a:r>
            <a:r>
              <a:rPr kumimoji="1" lang="en-US" altLang="zh-CN" dirty="0"/>
              <a:t>r</a:t>
            </a:r>
            <a:r>
              <a:rPr kumimoji="1" lang="zh-CN" altLang="en-US" dirty="0"/>
              <a:t>个校验位的</a:t>
            </a:r>
            <a:r>
              <a:rPr kumimoji="1" lang="en-US" altLang="zh-CN" dirty="0"/>
              <a:t>n</a:t>
            </a:r>
            <a:r>
              <a:rPr kumimoji="1" lang="zh-CN" altLang="en-US" dirty="0"/>
              <a:t>位单元</a:t>
            </a:r>
            <a:endParaRPr kumimoji="1" lang="en-US" altLang="zh-CN" dirty="0"/>
          </a:p>
          <a:p>
            <a:pPr lvl="1">
              <a:lnSpc>
                <a:spcPts val="3500"/>
              </a:lnSpc>
            </a:pPr>
            <a:r>
              <a:rPr kumimoji="1" lang="zh-CN" altLang="en-US" dirty="0"/>
              <a:t>描述为 </a:t>
            </a:r>
            <a:r>
              <a:rPr kumimoji="1" lang="en-US" altLang="zh-CN" dirty="0"/>
              <a:t>(n, m) </a:t>
            </a:r>
            <a:r>
              <a:rPr kumimoji="1" lang="zh-CN" altLang="en-US" dirty="0"/>
              <a:t>码，</a:t>
            </a:r>
            <a:r>
              <a:rPr kumimoji="1" lang="en-US" altLang="zh-CN" dirty="0"/>
              <a:t>n=</a:t>
            </a:r>
            <a:r>
              <a:rPr kumimoji="1" lang="en-US" altLang="zh-CN" dirty="0" err="1"/>
              <a:t>m+r</a:t>
            </a:r>
            <a:endParaRPr kumimoji="1" lang="en-US" altLang="zh-CN" dirty="0"/>
          </a:p>
          <a:p>
            <a:pPr>
              <a:lnSpc>
                <a:spcPts val="3500"/>
              </a:lnSpc>
              <a:spcBef>
                <a:spcPts val="1200"/>
              </a:spcBef>
            </a:pPr>
            <a:r>
              <a:rPr kumimoji="1" lang="zh-CN" altLang="en-US" dirty="0"/>
              <a:t>码率 </a:t>
            </a:r>
            <a:r>
              <a:rPr kumimoji="1" lang="en-US" altLang="zh-CN" dirty="0"/>
              <a:t>(code rate)</a:t>
            </a:r>
            <a:r>
              <a:rPr kumimoji="1" lang="zh-CN" altLang="en-US" dirty="0"/>
              <a:t>：码字中不含冗余部分所占的比例，可以用</a:t>
            </a:r>
            <a:r>
              <a:rPr kumimoji="1" lang="en-US" altLang="zh-CN" dirty="0"/>
              <a:t>m/n</a:t>
            </a:r>
            <a:r>
              <a:rPr kumimoji="1" lang="zh-CN" altLang="en-US" dirty="0"/>
              <a:t>表示</a:t>
            </a:r>
            <a:endParaRPr kumimoji="1" lang="en-US" altLang="zh-CN" dirty="0"/>
          </a:p>
          <a:p>
            <a:pPr>
              <a:lnSpc>
                <a:spcPts val="3500"/>
              </a:lnSpc>
              <a:spcBef>
                <a:spcPts val="1200"/>
              </a:spcBef>
            </a:pPr>
            <a:r>
              <a:rPr lang="zh-CN" altLang="en-US" dirty="0"/>
              <a:t>海明距离 </a:t>
            </a:r>
            <a:r>
              <a:rPr kumimoji="1" lang="en-US" altLang="zh-CN" dirty="0"/>
              <a:t>(</a:t>
            </a:r>
            <a:r>
              <a:rPr lang="en-US" altLang="zh-CN" dirty="0"/>
              <a:t>Hamming distance)</a:t>
            </a:r>
            <a:r>
              <a:rPr lang="zh-CN" altLang="en-US" dirty="0"/>
              <a:t>：两个码字之间不同对应比特的数目</a:t>
            </a:r>
          </a:p>
          <a:p>
            <a:pPr lvl="1">
              <a:lnSpc>
                <a:spcPts val="3500"/>
              </a:lnSpc>
            </a:pPr>
            <a:r>
              <a:rPr lang="zh-CN" altLang="en-US" dirty="0"/>
              <a:t>例：</a:t>
            </a:r>
            <a:r>
              <a:rPr lang="en-US" altLang="zh-CN" dirty="0"/>
              <a:t>0000000000 </a:t>
            </a:r>
            <a:r>
              <a:rPr lang="zh-CN" altLang="en-US" dirty="0"/>
              <a:t>与</a:t>
            </a:r>
            <a:r>
              <a:rPr lang="en-US" altLang="zh-CN" dirty="0"/>
              <a:t>0000011111</a:t>
            </a:r>
            <a:r>
              <a:rPr lang="zh-CN" altLang="en-US" dirty="0"/>
              <a:t>的海明距离为</a:t>
            </a:r>
            <a:r>
              <a:rPr lang="en-US" altLang="zh-CN" dirty="0"/>
              <a:t>5</a:t>
            </a:r>
          </a:p>
          <a:p>
            <a:pPr lvl="1">
              <a:lnSpc>
                <a:spcPts val="3500"/>
              </a:lnSpc>
            </a:pPr>
            <a:r>
              <a:rPr lang="zh-CN" altLang="en-US" dirty="0"/>
              <a:t>如果两个码字的海明距离为</a:t>
            </a:r>
            <a:r>
              <a:rPr lang="en-US" altLang="zh-CN" dirty="0"/>
              <a:t>d</a:t>
            </a:r>
            <a:r>
              <a:rPr lang="zh-CN" altLang="en-US" dirty="0"/>
              <a:t>，则需要</a:t>
            </a:r>
            <a:r>
              <a:rPr lang="en-US" altLang="zh-CN" dirty="0"/>
              <a:t>d</a:t>
            </a:r>
            <a:r>
              <a:rPr lang="zh-CN" altLang="en-US" dirty="0"/>
              <a:t>个单比特错就可以把一个码字转换成另一个码字</a:t>
            </a:r>
          </a:p>
          <a:p>
            <a:pPr lvl="1">
              <a:lnSpc>
                <a:spcPts val="3500"/>
              </a:lnSpc>
            </a:pPr>
            <a:r>
              <a:rPr lang="zh-CN" altLang="en-US" dirty="0"/>
              <a:t>为了检查出</a:t>
            </a:r>
            <a:r>
              <a:rPr lang="en-US" altLang="zh-CN" dirty="0"/>
              <a:t>d</a:t>
            </a:r>
            <a:r>
              <a:rPr lang="zh-CN" altLang="en-US" dirty="0"/>
              <a:t>个错（比特错），可以使用海明距离为 </a:t>
            </a:r>
            <a:r>
              <a:rPr lang="en-US" altLang="zh-CN" b="1" dirty="0">
                <a:solidFill>
                  <a:srgbClr val="C00000"/>
                </a:solidFill>
              </a:rPr>
              <a:t>d+1 </a:t>
            </a:r>
            <a:r>
              <a:rPr lang="zh-CN" altLang="en-US" dirty="0"/>
              <a:t>的编码</a:t>
            </a:r>
          </a:p>
          <a:p>
            <a:pPr lvl="1">
              <a:lnSpc>
                <a:spcPts val="3500"/>
              </a:lnSpc>
            </a:pPr>
            <a:r>
              <a:rPr lang="zh-CN" altLang="en-US" dirty="0"/>
              <a:t>为了纠正</a:t>
            </a:r>
            <a:r>
              <a:rPr lang="en-US" altLang="zh-CN" dirty="0"/>
              <a:t>d</a:t>
            </a:r>
            <a:r>
              <a:rPr lang="zh-CN" altLang="en-US" dirty="0"/>
              <a:t>个错，可以使用海明距离为 </a:t>
            </a:r>
            <a:r>
              <a:rPr lang="en-US" altLang="zh-CN" b="1" dirty="0">
                <a:solidFill>
                  <a:srgbClr val="C00000"/>
                </a:solidFill>
              </a:rPr>
              <a:t>2d+1 </a:t>
            </a:r>
            <a:r>
              <a:rPr lang="zh-CN" altLang="en-US" dirty="0"/>
              <a:t>的编码</a:t>
            </a:r>
          </a:p>
          <a:p>
            <a:pPr>
              <a:lnSpc>
                <a:spcPts val="3800"/>
              </a:lnSpc>
            </a:pPr>
            <a:endParaRPr kumimoji="1" lang="en-US" altLang="zh-CN" dirty="0"/>
          </a:p>
          <a:p>
            <a:pPr>
              <a:lnSpc>
                <a:spcPts val="3800"/>
              </a:lnSpc>
            </a:pPr>
            <a:endParaRPr lang="zh-CN" altLang="en-US"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6" name="文本框 5">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Tree>
    <p:extLst>
      <p:ext uri="{BB962C8B-B14F-4D97-AF65-F5344CB8AC3E}">
        <p14:creationId xmlns:p14="http://schemas.microsoft.com/office/powerpoint/2010/main" val="217950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736979" y="1469182"/>
            <a:ext cx="10699845" cy="4923967"/>
          </a:xfrm>
        </p:spPr>
        <p:txBody>
          <a:bodyPr>
            <a:normAutofit/>
          </a:bodyPr>
          <a:lstStyle/>
          <a:p>
            <a:pPr>
              <a:lnSpc>
                <a:spcPts val="3500"/>
              </a:lnSpc>
              <a:spcBef>
                <a:spcPts val="1200"/>
              </a:spcBef>
            </a:pPr>
            <a:r>
              <a:rPr kumimoji="1" lang="zh-CN" altLang="en-US" dirty="0"/>
              <a:t>例如：</a:t>
            </a:r>
            <a:endParaRPr kumimoji="1" lang="en-US" altLang="zh-CN" dirty="0"/>
          </a:p>
          <a:p>
            <a:pPr lvl="1">
              <a:lnSpc>
                <a:spcPts val="3500"/>
              </a:lnSpc>
              <a:spcBef>
                <a:spcPts val="1200"/>
              </a:spcBef>
            </a:pPr>
            <a:r>
              <a:rPr kumimoji="1" lang="zh-CN" altLang="en-US" dirty="0"/>
              <a:t>一个只有</a:t>
            </a:r>
            <a:r>
              <a:rPr kumimoji="1" lang="en-US" altLang="zh-CN" dirty="0"/>
              <a:t>4</a:t>
            </a:r>
            <a:r>
              <a:rPr kumimoji="1" lang="zh-CN" altLang="en-US" dirty="0"/>
              <a:t>个有效码字的编码方案：</a:t>
            </a:r>
            <a:r>
              <a:rPr kumimoji="1" lang="en-US" altLang="zh-CN" dirty="0"/>
              <a:t>0000000000, 0000011111, 1111100000, 1111111111</a:t>
            </a:r>
          </a:p>
          <a:p>
            <a:pPr lvl="1">
              <a:lnSpc>
                <a:spcPts val="3500"/>
              </a:lnSpc>
              <a:spcBef>
                <a:spcPts val="1200"/>
              </a:spcBef>
            </a:pPr>
            <a:r>
              <a:rPr kumimoji="1" lang="zh-CN" altLang="en-US" dirty="0"/>
              <a:t>海明距离为</a:t>
            </a:r>
            <a:r>
              <a:rPr kumimoji="1" lang="en-US" altLang="zh-CN" dirty="0"/>
              <a:t>5</a:t>
            </a:r>
            <a:r>
              <a:rPr kumimoji="1" lang="zh-CN" altLang="en-US" dirty="0"/>
              <a:t>，可以检测</a:t>
            </a:r>
            <a:r>
              <a:rPr kumimoji="1" lang="en-US" altLang="zh-CN" dirty="0"/>
              <a:t>4</a:t>
            </a:r>
            <a:r>
              <a:rPr kumimoji="1" lang="zh-CN" altLang="en-US" dirty="0"/>
              <a:t>位错，纠正</a:t>
            </a:r>
            <a:r>
              <a:rPr kumimoji="1" lang="en-US" altLang="zh-CN" dirty="0"/>
              <a:t>2</a:t>
            </a:r>
            <a:r>
              <a:rPr kumimoji="1" lang="zh-CN" altLang="en-US" dirty="0"/>
              <a:t>位错</a:t>
            </a:r>
            <a:endParaRPr kumimoji="1" lang="en-US" altLang="zh-CN" dirty="0"/>
          </a:p>
          <a:p>
            <a:pPr lvl="1">
              <a:lnSpc>
                <a:spcPts val="3500"/>
              </a:lnSpc>
              <a:spcBef>
                <a:spcPts val="1200"/>
              </a:spcBef>
            </a:pPr>
            <a:r>
              <a:rPr kumimoji="1" lang="zh-CN" altLang="en-US" dirty="0"/>
              <a:t>如果已知只有</a:t>
            </a:r>
            <a:r>
              <a:rPr kumimoji="1" lang="en-US" altLang="zh-CN" dirty="0"/>
              <a:t>1</a:t>
            </a:r>
            <a:r>
              <a:rPr kumimoji="1" lang="zh-CN" altLang="en-US" dirty="0"/>
              <a:t>位或</a:t>
            </a:r>
            <a:r>
              <a:rPr kumimoji="1" lang="en-US" altLang="zh-CN" dirty="0"/>
              <a:t>2</a:t>
            </a:r>
            <a:r>
              <a:rPr kumimoji="1" lang="zh-CN" altLang="en-US" dirty="0"/>
              <a:t>位错误，接收方接收</a:t>
            </a:r>
            <a:r>
              <a:rPr kumimoji="1" lang="en-US" altLang="zh-CN" dirty="0"/>
              <a:t>0000000111</a:t>
            </a:r>
          </a:p>
          <a:p>
            <a:pPr lvl="2" indent="-338138">
              <a:lnSpc>
                <a:spcPts val="3500"/>
              </a:lnSpc>
              <a:spcBef>
                <a:spcPts val="1200"/>
              </a:spcBef>
              <a:buFont typeface="微软雅黑" panose="020B0503020204020204" pitchFamily="34" charset="-122"/>
              <a:buChar char="−"/>
            </a:pPr>
            <a:r>
              <a:rPr kumimoji="1" lang="zh-CN" altLang="en-US" dirty="0"/>
              <a:t>则可知原码字为：</a:t>
            </a:r>
            <a:r>
              <a:rPr kumimoji="1" lang="en-US" altLang="zh-CN" dirty="0"/>
              <a:t>0000011111</a:t>
            </a:r>
          </a:p>
          <a:p>
            <a:pPr lvl="1">
              <a:lnSpc>
                <a:spcPts val="3500"/>
              </a:lnSpc>
              <a:spcBef>
                <a:spcPts val="1200"/>
              </a:spcBef>
            </a:pPr>
            <a:r>
              <a:rPr kumimoji="1" lang="zh-CN" altLang="en-US" dirty="0"/>
              <a:t>如果发生</a:t>
            </a:r>
            <a:r>
              <a:rPr kumimoji="1" lang="en-US" altLang="zh-CN" dirty="0"/>
              <a:t>3</a:t>
            </a:r>
            <a:r>
              <a:rPr kumimoji="1" lang="zh-CN" altLang="en-US" dirty="0"/>
              <a:t>位错误，例如</a:t>
            </a:r>
            <a:r>
              <a:rPr kumimoji="1" lang="en-US" altLang="zh-CN" dirty="0"/>
              <a:t>0000000000</a:t>
            </a:r>
            <a:r>
              <a:rPr kumimoji="1" lang="zh-CN" altLang="en-US" dirty="0"/>
              <a:t>变成</a:t>
            </a:r>
            <a:r>
              <a:rPr kumimoji="1" lang="en-US" altLang="zh-CN" dirty="0"/>
              <a:t>0000000111</a:t>
            </a:r>
            <a:r>
              <a:rPr kumimoji="1" lang="zh-CN" altLang="en-US" dirty="0"/>
              <a:t>，接收方无法纠正错误，但可以检测出错误</a:t>
            </a:r>
            <a:endParaRPr kumimoji="1"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777146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a:lstStyle/>
          <a:p>
            <a:pPr eaLnBrk="1" hangingPunct="1"/>
            <a:r>
              <a:rPr kumimoji="0" lang="zh-CN" altLang="en-US" dirty="0">
                <a:latin typeface="宋体" panose="02010600030101010101" pitchFamily="2" charset="-122"/>
              </a:rPr>
              <a:t>典型检错码</a:t>
            </a:r>
          </a:p>
        </p:txBody>
      </p:sp>
      <p:sp>
        <p:nvSpPr>
          <p:cNvPr id="52226" name="Rectangle 3"/>
          <p:cNvSpPr>
            <a:spLocks noGrp="1" noChangeArrowheads="1"/>
          </p:cNvSpPr>
          <p:nvPr>
            <p:ph type="body" idx="1"/>
          </p:nvPr>
        </p:nvSpPr>
        <p:spPr>
          <a:xfrm>
            <a:off x="838200" y="1510758"/>
            <a:ext cx="10310870" cy="4372684"/>
          </a:xfrm>
        </p:spPr>
        <p:txBody>
          <a:bodyPr>
            <a:normAutofit/>
          </a:bodyPr>
          <a:lstStyle/>
          <a:p>
            <a:pPr>
              <a:lnSpc>
                <a:spcPts val="4300"/>
              </a:lnSpc>
              <a:spcBef>
                <a:spcPts val="1200"/>
              </a:spcBef>
            </a:pPr>
            <a:r>
              <a:rPr lang="zh-CN" altLang="en-US" dirty="0">
                <a:sym typeface="Symbol" panose="05050102010706020507" pitchFamily="18" charset="2"/>
              </a:rPr>
              <a:t>常用的检错码包括：</a:t>
            </a:r>
            <a:endParaRPr lang="en-US" altLang="zh-CN" dirty="0">
              <a:sym typeface="Symbol" panose="05050102010706020507" pitchFamily="18" charset="2"/>
            </a:endParaRPr>
          </a:p>
          <a:p>
            <a:pPr lvl="1">
              <a:lnSpc>
                <a:spcPts val="4300"/>
              </a:lnSpc>
              <a:spcBef>
                <a:spcPts val="1200"/>
              </a:spcBef>
            </a:pPr>
            <a:r>
              <a:rPr lang="zh-CN" altLang="en-US" dirty="0">
                <a:solidFill>
                  <a:srgbClr val="C00000"/>
                </a:solidFill>
                <a:sym typeface="Symbol" panose="05050102010706020507" pitchFamily="18" charset="2"/>
              </a:rPr>
              <a:t>奇偶检验</a:t>
            </a:r>
            <a:r>
              <a:rPr lang="zh-CN" altLang="en-US" dirty="0">
                <a:sym typeface="Symbol" panose="05050102010706020507" pitchFamily="18" charset="2"/>
              </a:rPr>
              <a:t> </a:t>
            </a:r>
            <a:r>
              <a:rPr lang="en-US" altLang="zh-CN" dirty="0">
                <a:sym typeface="Symbol" panose="05050102010706020507" pitchFamily="18" charset="2"/>
              </a:rPr>
              <a:t>(</a:t>
            </a:r>
            <a:r>
              <a:rPr lang="en-US" altLang="zh-CN" dirty="0"/>
              <a:t>Parity Check</a:t>
            </a:r>
            <a:r>
              <a:rPr lang="en-US" altLang="zh-CN" dirty="0">
                <a:sym typeface="Symbol" panose="05050102010706020507" pitchFamily="18" charset="2"/>
              </a:rPr>
              <a:t>)</a:t>
            </a:r>
            <a:r>
              <a:rPr lang="zh-CN" altLang="en-US" dirty="0">
                <a:sym typeface="Symbol" panose="05050102010706020507" pitchFamily="18" charset="2"/>
              </a:rPr>
              <a:t>：</a:t>
            </a:r>
            <a:r>
              <a:rPr lang="en-US" altLang="zh-CN" dirty="0">
                <a:sym typeface="Symbol" panose="05050102010706020507" pitchFamily="18" charset="2"/>
              </a:rPr>
              <a:t>1</a:t>
            </a:r>
            <a:r>
              <a:rPr lang="zh-CN" altLang="en-US" dirty="0">
                <a:sym typeface="Symbol" panose="05050102010706020507" pitchFamily="18" charset="2"/>
              </a:rPr>
              <a:t>位奇偶校验是最简单、最基础的检错码</a:t>
            </a:r>
            <a:endParaRPr lang="en-US" altLang="zh-CN" dirty="0">
              <a:sym typeface="Symbol" panose="05050102010706020507" pitchFamily="18" charset="2"/>
            </a:endParaRPr>
          </a:p>
          <a:p>
            <a:pPr lvl="1">
              <a:lnSpc>
                <a:spcPts val="4300"/>
              </a:lnSpc>
              <a:spcBef>
                <a:spcPts val="1200"/>
              </a:spcBef>
            </a:pPr>
            <a:r>
              <a:rPr lang="zh-CN" altLang="en-US" dirty="0">
                <a:solidFill>
                  <a:srgbClr val="C00000"/>
                </a:solidFill>
                <a:sym typeface="Symbol" panose="05050102010706020507" pitchFamily="18" charset="2"/>
              </a:rPr>
              <a:t>校验和</a:t>
            </a:r>
            <a:r>
              <a:rPr lang="en-US" altLang="zh-CN" dirty="0">
                <a:sym typeface="Symbol" panose="05050102010706020507" pitchFamily="18" charset="2"/>
              </a:rPr>
              <a:t> (Checksum)</a:t>
            </a:r>
            <a:r>
              <a:rPr lang="zh-CN" altLang="en-US" dirty="0">
                <a:sym typeface="Symbol" panose="05050102010706020507" pitchFamily="18" charset="2"/>
              </a:rPr>
              <a:t>：主要用于</a:t>
            </a:r>
            <a:r>
              <a:rPr lang="en-US" altLang="zh-CN" dirty="0">
                <a:sym typeface="Symbol" panose="05050102010706020507" pitchFamily="18" charset="2"/>
              </a:rPr>
              <a:t>TCP/IP</a:t>
            </a:r>
            <a:r>
              <a:rPr lang="zh-CN" altLang="en-US" dirty="0">
                <a:sym typeface="Symbol" panose="05050102010706020507" pitchFamily="18" charset="2"/>
              </a:rPr>
              <a:t>体系中的网络层和传输层</a:t>
            </a:r>
            <a:endParaRPr lang="en-US" altLang="zh-CN" dirty="0">
              <a:sym typeface="Symbol" panose="05050102010706020507" pitchFamily="18" charset="2"/>
            </a:endParaRPr>
          </a:p>
          <a:p>
            <a:pPr lvl="1">
              <a:lnSpc>
                <a:spcPts val="4300"/>
              </a:lnSpc>
              <a:spcBef>
                <a:spcPts val="1200"/>
              </a:spcBef>
            </a:pPr>
            <a:r>
              <a:rPr lang="zh-CN" altLang="en-US" dirty="0">
                <a:solidFill>
                  <a:srgbClr val="C00000"/>
                </a:solidFill>
                <a:sym typeface="Symbol" panose="05050102010706020507" pitchFamily="18" charset="2"/>
              </a:rPr>
              <a:t>循环冗余校验 </a:t>
            </a:r>
            <a:r>
              <a:rPr lang="en-US" altLang="zh-CN" dirty="0">
                <a:sym typeface="Symbol" panose="05050102010706020507" pitchFamily="18" charset="2"/>
              </a:rPr>
              <a:t>(</a:t>
            </a:r>
            <a:r>
              <a:rPr lang="en-US" altLang="zh-CN" dirty="0"/>
              <a:t>Cyclic Redundancy Check</a:t>
            </a:r>
            <a:r>
              <a:rPr lang="zh-CN" altLang="en-US" dirty="0"/>
              <a:t>，</a:t>
            </a:r>
            <a:r>
              <a:rPr lang="en-US" altLang="zh-CN" dirty="0"/>
              <a:t>CRC)</a:t>
            </a:r>
            <a:r>
              <a:rPr lang="zh-CN" altLang="en-US" dirty="0"/>
              <a:t>：数据链路层广泛使用的校验方法</a:t>
            </a:r>
            <a:endParaRPr lang="en-US" altLang="zh-CN" dirty="0">
              <a:sym typeface="Symbol" panose="05050102010706020507" pitchFamily="18" charset="2"/>
            </a:endParaRPr>
          </a:p>
          <a:p>
            <a:pPr marL="457200" lvl="1" indent="0">
              <a:lnSpc>
                <a:spcPts val="3800"/>
              </a:lnSpc>
              <a:buNone/>
            </a:pPr>
            <a:endParaRPr lang="zh-CN" altLang="en-US" dirty="0">
              <a:sym typeface="Symbol" panose="05050102010706020507" pitchFamily="18" charset="2"/>
            </a:endParaRPr>
          </a:p>
        </p:txBody>
      </p:sp>
      <p:sp>
        <p:nvSpPr>
          <p:cNvPr id="4" name="文本框 3">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3929201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rPr>
              <a:t>典型检错码</a:t>
            </a:r>
            <a:r>
              <a:rPr kumimoji="1" lang="en-US" altLang="zh-CN" sz="3200" dirty="0"/>
              <a:t>—</a:t>
            </a:r>
            <a:r>
              <a:rPr kumimoji="1" lang="zh-CN" altLang="en-US" sz="3200" dirty="0">
                <a:solidFill>
                  <a:schemeClr val="accent1">
                    <a:lumMod val="75000"/>
                  </a:schemeClr>
                </a:solidFill>
              </a:rPr>
              <a:t>奇偶校验</a:t>
            </a:r>
            <a:endParaRPr kumimoji="1" lang="zh-CN" altLang="en-US" sz="3200" dirty="0"/>
          </a:p>
        </p:txBody>
      </p:sp>
      <p:sp>
        <p:nvSpPr>
          <p:cNvPr id="3" name="内容占位符 2"/>
          <p:cNvSpPr>
            <a:spLocks noGrp="1"/>
          </p:cNvSpPr>
          <p:nvPr>
            <p:ph idx="1"/>
          </p:nvPr>
        </p:nvSpPr>
        <p:spPr>
          <a:xfrm>
            <a:off x="838200" y="1384300"/>
            <a:ext cx="10617200" cy="594625"/>
          </a:xfrm>
        </p:spPr>
        <p:txBody>
          <a:bodyPr>
            <a:noAutofit/>
          </a:bodyPr>
          <a:lstStyle/>
          <a:p>
            <a:pPr>
              <a:lnSpc>
                <a:spcPts val="3800"/>
              </a:lnSpc>
            </a:pPr>
            <a:r>
              <a:rPr kumimoji="1" lang="en-US" altLang="zh-CN" dirty="0"/>
              <a:t>1</a:t>
            </a:r>
            <a:r>
              <a:rPr kumimoji="1" lang="zh-CN" altLang="en-US" dirty="0"/>
              <a:t>位奇偶校验：增加</a:t>
            </a:r>
            <a:r>
              <a:rPr kumimoji="1" lang="en-US" altLang="zh-CN" dirty="0"/>
              <a:t>1</a:t>
            </a:r>
            <a:r>
              <a:rPr kumimoji="1" lang="zh-CN" altLang="en-US" dirty="0"/>
              <a:t>位校验位，</a:t>
            </a:r>
            <a:r>
              <a:rPr lang="zh-CN" altLang="en-US" dirty="0">
                <a:solidFill>
                  <a:srgbClr val="C00000"/>
                </a:solidFill>
              </a:rPr>
              <a:t>可以检查奇数位错误</a:t>
            </a:r>
            <a:endParaRPr kumimoji="1" lang="en-US" altLang="zh-CN" dirty="0">
              <a:solidFill>
                <a:srgbClr val="C00000"/>
              </a:solidFill>
            </a:endParaRP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10" name="表格 9"/>
          <p:cNvGraphicFramePr>
            <a:graphicFrameLocks noGrp="1"/>
          </p:cNvGraphicFramePr>
          <p:nvPr/>
        </p:nvGraphicFramePr>
        <p:xfrm>
          <a:off x="2228815" y="2815083"/>
          <a:ext cx="3680664" cy="472211"/>
        </p:xfrm>
        <a:graphic>
          <a:graphicData uri="http://schemas.openxmlformats.org/drawingml/2006/table">
            <a:tbl>
              <a:tblPr firstRow="1" bandRow="1">
                <a:tableStyleId>{5C22544A-7EE6-4342-B048-85BDC9FD1C3A}</a:tableStyleId>
              </a:tblPr>
              <a:tblGrid>
                <a:gridCol w="460083">
                  <a:extLst>
                    <a:ext uri="{9D8B030D-6E8A-4147-A177-3AD203B41FA5}">
                      <a16:colId xmlns:a16="http://schemas.microsoft.com/office/drawing/2014/main" val="3044174629"/>
                    </a:ext>
                  </a:extLst>
                </a:gridCol>
                <a:gridCol w="460083">
                  <a:extLst>
                    <a:ext uri="{9D8B030D-6E8A-4147-A177-3AD203B41FA5}">
                      <a16:colId xmlns:a16="http://schemas.microsoft.com/office/drawing/2014/main" val="2089325296"/>
                    </a:ext>
                  </a:extLst>
                </a:gridCol>
                <a:gridCol w="460083">
                  <a:extLst>
                    <a:ext uri="{9D8B030D-6E8A-4147-A177-3AD203B41FA5}">
                      <a16:colId xmlns:a16="http://schemas.microsoft.com/office/drawing/2014/main" val="3979609783"/>
                    </a:ext>
                  </a:extLst>
                </a:gridCol>
                <a:gridCol w="460083">
                  <a:extLst>
                    <a:ext uri="{9D8B030D-6E8A-4147-A177-3AD203B41FA5}">
                      <a16:colId xmlns:a16="http://schemas.microsoft.com/office/drawing/2014/main" val="1270467655"/>
                    </a:ext>
                  </a:extLst>
                </a:gridCol>
                <a:gridCol w="460083">
                  <a:extLst>
                    <a:ext uri="{9D8B030D-6E8A-4147-A177-3AD203B41FA5}">
                      <a16:colId xmlns:a16="http://schemas.microsoft.com/office/drawing/2014/main" val="3229848189"/>
                    </a:ext>
                  </a:extLst>
                </a:gridCol>
                <a:gridCol w="460083">
                  <a:extLst>
                    <a:ext uri="{9D8B030D-6E8A-4147-A177-3AD203B41FA5}">
                      <a16:colId xmlns:a16="http://schemas.microsoft.com/office/drawing/2014/main" val="647982207"/>
                    </a:ext>
                  </a:extLst>
                </a:gridCol>
                <a:gridCol w="460083">
                  <a:extLst>
                    <a:ext uri="{9D8B030D-6E8A-4147-A177-3AD203B41FA5}">
                      <a16:colId xmlns:a16="http://schemas.microsoft.com/office/drawing/2014/main" val="614755695"/>
                    </a:ext>
                  </a:extLst>
                </a:gridCol>
                <a:gridCol w="460083">
                  <a:extLst>
                    <a:ext uri="{9D8B030D-6E8A-4147-A177-3AD203B41FA5}">
                      <a16:colId xmlns:a16="http://schemas.microsoft.com/office/drawing/2014/main" val="3059093890"/>
                    </a:ext>
                  </a:extLst>
                </a:gridCol>
              </a:tblGrid>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6416494"/>
                  </a:ext>
                </a:extLst>
              </a:tr>
            </a:tbl>
          </a:graphicData>
        </a:graphic>
      </p:graphicFrame>
      <p:sp>
        <p:nvSpPr>
          <p:cNvPr id="11" name="文本框 10"/>
          <p:cNvSpPr txBox="1"/>
          <p:nvPr/>
        </p:nvSpPr>
        <p:spPr>
          <a:xfrm>
            <a:off x="5490073" y="2926495"/>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FF0000"/>
                </a:solidFill>
                <a:latin typeface="微软雅黑" panose="020B0503020204020204" pitchFamily="34" charset="-122"/>
                <a:ea typeface="微软雅黑" panose="020B0503020204020204" pitchFamily="34" charset="-122"/>
              </a:rPr>
              <a:t>0</a:t>
            </a:r>
            <a:endParaRPr lang="zh-CN" altLang="en-US" sz="2000" dirty="0">
              <a:solidFill>
                <a:srgbClr val="FF0000"/>
              </a:solidFill>
              <a:latin typeface="微软雅黑" panose="020B0503020204020204" pitchFamily="34" charset="-122"/>
              <a:ea typeface="微软雅黑" panose="020B0503020204020204" pitchFamily="34" charset="-122"/>
            </a:endParaRPr>
          </a:p>
        </p:txBody>
      </p:sp>
      <p:graphicFrame>
        <p:nvGraphicFramePr>
          <p:cNvPr id="13" name="表格 12"/>
          <p:cNvGraphicFramePr>
            <a:graphicFrameLocks noGrp="1"/>
          </p:cNvGraphicFramePr>
          <p:nvPr/>
        </p:nvGraphicFramePr>
        <p:xfrm>
          <a:off x="2228815" y="4871884"/>
          <a:ext cx="3680664" cy="472211"/>
        </p:xfrm>
        <a:graphic>
          <a:graphicData uri="http://schemas.openxmlformats.org/drawingml/2006/table">
            <a:tbl>
              <a:tblPr firstRow="1" bandRow="1">
                <a:tableStyleId>{5C22544A-7EE6-4342-B048-85BDC9FD1C3A}</a:tableStyleId>
              </a:tblPr>
              <a:tblGrid>
                <a:gridCol w="460083">
                  <a:extLst>
                    <a:ext uri="{9D8B030D-6E8A-4147-A177-3AD203B41FA5}">
                      <a16:colId xmlns:a16="http://schemas.microsoft.com/office/drawing/2014/main" val="3044174629"/>
                    </a:ext>
                  </a:extLst>
                </a:gridCol>
                <a:gridCol w="460083">
                  <a:extLst>
                    <a:ext uri="{9D8B030D-6E8A-4147-A177-3AD203B41FA5}">
                      <a16:colId xmlns:a16="http://schemas.microsoft.com/office/drawing/2014/main" val="2089325296"/>
                    </a:ext>
                  </a:extLst>
                </a:gridCol>
                <a:gridCol w="460083">
                  <a:extLst>
                    <a:ext uri="{9D8B030D-6E8A-4147-A177-3AD203B41FA5}">
                      <a16:colId xmlns:a16="http://schemas.microsoft.com/office/drawing/2014/main" val="3979609783"/>
                    </a:ext>
                  </a:extLst>
                </a:gridCol>
                <a:gridCol w="460083">
                  <a:extLst>
                    <a:ext uri="{9D8B030D-6E8A-4147-A177-3AD203B41FA5}">
                      <a16:colId xmlns:a16="http://schemas.microsoft.com/office/drawing/2014/main" val="1270467655"/>
                    </a:ext>
                  </a:extLst>
                </a:gridCol>
                <a:gridCol w="460083">
                  <a:extLst>
                    <a:ext uri="{9D8B030D-6E8A-4147-A177-3AD203B41FA5}">
                      <a16:colId xmlns:a16="http://schemas.microsoft.com/office/drawing/2014/main" val="3229848189"/>
                    </a:ext>
                  </a:extLst>
                </a:gridCol>
                <a:gridCol w="460083">
                  <a:extLst>
                    <a:ext uri="{9D8B030D-6E8A-4147-A177-3AD203B41FA5}">
                      <a16:colId xmlns:a16="http://schemas.microsoft.com/office/drawing/2014/main" val="647982207"/>
                    </a:ext>
                  </a:extLst>
                </a:gridCol>
                <a:gridCol w="460083">
                  <a:extLst>
                    <a:ext uri="{9D8B030D-6E8A-4147-A177-3AD203B41FA5}">
                      <a16:colId xmlns:a16="http://schemas.microsoft.com/office/drawing/2014/main" val="614755695"/>
                    </a:ext>
                  </a:extLst>
                </a:gridCol>
                <a:gridCol w="460083">
                  <a:extLst>
                    <a:ext uri="{9D8B030D-6E8A-4147-A177-3AD203B41FA5}">
                      <a16:colId xmlns:a16="http://schemas.microsoft.com/office/drawing/2014/main" val="3059093890"/>
                    </a:ext>
                  </a:extLst>
                </a:gridCol>
              </a:tblGrid>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6416494"/>
                  </a:ext>
                </a:extLst>
              </a:tr>
            </a:tbl>
          </a:graphicData>
        </a:graphic>
      </p:graphicFrame>
      <p:sp>
        <p:nvSpPr>
          <p:cNvPr id="14" name="文本框 13"/>
          <p:cNvSpPr txBox="1"/>
          <p:nvPr/>
        </p:nvSpPr>
        <p:spPr>
          <a:xfrm>
            <a:off x="5490073" y="4983296"/>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FF0000"/>
                </a:solidFill>
                <a:latin typeface="微软雅黑" panose="020B0503020204020204" pitchFamily="34" charset="-122"/>
                <a:ea typeface="微软雅黑" panose="020B0503020204020204" pitchFamily="34" charset="-122"/>
              </a:rPr>
              <a:t>1</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15" name="内容占位符 2"/>
          <p:cNvSpPr txBox="1">
            <a:spLocks/>
          </p:cNvSpPr>
          <p:nvPr/>
        </p:nvSpPr>
        <p:spPr>
          <a:xfrm>
            <a:off x="799439" y="2046626"/>
            <a:ext cx="10617200" cy="618328"/>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ts val="3800"/>
              </a:lnSpc>
            </a:pPr>
            <a:r>
              <a:rPr kumimoji="1" lang="zh-CN" altLang="en-US" dirty="0"/>
              <a:t>偶校验：保证</a:t>
            </a:r>
            <a:r>
              <a:rPr kumimoji="1" lang="en-US" altLang="zh-CN" dirty="0"/>
              <a:t>1</a:t>
            </a:r>
            <a:r>
              <a:rPr kumimoji="1" lang="zh-CN" altLang="en-US" dirty="0"/>
              <a:t>的个数为偶数个，例如：</a:t>
            </a:r>
            <a:endParaRPr kumimoji="1" lang="en-US" altLang="zh-CN" dirty="0"/>
          </a:p>
        </p:txBody>
      </p:sp>
      <p:sp>
        <p:nvSpPr>
          <p:cNvPr id="17" name="内容占位符 2"/>
          <p:cNvSpPr txBox="1">
            <a:spLocks/>
          </p:cNvSpPr>
          <p:nvPr/>
        </p:nvSpPr>
        <p:spPr>
          <a:xfrm>
            <a:off x="809767" y="4110483"/>
            <a:ext cx="10617200" cy="571710"/>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ts val="3800"/>
              </a:lnSpc>
            </a:pPr>
            <a:r>
              <a:rPr kumimoji="1" lang="zh-CN" altLang="en-US" dirty="0"/>
              <a:t>奇校验：保证</a:t>
            </a:r>
            <a:r>
              <a:rPr kumimoji="1" lang="en-US" altLang="zh-CN" dirty="0"/>
              <a:t>1</a:t>
            </a:r>
            <a:r>
              <a:rPr kumimoji="1" lang="zh-CN" altLang="en-US" dirty="0"/>
              <a:t>的个数为奇数个，例如：</a:t>
            </a:r>
            <a:endParaRPr kumimoji="1" lang="en-US" altLang="zh-CN" dirty="0"/>
          </a:p>
        </p:txBody>
      </p:sp>
      <p:grpSp>
        <p:nvGrpSpPr>
          <p:cNvPr id="31" name="组合 30"/>
          <p:cNvGrpSpPr/>
          <p:nvPr/>
        </p:nvGrpSpPr>
        <p:grpSpPr>
          <a:xfrm>
            <a:off x="2228814" y="3343933"/>
            <a:ext cx="4156163" cy="781137"/>
            <a:chOff x="2228814" y="3343933"/>
            <a:chExt cx="4156163" cy="781137"/>
          </a:xfrm>
        </p:grpSpPr>
        <p:sp>
          <p:nvSpPr>
            <p:cNvPr id="21" name="右大括号 20"/>
            <p:cNvSpPr/>
            <p:nvPr/>
          </p:nvSpPr>
          <p:spPr>
            <a:xfrm rot="16200000" flipH="1">
              <a:off x="3650532" y="1922216"/>
              <a:ext cx="318616" cy="3162051"/>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3126011" y="3724262"/>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数据位</a:t>
              </a:r>
            </a:p>
          </p:txBody>
        </p:sp>
        <p:cxnSp>
          <p:nvCxnSpPr>
            <p:cNvPr id="26" name="直接箭头连接符 25"/>
            <p:cNvCxnSpPr/>
            <p:nvPr/>
          </p:nvCxnSpPr>
          <p:spPr>
            <a:xfrm flipV="1">
              <a:off x="5660204" y="3343933"/>
              <a:ext cx="0" cy="318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4935431" y="3724960"/>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校验位</a:t>
              </a:r>
            </a:p>
          </p:txBody>
        </p:sp>
      </p:grpSp>
      <p:grpSp>
        <p:nvGrpSpPr>
          <p:cNvPr id="32" name="组合 31"/>
          <p:cNvGrpSpPr/>
          <p:nvPr/>
        </p:nvGrpSpPr>
        <p:grpSpPr>
          <a:xfrm>
            <a:off x="2269758" y="5389018"/>
            <a:ext cx="4115219" cy="793532"/>
            <a:chOff x="2269758" y="5389018"/>
            <a:chExt cx="4115219" cy="793532"/>
          </a:xfrm>
        </p:grpSpPr>
        <p:sp>
          <p:nvSpPr>
            <p:cNvPr id="18" name="右大括号 17"/>
            <p:cNvSpPr/>
            <p:nvPr/>
          </p:nvSpPr>
          <p:spPr>
            <a:xfrm rot="16200000" flipH="1">
              <a:off x="3691476" y="3980056"/>
              <a:ext cx="318616" cy="3162051"/>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3166955" y="5782440"/>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数据位</a:t>
              </a:r>
            </a:p>
          </p:txBody>
        </p:sp>
        <p:cxnSp>
          <p:nvCxnSpPr>
            <p:cNvPr id="29" name="直接箭头连接符 28"/>
            <p:cNvCxnSpPr/>
            <p:nvPr/>
          </p:nvCxnSpPr>
          <p:spPr>
            <a:xfrm flipV="1">
              <a:off x="5660204" y="5389018"/>
              <a:ext cx="0" cy="318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4935431" y="5770045"/>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校验位</a:t>
              </a:r>
            </a:p>
          </p:txBody>
        </p:sp>
      </p:grpSp>
      <p:sp>
        <p:nvSpPr>
          <p:cNvPr id="33" name="文本框 32"/>
          <p:cNvSpPr txBox="1"/>
          <p:nvPr/>
        </p:nvSpPr>
        <p:spPr>
          <a:xfrm>
            <a:off x="7707110" y="3311778"/>
            <a:ext cx="3844542" cy="1027333"/>
          </a:xfrm>
          <a:prstGeom prst="rect">
            <a:avLst/>
          </a:prstGeom>
          <a:noFill/>
          <a:ln>
            <a:solidFill>
              <a:srgbClr val="00B0F0"/>
            </a:solidFill>
          </a:ln>
        </p:spPr>
        <p:txBody>
          <a:bodyPr wrap="square" rtlCol="0" anchor="ctr">
            <a:spAutoFit/>
          </a:bodyPr>
          <a:lstStyle/>
          <a:p>
            <a:pPr algn="ctr">
              <a:lnSpc>
                <a:spcPts val="3800"/>
              </a:lnSpc>
            </a:pPr>
            <a:r>
              <a:rPr lang="zh-CN" altLang="en-US" sz="2400" dirty="0">
                <a:solidFill>
                  <a:srgbClr val="C00000"/>
                </a:solidFill>
              </a:rPr>
              <a:t>考虑二维奇偶校验，是否可以进行纠错？</a:t>
            </a:r>
            <a:endParaRPr lang="en-US" altLang="zh-CN" sz="2400" dirty="0">
              <a:solidFill>
                <a:srgbClr val="C00000"/>
              </a:solidFill>
            </a:endParaRPr>
          </a:p>
        </p:txBody>
      </p:sp>
    </p:spTree>
    <p:extLst>
      <p:ext uri="{BB962C8B-B14F-4D97-AF65-F5344CB8AC3E}">
        <p14:creationId xmlns:p14="http://schemas.microsoft.com/office/powerpoint/2010/main" val="348804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1+#ppt_w/2"/>
                                          </p:val>
                                        </p:tav>
                                        <p:tav tm="100000">
                                          <p:val>
                                            <p:strVal val="#ppt_x"/>
                                          </p:val>
                                        </p:tav>
                                      </p:tavLst>
                                    </p:anim>
                                    <p:anim calcmode="lin" valueType="num">
                                      <p:cBhvr additive="base">
                                        <p:cTn id="3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circle(in)">
                                      <p:cBhvr>
                                        <p:cTn id="39"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p:bldP spid="17" grpId="0"/>
      <p:bldP spid="3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宋体" panose="02010600030101010101" pitchFamily="2" charset="-122"/>
              </a:rPr>
              <a:t>典型检错码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校验和</a:t>
            </a:r>
          </a:p>
        </p:txBody>
      </p:sp>
      <p:sp>
        <p:nvSpPr>
          <p:cNvPr id="3" name="内容占位符 2"/>
          <p:cNvSpPr>
            <a:spLocks noGrp="1"/>
          </p:cNvSpPr>
          <p:nvPr>
            <p:ph idx="1"/>
          </p:nvPr>
        </p:nvSpPr>
        <p:spPr>
          <a:xfrm>
            <a:off x="838200" y="1275680"/>
            <a:ext cx="10591800" cy="687668"/>
          </a:xfrm>
        </p:spPr>
        <p:txBody>
          <a:bodyPr>
            <a:normAutofit/>
          </a:bodyPr>
          <a:lstStyle/>
          <a:p>
            <a:pPr>
              <a:lnSpc>
                <a:spcPct val="150000"/>
              </a:lnSpc>
            </a:pPr>
            <a:r>
              <a:rPr kumimoji="1" lang="en-US" altLang="zh-CN" dirty="0"/>
              <a:t>TCP/IP</a:t>
            </a:r>
            <a:r>
              <a:rPr kumimoji="1" lang="zh-CN" altLang="en-US" dirty="0"/>
              <a:t>体系中主要采用的校验方法</a:t>
            </a:r>
            <a:endParaRPr kumimoji="1" lang="en-US" altLang="zh-CN"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pSp>
        <p:nvGrpSpPr>
          <p:cNvPr id="4" name="组合 3"/>
          <p:cNvGrpSpPr/>
          <p:nvPr/>
        </p:nvGrpSpPr>
        <p:grpSpPr>
          <a:xfrm>
            <a:off x="961542" y="3669534"/>
            <a:ext cx="4306081" cy="2369880"/>
            <a:chOff x="2744714" y="3986470"/>
            <a:chExt cx="4306081" cy="2369880"/>
          </a:xfrm>
        </p:grpSpPr>
        <p:sp>
          <p:nvSpPr>
            <p:cNvPr id="7" name="Text Box 4">
              <a:extLst>
                <a:ext uri="{FF2B5EF4-FFF2-40B4-BE49-F238E27FC236}">
                  <a16:creationId xmlns:a16="http://schemas.microsoft.com/office/drawing/2014/main" id="{9B174DB8-1FC8-4F43-94D7-56E51904FE8D}"/>
                </a:ext>
              </a:extLst>
            </p:cNvPr>
            <p:cNvSpPr txBox="1">
              <a:spLocks noChangeArrowheads="1"/>
            </p:cNvSpPr>
            <p:nvPr/>
          </p:nvSpPr>
          <p:spPr bwMode="auto">
            <a:xfrm>
              <a:off x="2820914" y="3986470"/>
              <a:ext cx="4229881" cy="236988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type="none" w="sm" len="me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1 1 1 0 0 1 1 0 0 1 1 0 0 1 1 0</a:t>
              </a: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1 1 0 1 0 1 0 1 0 1 0 1 0 1 0 1</a:t>
              </a:r>
            </a:p>
            <a:p>
              <a:pPr algn="l">
                <a:lnSpc>
                  <a:spcPct val="120000"/>
                </a:lnSpc>
                <a:defRPr/>
              </a:pPr>
              <a:endParaRPr lang="en-US" sz="2000" b="1" dirty="0">
                <a:latin typeface="微软雅黑" panose="020B0503020204020204" pitchFamily="34" charset="-122"/>
                <a:ea typeface="微软雅黑" panose="020B0503020204020204" pitchFamily="34" charset="-122"/>
              </a:endParaRPr>
            </a:p>
            <a:p>
              <a:pPr algn="l">
                <a:defRPr/>
              </a:pPr>
              <a:r>
                <a:rPr lang="en-US" sz="2000" b="1" dirty="0">
                  <a:latin typeface="微软雅黑" panose="020B0503020204020204" pitchFamily="34" charset="-122"/>
                  <a:ea typeface="微软雅黑" panose="020B0503020204020204" pitchFamily="34" charset="-122"/>
                </a:rPr>
                <a:t>1  1 0 1 1 1 0 1 1 1 0 1 1 1 0 1 1</a:t>
              </a:r>
            </a:p>
            <a:p>
              <a:pPr algn="l">
                <a:lnSpc>
                  <a:spcPct val="120000"/>
                </a:lnSpc>
                <a:defRPr/>
              </a:pPr>
              <a:endParaRPr lang="en-US" sz="2000" b="1" dirty="0">
                <a:latin typeface="微软雅黑" panose="020B0503020204020204" pitchFamily="34" charset="-122"/>
                <a:ea typeface="微软雅黑" panose="020B0503020204020204" pitchFamily="34" charset="-122"/>
              </a:endParaRP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1 0 1 1 1 0 1 1 1 0 1 1 1 1 0 0</a:t>
              </a: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a:t>
              </a:r>
              <a:r>
                <a:rPr lang="en-US" sz="2000" b="1" dirty="0">
                  <a:solidFill>
                    <a:srgbClr val="C00000"/>
                  </a:solidFill>
                  <a:latin typeface="微软雅黑" panose="020B0503020204020204" pitchFamily="34" charset="-122"/>
                  <a:ea typeface="微软雅黑" panose="020B0503020204020204" pitchFamily="34" charset="-122"/>
                </a:rPr>
                <a:t>0 1 0 0 0 1 0 0 0 1 0 0 0 0 1 1</a:t>
              </a:r>
              <a:endParaRPr lang="en-US" sz="2400" b="1" dirty="0">
                <a:solidFill>
                  <a:srgbClr val="C00000"/>
                </a:solidFill>
                <a:latin typeface="微软雅黑" panose="020B0503020204020204" pitchFamily="34" charset="-122"/>
                <a:ea typeface="微软雅黑" panose="020B0503020204020204" pitchFamily="34" charset="-122"/>
              </a:endParaRPr>
            </a:p>
          </p:txBody>
        </p:sp>
        <p:sp>
          <p:nvSpPr>
            <p:cNvPr id="8" name="Line 5">
              <a:extLst>
                <a:ext uri="{FF2B5EF4-FFF2-40B4-BE49-F238E27FC236}">
                  <a16:creationId xmlns:a16="http://schemas.microsoft.com/office/drawing/2014/main" id="{6B7A5157-C9C5-4E69-8774-15BDEE99D5F1}"/>
                </a:ext>
              </a:extLst>
            </p:cNvPr>
            <p:cNvSpPr>
              <a:spLocks noChangeShapeType="1"/>
            </p:cNvSpPr>
            <p:nvPr/>
          </p:nvSpPr>
          <p:spPr bwMode="auto">
            <a:xfrm flipH="1">
              <a:off x="2744714" y="4813558"/>
              <a:ext cx="4206929" cy="0"/>
            </a:xfrm>
            <a:prstGeom prst="line">
              <a:avLst/>
            </a:prstGeom>
            <a:noFill/>
            <a:ln w="12700">
              <a:solidFill>
                <a:schemeClr val="tx1"/>
              </a:solidFill>
              <a:round/>
              <a:headEnd type="none" w="sm"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9" name="Oval 6">
              <a:extLst>
                <a:ext uri="{FF2B5EF4-FFF2-40B4-BE49-F238E27FC236}">
                  <a16:creationId xmlns:a16="http://schemas.microsoft.com/office/drawing/2014/main" id="{C349E8C1-FB8C-4DD2-937E-921290DDF5A3}"/>
                </a:ext>
              </a:extLst>
            </p:cNvPr>
            <p:cNvSpPr>
              <a:spLocks noChangeArrowheads="1"/>
            </p:cNvSpPr>
            <p:nvPr/>
          </p:nvSpPr>
          <p:spPr bwMode="auto">
            <a:xfrm>
              <a:off x="2820913" y="4989770"/>
              <a:ext cx="309415" cy="304800"/>
            </a:xfrm>
            <a:prstGeom prst="ellipse">
              <a:avLst/>
            </a:prstGeom>
            <a:noFill/>
            <a:ln w="9525">
              <a:solidFill>
                <a:srgbClr val="FF0000"/>
              </a:solidFill>
              <a:round/>
              <a:headEnd type="none" w="sm" len="me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10" name="Line 10">
              <a:extLst>
                <a:ext uri="{FF2B5EF4-FFF2-40B4-BE49-F238E27FC236}">
                  <a16:creationId xmlns:a16="http://schemas.microsoft.com/office/drawing/2014/main" id="{C0DA2F60-A56E-43BE-9FFD-D3F55F76073C}"/>
                </a:ext>
              </a:extLst>
            </p:cNvPr>
            <p:cNvSpPr>
              <a:spLocks noChangeShapeType="1"/>
            </p:cNvSpPr>
            <p:nvPr/>
          </p:nvSpPr>
          <p:spPr bwMode="auto">
            <a:xfrm flipH="1">
              <a:off x="2744714" y="5532695"/>
              <a:ext cx="4206929" cy="0"/>
            </a:xfrm>
            <a:prstGeom prst="line">
              <a:avLst/>
            </a:prstGeom>
            <a:noFill/>
            <a:ln w="12700">
              <a:solidFill>
                <a:schemeClr val="tx1"/>
              </a:solidFill>
              <a:round/>
              <a:headEnd type="none" w="sm"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11" name="Freeform 11">
              <a:extLst>
                <a:ext uri="{FF2B5EF4-FFF2-40B4-BE49-F238E27FC236}">
                  <a16:creationId xmlns:a16="http://schemas.microsoft.com/office/drawing/2014/main" id="{6818F98D-5E8C-4EBE-BF6A-BCEDC9012BFB}"/>
                </a:ext>
              </a:extLst>
            </p:cNvPr>
            <p:cNvSpPr>
              <a:spLocks/>
            </p:cNvSpPr>
            <p:nvPr/>
          </p:nvSpPr>
          <p:spPr bwMode="auto">
            <a:xfrm>
              <a:off x="2982839" y="5296159"/>
              <a:ext cx="3836602" cy="76786"/>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sp>
        <p:nvSpPr>
          <p:cNvPr id="12"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 5"/>
          <p:cNvSpPr/>
          <p:nvPr/>
        </p:nvSpPr>
        <p:spPr>
          <a:xfrm>
            <a:off x="1215412" y="2143428"/>
            <a:ext cx="3953059" cy="1287981"/>
          </a:xfrm>
          <a:prstGeom prst="rect">
            <a:avLst/>
          </a:prstGeom>
          <a:ln>
            <a:solidFill>
              <a:schemeClr val="accent1"/>
            </a:solidFill>
          </a:ln>
        </p:spPr>
        <p:txBody>
          <a:bodyPr wrap="square">
            <a:spAutoFit/>
          </a:bodyPr>
          <a:lstStyle/>
          <a:p>
            <a:pPr>
              <a:lnSpc>
                <a:spcPts val="3200"/>
              </a:lnSpc>
            </a:pPr>
            <a:r>
              <a:rPr lang="zh-CN" altLang="en-US" sz="2200" dirty="0">
                <a:solidFill>
                  <a:srgbClr val="C00000"/>
                </a:solidFill>
                <a:latin typeface="Microsoft YaHei" charset="0"/>
                <a:ea typeface="Microsoft YaHei" charset="0"/>
                <a:cs typeface="Microsoft YaHei" charset="0"/>
              </a:rPr>
              <a:t>发送方</a:t>
            </a:r>
            <a:r>
              <a:rPr lang="zh-CN" altLang="en-US" sz="2200" dirty="0">
                <a:latin typeface="Microsoft YaHei" charset="0"/>
                <a:ea typeface="Microsoft YaHei" charset="0"/>
                <a:cs typeface="Microsoft YaHei" charset="0"/>
              </a:rPr>
              <a:t>：进行 </a:t>
            </a:r>
            <a:r>
              <a:rPr lang="en-US" altLang="zh-CN" sz="2200" dirty="0">
                <a:latin typeface="Microsoft YaHei" charset="0"/>
                <a:ea typeface="Microsoft YaHei" charset="0"/>
                <a:cs typeface="Microsoft YaHei" charset="0"/>
              </a:rPr>
              <a:t>16 </a:t>
            </a:r>
            <a:r>
              <a:rPr lang="zh-CN" altLang="en-US" sz="2200" dirty="0">
                <a:latin typeface="Microsoft YaHei" charset="0"/>
                <a:ea typeface="Microsoft YaHei" charset="0"/>
                <a:cs typeface="Microsoft YaHei" charset="0"/>
              </a:rPr>
              <a:t>位二进制补码求和运算，计算结果取反，随数据一同发送</a:t>
            </a:r>
            <a:endParaRPr lang="en-US" altLang="zh-CN" sz="2200" dirty="0">
              <a:latin typeface="Microsoft YaHei" charset="0"/>
              <a:ea typeface="Microsoft YaHei" charset="0"/>
              <a:cs typeface="Microsoft YaHei" charset="0"/>
            </a:endParaRPr>
          </a:p>
        </p:txBody>
      </p:sp>
      <p:sp>
        <p:nvSpPr>
          <p:cNvPr id="13" name="矩形 12"/>
          <p:cNvSpPr/>
          <p:nvPr/>
        </p:nvSpPr>
        <p:spPr>
          <a:xfrm>
            <a:off x="6872231" y="2121989"/>
            <a:ext cx="3924300" cy="1323439"/>
          </a:xfrm>
          <a:prstGeom prst="rect">
            <a:avLst/>
          </a:prstGeom>
          <a:ln>
            <a:solidFill>
              <a:schemeClr val="accent1"/>
            </a:solidFill>
          </a:ln>
        </p:spPr>
        <p:txBody>
          <a:bodyPr wrap="square">
            <a:spAutoFit/>
          </a:bodyPr>
          <a:lstStyle/>
          <a:p>
            <a:pPr>
              <a:lnSpc>
                <a:spcPts val="3200"/>
              </a:lnSpc>
            </a:pPr>
            <a:r>
              <a:rPr lang="zh-CN" altLang="en-US" sz="2200" dirty="0">
                <a:solidFill>
                  <a:srgbClr val="C00000"/>
                </a:solidFill>
                <a:latin typeface="Microsoft YaHei" charset="0"/>
                <a:ea typeface="Microsoft YaHei" charset="0"/>
                <a:cs typeface="Microsoft YaHei" charset="0"/>
              </a:rPr>
              <a:t>接收方</a:t>
            </a:r>
            <a:r>
              <a:rPr lang="zh-CN" altLang="en-US" sz="2200" dirty="0">
                <a:latin typeface="Microsoft YaHei" charset="0"/>
                <a:ea typeface="Microsoft YaHei" charset="0"/>
                <a:cs typeface="Microsoft YaHei" charset="0"/>
              </a:rPr>
              <a:t>：进行 </a:t>
            </a:r>
            <a:r>
              <a:rPr lang="en-US" altLang="zh-CN" sz="2200" dirty="0">
                <a:latin typeface="Microsoft YaHei" charset="0"/>
                <a:ea typeface="Microsoft YaHei" charset="0"/>
                <a:cs typeface="Microsoft YaHei" charset="0"/>
              </a:rPr>
              <a:t>16 </a:t>
            </a:r>
            <a:r>
              <a:rPr lang="zh-CN" altLang="en-US" sz="2200" dirty="0">
                <a:latin typeface="Microsoft YaHei" charset="0"/>
                <a:ea typeface="Microsoft YaHei" charset="0"/>
                <a:cs typeface="Microsoft YaHei" charset="0"/>
              </a:rPr>
              <a:t>位二进制补码求和运算（包含校验和），结果非全</a:t>
            </a:r>
            <a:r>
              <a:rPr lang="en-US" altLang="zh-CN" sz="2200" dirty="0">
                <a:latin typeface="Microsoft YaHei" charset="0"/>
                <a:ea typeface="Microsoft YaHei" charset="0"/>
                <a:cs typeface="Microsoft YaHei" charset="0"/>
              </a:rPr>
              <a:t>1</a:t>
            </a:r>
            <a:r>
              <a:rPr lang="zh-CN" altLang="en-US" sz="2200" dirty="0">
                <a:latin typeface="Microsoft YaHei" charset="0"/>
                <a:ea typeface="Microsoft YaHei" charset="0"/>
                <a:cs typeface="Microsoft YaHei" charset="0"/>
              </a:rPr>
              <a:t>，则检测到错误</a:t>
            </a:r>
            <a:endParaRPr lang="en-US" altLang="zh-CN" sz="2200" dirty="0">
              <a:latin typeface="Microsoft YaHei" charset="0"/>
              <a:ea typeface="Microsoft YaHei" charset="0"/>
              <a:cs typeface="Microsoft YaHei" charset="0"/>
            </a:endParaRPr>
          </a:p>
        </p:txBody>
      </p:sp>
      <p:sp>
        <p:nvSpPr>
          <p:cNvPr id="14" name="文本框 13"/>
          <p:cNvSpPr txBox="1"/>
          <p:nvPr/>
        </p:nvSpPr>
        <p:spPr>
          <a:xfrm>
            <a:off x="226764" y="5559701"/>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校验和</a:t>
            </a:r>
          </a:p>
        </p:txBody>
      </p:sp>
      <p:sp>
        <p:nvSpPr>
          <p:cNvPr id="15" name="文本框 14"/>
          <p:cNvSpPr txBox="1"/>
          <p:nvPr/>
        </p:nvSpPr>
        <p:spPr>
          <a:xfrm>
            <a:off x="226764" y="3837041"/>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数据</a:t>
            </a:r>
          </a:p>
        </p:txBody>
      </p:sp>
      <p:grpSp>
        <p:nvGrpSpPr>
          <p:cNvPr id="16" name="组合 15"/>
          <p:cNvGrpSpPr/>
          <p:nvPr/>
        </p:nvGrpSpPr>
        <p:grpSpPr>
          <a:xfrm>
            <a:off x="6490450" y="3693915"/>
            <a:ext cx="4306081" cy="2693045"/>
            <a:chOff x="2744714" y="3986470"/>
            <a:chExt cx="4306081" cy="2693045"/>
          </a:xfrm>
        </p:grpSpPr>
        <p:sp>
          <p:nvSpPr>
            <p:cNvPr id="17" name="Text Box 4">
              <a:extLst>
                <a:ext uri="{FF2B5EF4-FFF2-40B4-BE49-F238E27FC236}">
                  <a16:creationId xmlns:a16="http://schemas.microsoft.com/office/drawing/2014/main" id="{9B174DB8-1FC8-4F43-94D7-56E51904FE8D}"/>
                </a:ext>
              </a:extLst>
            </p:cNvPr>
            <p:cNvSpPr txBox="1">
              <a:spLocks noChangeArrowheads="1"/>
            </p:cNvSpPr>
            <p:nvPr/>
          </p:nvSpPr>
          <p:spPr bwMode="auto">
            <a:xfrm>
              <a:off x="2820914" y="3986470"/>
              <a:ext cx="4229881" cy="269304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type="none" w="sm" len="me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1 1 1 0 0 1 1 0 0 1 1 0 0 1 1 0</a:t>
              </a: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1 1 0 1 0 1 0 1 0 1 0 1 0 1 0 1</a:t>
              </a:r>
            </a:p>
            <a:p>
              <a:pPr algn="l">
                <a:lnSpc>
                  <a:spcPct val="120000"/>
                </a:lnSpc>
                <a:defRPr/>
              </a:pPr>
              <a:endParaRPr lang="en-US" sz="2000" b="1" dirty="0">
                <a:latin typeface="微软雅黑" panose="020B0503020204020204" pitchFamily="34" charset="-122"/>
                <a:ea typeface="微软雅黑" panose="020B0503020204020204" pitchFamily="34" charset="-122"/>
              </a:endParaRPr>
            </a:p>
            <a:p>
              <a:pPr algn="l">
                <a:defRPr/>
              </a:pPr>
              <a:r>
                <a:rPr lang="en-US" sz="2000" b="1" dirty="0">
                  <a:latin typeface="微软雅黑" panose="020B0503020204020204" pitchFamily="34" charset="-122"/>
                  <a:ea typeface="微软雅黑" panose="020B0503020204020204" pitchFamily="34" charset="-122"/>
                </a:rPr>
                <a:t>1  1 0 1 1 1 0 1 1 1 0 1 1 1 0 1 1</a:t>
              </a:r>
            </a:p>
            <a:p>
              <a:pPr>
                <a:spcBef>
                  <a:spcPts val="1800"/>
                </a:spcBef>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a:t>
              </a:r>
              <a:r>
                <a:rPr lang="en-US" altLang="zh-CN" sz="2000" b="1" dirty="0">
                  <a:solidFill>
                    <a:srgbClr val="C00000"/>
                  </a:solidFill>
                  <a:latin typeface="微软雅黑" panose="020B0503020204020204" pitchFamily="34" charset="-122"/>
                  <a:ea typeface="微软雅黑" panose="020B0503020204020204" pitchFamily="34" charset="-122"/>
                </a:rPr>
                <a:t>0 1 0 0 0 1 0 0 0 1 0 0 0 0 1 1</a:t>
              </a:r>
              <a:endParaRPr lang="en-US" altLang="zh-CN" sz="2400" b="1" dirty="0">
                <a:solidFill>
                  <a:srgbClr val="C00000"/>
                </a:solidFill>
                <a:latin typeface="微软雅黑" panose="020B0503020204020204" pitchFamily="34" charset="-122"/>
                <a:ea typeface="微软雅黑" panose="020B0503020204020204" pitchFamily="34" charset="-122"/>
              </a:endParaRPr>
            </a:p>
            <a:p>
              <a:pPr algn="l">
                <a:spcBef>
                  <a:spcPts val="1200"/>
                </a:spcBef>
                <a:defRPr/>
              </a:pPr>
              <a:r>
                <a:rPr lang="en-US" sz="2000" b="1" dirty="0">
                  <a:latin typeface="微软雅黑" panose="020B0503020204020204" pitchFamily="34" charset="-122"/>
                  <a:ea typeface="微软雅黑" panose="020B0503020204020204" pitchFamily="34" charset="-122"/>
                </a:rPr>
                <a:t>    </a:t>
              </a:r>
              <a:r>
                <a:rPr lang="en-US" sz="2000" b="1" dirty="0">
                  <a:solidFill>
                    <a:srgbClr val="6600FF"/>
                  </a:solidFill>
                  <a:latin typeface="微软雅黑" panose="020B0503020204020204" pitchFamily="34" charset="-122"/>
                  <a:ea typeface="微软雅黑" panose="020B0503020204020204" pitchFamily="34" charset="-122"/>
                </a:rPr>
                <a:t>1 1 1 1 1 1 1 1 1 1 1 1 1 1 1 1</a:t>
              </a:r>
            </a:p>
            <a:p>
              <a:pPr algn="l">
                <a:defRPr/>
              </a:pPr>
              <a:r>
                <a:rPr lang="en-US" sz="2000" b="1" dirty="0">
                  <a:solidFill>
                    <a:schemeClr val="bg1"/>
                  </a:solidFill>
                  <a:latin typeface="微软雅黑" panose="020B0503020204020204" pitchFamily="34" charset="-122"/>
                  <a:ea typeface="微软雅黑" panose="020B0503020204020204" pitchFamily="34" charset="-122"/>
                </a:rPr>
                <a:t>1</a:t>
              </a:r>
              <a:endParaRPr lang="en-US" sz="2400" b="1" dirty="0">
                <a:solidFill>
                  <a:srgbClr val="C00000"/>
                </a:solidFill>
                <a:latin typeface="微软雅黑" panose="020B0503020204020204" pitchFamily="34" charset="-122"/>
                <a:ea typeface="微软雅黑" panose="020B0503020204020204" pitchFamily="34" charset="-122"/>
              </a:endParaRPr>
            </a:p>
          </p:txBody>
        </p:sp>
        <p:sp>
          <p:nvSpPr>
            <p:cNvPr id="18" name="Line 5">
              <a:extLst>
                <a:ext uri="{FF2B5EF4-FFF2-40B4-BE49-F238E27FC236}">
                  <a16:creationId xmlns:a16="http://schemas.microsoft.com/office/drawing/2014/main" id="{6B7A5157-C9C5-4E69-8774-15BDEE99D5F1}"/>
                </a:ext>
              </a:extLst>
            </p:cNvPr>
            <p:cNvSpPr>
              <a:spLocks noChangeShapeType="1"/>
            </p:cNvSpPr>
            <p:nvPr/>
          </p:nvSpPr>
          <p:spPr bwMode="auto">
            <a:xfrm flipH="1">
              <a:off x="2744714" y="4813558"/>
              <a:ext cx="4206929" cy="0"/>
            </a:xfrm>
            <a:prstGeom prst="line">
              <a:avLst/>
            </a:prstGeom>
            <a:noFill/>
            <a:ln w="12700">
              <a:solidFill>
                <a:schemeClr val="tx1"/>
              </a:solidFill>
              <a:round/>
              <a:headEnd type="none" w="sm"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19" name="Oval 6">
              <a:extLst>
                <a:ext uri="{FF2B5EF4-FFF2-40B4-BE49-F238E27FC236}">
                  <a16:creationId xmlns:a16="http://schemas.microsoft.com/office/drawing/2014/main" id="{C349E8C1-FB8C-4DD2-937E-921290DDF5A3}"/>
                </a:ext>
              </a:extLst>
            </p:cNvPr>
            <p:cNvSpPr>
              <a:spLocks noChangeArrowheads="1"/>
            </p:cNvSpPr>
            <p:nvPr/>
          </p:nvSpPr>
          <p:spPr bwMode="auto">
            <a:xfrm>
              <a:off x="2820913" y="4989770"/>
              <a:ext cx="309415" cy="304800"/>
            </a:xfrm>
            <a:prstGeom prst="ellipse">
              <a:avLst/>
            </a:prstGeom>
            <a:noFill/>
            <a:ln w="9525">
              <a:solidFill>
                <a:srgbClr val="FF0000"/>
              </a:solidFill>
              <a:round/>
              <a:headEnd type="none" w="sm" len="me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21" name="Freeform 11">
              <a:extLst>
                <a:ext uri="{FF2B5EF4-FFF2-40B4-BE49-F238E27FC236}">
                  <a16:creationId xmlns:a16="http://schemas.microsoft.com/office/drawing/2014/main" id="{6818F98D-5E8C-4EBE-BF6A-BCEDC9012BFB}"/>
                </a:ext>
              </a:extLst>
            </p:cNvPr>
            <p:cNvSpPr>
              <a:spLocks/>
            </p:cNvSpPr>
            <p:nvPr/>
          </p:nvSpPr>
          <p:spPr bwMode="auto">
            <a:xfrm>
              <a:off x="2982839" y="5296159"/>
              <a:ext cx="3836602" cy="76786"/>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sp>
        <p:nvSpPr>
          <p:cNvPr id="22" name="Line 5">
            <a:extLst>
              <a:ext uri="{FF2B5EF4-FFF2-40B4-BE49-F238E27FC236}">
                <a16:creationId xmlns:a16="http://schemas.microsoft.com/office/drawing/2014/main" id="{6B7A5157-C9C5-4E69-8774-15BDEE99D5F1}"/>
              </a:ext>
            </a:extLst>
          </p:cNvPr>
          <p:cNvSpPr>
            <a:spLocks noChangeShapeType="1"/>
          </p:cNvSpPr>
          <p:nvPr/>
        </p:nvSpPr>
        <p:spPr bwMode="auto">
          <a:xfrm flipH="1">
            <a:off x="6507135" y="5537667"/>
            <a:ext cx="4206929" cy="0"/>
          </a:xfrm>
          <a:prstGeom prst="line">
            <a:avLst/>
          </a:prstGeom>
          <a:noFill/>
          <a:ln w="12700">
            <a:solidFill>
              <a:schemeClr val="tx1"/>
            </a:solidFill>
            <a:round/>
            <a:headEnd type="none" w="sm"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23" name="文本框 22"/>
          <p:cNvSpPr txBox="1"/>
          <p:nvPr/>
        </p:nvSpPr>
        <p:spPr>
          <a:xfrm>
            <a:off x="10714064" y="3866763"/>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数据</a:t>
            </a:r>
          </a:p>
        </p:txBody>
      </p:sp>
      <p:sp>
        <p:nvSpPr>
          <p:cNvPr id="24" name="文本框 23"/>
          <p:cNvSpPr txBox="1"/>
          <p:nvPr/>
        </p:nvSpPr>
        <p:spPr>
          <a:xfrm>
            <a:off x="10714064" y="5128814"/>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校验和</a:t>
            </a:r>
          </a:p>
        </p:txBody>
      </p:sp>
      <p:sp>
        <p:nvSpPr>
          <p:cNvPr id="28" name="圆角矩形标注 27"/>
          <p:cNvSpPr/>
          <p:nvPr/>
        </p:nvSpPr>
        <p:spPr>
          <a:xfrm>
            <a:off x="5211573" y="6185705"/>
            <a:ext cx="1905320" cy="512642"/>
          </a:xfrm>
          <a:prstGeom prst="wedgeRoundRectCallout">
            <a:avLst>
              <a:gd name="adj1" fmla="val 56567"/>
              <a:gd name="adj2" fmla="val -94178"/>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9" name="文本框 28"/>
          <p:cNvSpPr txBox="1"/>
          <p:nvPr/>
        </p:nvSpPr>
        <p:spPr>
          <a:xfrm>
            <a:off x="5211573" y="6227977"/>
            <a:ext cx="1905321" cy="430887"/>
          </a:xfrm>
          <a:prstGeom prst="rect">
            <a:avLst/>
          </a:prstGeom>
          <a:noFill/>
        </p:spPr>
        <p:txBody>
          <a:bodyPr wrap="square" rtlCol="0">
            <a:spAutoFit/>
          </a:bodyPr>
          <a:lstStyle/>
          <a:p>
            <a:pPr algn="ctr"/>
            <a:r>
              <a:rPr lang="zh-CN" altLang="en-US" sz="2200" dirty="0">
                <a:solidFill>
                  <a:srgbClr val="C00000"/>
                </a:solidFill>
                <a:latin typeface="微软雅黑" panose="020B0503020204020204" pitchFamily="34" charset="-122"/>
                <a:ea typeface="微软雅黑" panose="020B0503020204020204" pitchFamily="34" charset="-122"/>
              </a:rPr>
              <a:t>未检测到错误</a:t>
            </a:r>
          </a:p>
        </p:txBody>
      </p:sp>
    </p:spTree>
    <p:extLst>
      <p:ext uri="{BB962C8B-B14F-4D97-AF65-F5344CB8AC3E}">
        <p14:creationId xmlns:p14="http://schemas.microsoft.com/office/powerpoint/2010/main" val="1287155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典型检错码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循环冗余校验</a:t>
            </a:r>
            <a:r>
              <a:rPr kumimoji="1" lang="en-US" altLang="zh-CN" sz="3200" dirty="0">
                <a:solidFill>
                  <a:schemeClr val="accent1">
                    <a:lumMod val="75000"/>
                  </a:schemeClr>
                </a:solidFill>
              </a:rPr>
              <a:t>CRC</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613611" y="1313922"/>
            <a:ext cx="7496682" cy="5051093"/>
          </a:xfrm>
        </p:spPr>
        <p:txBody>
          <a:bodyPr>
            <a:normAutofit lnSpcReduction="10000"/>
          </a:bodyPr>
          <a:lstStyle/>
          <a:p>
            <a:pPr>
              <a:lnSpc>
                <a:spcPct val="150000"/>
              </a:lnSpc>
            </a:pPr>
            <a:r>
              <a:rPr kumimoji="1" lang="en-US" altLang="zh-CN" dirty="0">
                <a:latin typeface="微软雅黑" panose="020B0503020204020204" pitchFamily="34" charset="-122"/>
                <a:ea typeface="微软雅黑" panose="020B0503020204020204" pitchFamily="34" charset="-122"/>
              </a:rPr>
              <a:t>CRC</a:t>
            </a:r>
            <a:r>
              <a:rPr kumimoji="1" lang="zh-CN" altLang="en-US" dirty="0">
                <a:latin typeface="微软雅黑" panose="020B0503020204020204" pitchFamily="34" charset="-122"/>
                <a:ea typeface="微软雅黑" panose="020B0503020204020204" pitchFamily="34" charset="-122"/>
              </a:rPr>
              <a:t>校验码计算方法</a:t>
            </a:r>
          </a:p>
          <a:p>
            <a:pPr lvl="1">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设原始数据</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k</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位二进制位模式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如果要产生</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校验码，事先选定一个</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位二进制位模式</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G (</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称为生成多项式，收发双方提前商定</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的最高位为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a:t>
            </a:r>
          </a:p>
          <a:p>
            <a:pPr lvl="1">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将原始数据</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乘以</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baseline="30000" dirty="0">
                <a:latin typeface="微软雅黑" panose="020B0503020204020204" pitchFamily="34" charset="-122"/>
                <a:ea typeface="微软雅黑" panose="020B0503020204020204" pitchFamily="34" charset="-122"/>
                <a:cs typeface="Times New Roman" panose="02020603050405020304" pitchFamily="18" charset="0"/>
              </a:rPr>
              <a:t>n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（相当于在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后面添加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），产生</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k+n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位二进制位模式，用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对该位模式做模</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除，得到余数</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位，不足</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位前面用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补齐）即为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校验码</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12" name="矩形 11">
            <a:extLst>
              <a:ext uri="{FF2B5EF4-FFF2-40B4-BE49-F238E27FC236}">
                <a16:creationId xmlns:a16="http://schemas.microsoft.com/office/drawing/2014/main" id="{9858CA14-BFA2-4FCA-8EAC-ABDC8ED0A8E2}"/>
              </a:ext>
            </a:extLst>
          </p:cNvPr>
          <p:cNvSpPr/>
          <p:nvPr/>
        </p:nvSpPr>
        <p:spPr>
          <a:xfrm>
            <a:off x="8451310" y="1842951"/>
            <a:ext cx="2332892" cy="29969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原始数据</a:t>
            </a:r>
            <a:r>
              <a:rPr lang="en-US" altLang="zh-CN" sz="1400" b="1" dirty="0">
                <a:solidFill>
                  <a:schemeClr val="tx1"/>
                </a:solidFill>
                <a:latin typeface="微软雅黑" pitchFamily="34" charset="-122"/>
                <a:ea typeface="微软雅黑" pitchFamily="34" charset="-122"/>
              </a:rPr>
              <a:t>D</a:t>
            </a:r>
            <a:endParaRPr lang="zh-CN" altLang="en-US" sz="1400" b="1" dirty="0">
              <a:solidFill>
                <a:schemeClr val="tx1"/>
              </a:solidFill>
              <a:latin typeface="微软雅黑" pitchFamily="34" charset="-122"/>
              <a:ea typeface="微软雅黑" pitchFamily="34" charset="-122"/>
            </a:endParaRPr>
          </a:p>
        </p:txBody>
      </p:sp>
      <p:sp>
        <p:nvSpPr>
          <p:cNvPr id="13" name="矩形 12">
            <a:extLst>
              <a:ext uri="{FF2B5EF4-FFF2-40B4-BE49-F238E27FC236}">
                <a16:creationId xmlns:a16="http://schemas.microsoft.com/office/drawing/2014/main" id="{06692ED2-DA8B-44B2-84C0-7B27FDF38CA5}"/>
              </a:ext>
            </a:extLst>
          </p:cNvPr>
          <p:cNvSpPr/>
          <p:nvPr/>
        </p:nvSpPr>
        <p:spPr>
          <a:xfrm>
            <a:off x="10784200" y="1842951"/>
            <a:ext cx="1184033" cy="299698"/>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 </a:t>
            </a:r>
            <a:r>
              <a:rPr lang="zh-CN" altLang="en-US" sz="1400" b="1" dirty="0">
                <a:solidFill>
                  <a:schemeClr val="tx1"/>
                </a:solidFill>
                <a:latin typeface="微软雅黑" pitchFamily="34" charset="-122"/>
                <a:ea typeface="微软雅黑" pitchFamily="34" charset="-122"/>
              </a:rPr>
              <a:t>校验码</a:t>
            </a:r>
            <a:endParaRPr lang="zh-CN" altLang="en-US" sz="1400" b="1" dirty="0">
              <a:latin typeface="微软雅黑" pitchFamily="34" charset="-122"/>
              <a:ea typeface="微软雅黑" pitchFamily="34" charset="-122"/>
            </a:endParaRPr>
          </a:p>
        </p:txBody>
      </p:sp>
      <p:sp>
        <p:nvSpPr>
          <p:cNvPr id="14" name="矩形 13">
            <a:extLst>
              <a:ext uri="{FF2B5EF4-FFF2-40B4-BE49-F238E27FC236}">
                <a16:creationId xmlns:a16="http://schemas.microsoft.com/office/drawing/2014/main" id="{1FBFB15D-FA0D-40FE-B781-ABCDAD506135}"/>
              </a:ext>
            </a:extLst>
          </p:cNvPr>
          <p:cNvSpPr/>
          <p:nvPr/>
        </p:nvSpPr>
        <p:spPr>
          <a:xfrm>
            <a:off x="8451310" y="2769075"/>
            <a:ext cx="3516922" cy="29969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发送数据</a:t>
            </a:r>
          </a:p>
        </p:txBody>
      </p:sp>
      <p:sp>
        <p:nvSpPr>
          <p:cNvPr id="15" name="矩形 14">
            <a:extLst>
              <a:ext uri="{FF2B5EF4-FFF2-40B4-BE49-F238E27FC236}">
                <a16:creationId xmlns:a16="http://schemas.microsoft.com/office/drawing/2014/main" id="{3DA4ABF0-5381-407F-849B-1445ED7D26BA}"/>
              </a:ext>
            </a:extLst>
          </p:cNvPr>
          <p:cNvSpPr/>
          <p:nvPr/>
        </p:nvSpPr>
        <p:spPr>
          <a:xfrm>
            <a:off x="9350241" y="1568241"/>
            <a:ext cx="47641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16" name="矩形 15">
            <a:extLst>
              <a:ext uri="{FF2B5EF4-FFF2-40B4-BE49-F238E27FC236}">
                <a16:creationId xmlns:a16="http://schemas.microsoft.com/office/drawing/2014/main" id="{25850685-C134-4B22-8B5C-4BBD70CC33A9}"/>
              </a:ext>
            </a:extLst>
          </p:cNvPr>
          <p:cNvSpPr/>
          <p:nvPr/>
        </p:nvSpPr>
        <p:spPr>
          <a:xfrm>
            <a:off x="11092970" y="1568241"/>
            <a:ext cx="484428"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17" name="下箭头 16">
            <a:extLst>
              <a:ext uri="{FF2B5EF4-FFF2-40B4-BE49-F238E27FC236}">
                <a16:creationId xmlns:a16="http://schemas.microsoft.com/office/drawing/2014/main" id="{E4974AEC-7A47-49E3-81D4-7134C607E1FD}"/>
              </a:ext>
            </a:extLst>
          </p:cNvPr>
          <p:cNvSpPr/>
          <p:nvPr/>
        </p:nvSpPr>
        <p:spPr>
          <a:xfrm>
            <a:off x="10033924" y="2248159"/>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5FE51C64-2361-460D-A05C-2AD080B5042A}"/>
              </a:ext>
            </a:extLst>
          </p:cNvPr>
          <p:cNvSpPr/>
          <p:nvPr/>
        </p:nvSpPr>
        <p:spPr>
          <a:xfrm>
            <a:off x="9824364" y="3067961"/>
            <a:ext cx="78579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 </a:t>
            </a: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cxnSp>
        <p:nvCxnSpPr>
          <p:cNvPr id="19" name="直接连接符 18">
            <a:extLst>
              <a:ext uri="{FF2B5EF4-FFF2-40B4-BE49-F238E27FC236}">
                <a16:creationId xmlns:a16="http://schemas.microsoft.com/office/drawing/2014/main" id="{9BA05D17-267F-4002-9F9A-D0029EC5FB8D}"/>
              </a:ext>
            </a:extLst>
          </p:cNvPr>
          <p:cNvCxnSpPr/>
          <p:nvPr/>
        </p:nvCxnSpPr>
        <p:spPr>
          <a:xfrm>
            <a:off x="10784202" y="2769075"/>
            <a:ext cx="0" cy="29969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 name="下箭头 17">
            <a:extLst>
              <a:ext uri="{FF2B5EF4-FFF2-40B4-BE49-F238E27FC236}">
                <a16:creationId xmlns:a16="http://schemas.microsoft.com/office/drawing/2014/main" id="{CE599149-D2B2-4788-A691-2D491EC7DA99}"/>
              </a:ext>
            </a:extLst>
          </p:cNvPr>
          <p:cNvSpPr/>
          <p:nvPr/>
        </p:nvSpPr>
        <p:spPr>
          <a:xfrm>
            <a:off x="10033924" y="3391851"/>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DA25EA2-4646-438B-9424-3D907B86CD4E}"/>
              </a:ext>
            </a:extLst>
          </p:cNvPr>
          <p:cNvSpPr/>
          <p:nvPr/>
        </p:nvSpPr>
        <p:spPr>
          <a:xfrm>
            <a:off x="8658453" y="4425743"/>
            <a:ext cx="3168502" cy="826637"/>
          </a:xfrm>
          <a:prstGeom prst="rect">
            <a:avLst/>
          </a:prstGeom>
          <a:solidFill>
            <a:schemeClr val="bg1"/>
          </a:solidFill>
          <a:ln>
            <a:solidFill>
              <a:srgbClr val="00B0F0"/>
            </a:solidFill>
          </a:ln>
        </p:spPr>
        <p:txBody>
          <a:bodyPr wrap="square">
            <a:spAutoFit/>
          </a:bodyPr>
          <a:lstStyle/>
          <a:p>
            <a:pPr>
              <a:lnSpc>
                <a:spcPts val="3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校验能力：能检测出少于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n+1</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位的突发错误</a:t>
            </a:r>
            <a:endParaRPr lang="zh-CN" altLang="en-US" sz="2000" dirty="0">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65865E1E-7E80-4082-BA0C-D774D014E94E}"/>
              </a:ext>
            </a:extLst>
          </p:cNvPr>
          <p:cNvSpPr/>
          <p:nvPr/>
        </p:nvSpPr>
        <p:spPr>
          <a:xfrm>
            <a:off x="9049254" y="5707517"/>
            <a:ext cx="2510244" cy="477054"/>
          </a:xfrm>
          <a:prstGeom prst="rect">
            <a:avLst/>
          </a:prstGeom>
          <a:solidFill>
            <a:schemeClr val="accent5">
              <a:lumMod val="20000"/>
              <a:lumOff val="80000"/>
            </a:schemeClr>
          </a:solidFill>
          <a:ln>
            <a:solidFill>
              <a:srgbClr val="C00000"/>
            </a:solidFill>
          </a:ln>
        </p:spPr>
        <p:txBody>
          <a:bodyPr wrap="square">
            <a:spAutoFit/>
          </a:bodyPr>
          <a:lstStyle/>
          <a:p>
            <a:pPr algn="ctr">
              <a:lnSpc>
                <a:spcPts val="3000"/>
              </a:lnSpc>
            </a:pPr>
            <a:r>
              <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接收端如何计算？</a:t>
            </a:r>
            <a:endParaRPr lang="zh-CN" altLang="en-US" sz="2000" b="1" dirty="0">
              <a:solidFill>
                <a:srgbClr val="C00000"/>
              </a:solidFill>
              <a:latin typeface="黑体" panose="02010609060101010101" pitchFamily="49" charset="-122"/>
              <a:ea typeface="黑体" panose="02010609060101010101" pitchFamily="49" charset="-122"/>
            </a:endParaRPr>
          </a:p>
        </p:txBody>
      </p:sp>
      <p:sp>
        <p:nvSpPr>
          <p:cNvPr id="23"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2079384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循环冗余校验</a:t>
            </a:r>
            <a:r>
              <a:rPr kumimoji="1" lang="en-US" altLang="zh-CN" sz="3200" dirty="0">
                <a:solidFill>
                  <a:schemeClr val="accent1">
                    <a:lumMod val="75000"/>
                  </a:schemeClr>
                </a:solidFill>
              </a:rPr>
              <a:t>CRC</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200" y="1383632"/>
            <a:ext cx="6395814" cy="4362969"/>
          </a:xfrm>
        </p:spPr>
        <p:txBody>
          <a:bodyPr>
            <a:normAutofit/>
          </a:bodyPr>
          <a:lstStyle/>
          <a:p>
            <a:pPr>
              <a:lnSpc>
                <a:spcPts val="3600"/>
              </a:lnSpc>
              <a:spcBef>
                <a:spcPts val="1200"/>
              </a:spcBef>
            </a:pPr>
            <a:r>
              <a:rPr kumimoji="1" lang="en-US" altLang="zh-CN" dirty="0">
                <a:latin typeface="微软雅黑" panose="020B0503020204020204" pitchFamily="34" charset="-122"/>
                <a:ea typeface="微软雅黑" panose="020B0503020204020204" pitchFamily="34" charset="-122"/>
              </a:rPr>
              <a:t>CRC</a:t>
            </a:r>
            <a:r>
              <a:rPr kumimoji="1" lang="zh-CN" altLang="en-US" dirty="0">
                <a:latin typeface="微软雅黑" panose="020B0503020204020204" pitchFamily="34" charset="-122"/>
                <a:ea typeface="微软雅黑" panose="020B0503020204020204" pitchFamily="34" charset="-122"/>
              </a:rPr>
              <a:t>校验码计算示例</a:t>
            </a:r>
            <a:endParaRPr kumimoji="1" lang="en-US" altLang="zh-CN" dirty="0">
              <a:latin typeface="微软雅黑" panose="020B0503020204020204" pitchFamily="34" charset="-122"/>
              <a:ea typeface="微软雅黑" panose="020B0503020204020204" pitchFamily="34" charset="-122"/>
            </a:endParaRP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 = </a:t>
            </a:r>
            <a:r>
              <a:rPr lang="en-US" altLang="zh-CN"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rPr>
              <a:t>1010001101</a:t>
            </a: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 = 5</a:t>
            </a: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 = 110101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或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30000" dirty="0">
                <a:latin typeface="微软雅黑" panose="020B0503020204020204" pitchFamily="34" charset="-122"/>
                <a:ea typeface="微软雅黑" panose="020B0503020204020204" pitchFamily="34" charset="-122"/>
                <a:cs typeface="Times New Roman" panose="02020603050405020304" pitchFamily="18" charset="0"/>
              </a:rPr>
              <a:t>5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30000" dirty="0">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30000" dirty="0">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+ 1</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 = 01110</a:t>
            </a:r>
          </a:p>
          <a:p>
            <a:pPr lvl="1">
              <a:lnSpc>
                <a:spcPts val="3600"/>
              </a:lnSpc>
              <a:spcBef>
                <a:spcPts val="120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实际传输数据：</a:t>
            </a:r>
            <a:r>
              <a:rPr lang="en-US" altLang="zh-CN"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rPr>
              <a:t>1010001101</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01110</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pSp>
        <p:nvGrpSpPr>
          <p:cNvPr id="24" name="Group 46"/>
          <p:cNvGrpSpPr>
            <a:grpSpLocks/>
          </p:cNvGrpSpPr>
          <p:nvPr/>
        </p:nvGrpSpPr>
        <p:grpSpPr bwMode="auto">
          <a:xfrm>
            <a:off x="5389340" y="1423838"/>
            <a:ext cx="6742112" cy="4359275"/>
            <a:chOff x="720" y="1281"/>
            <a:chExt cx="4247" cy="2746"/>
          </a:xfrm>
        </p:grpSpPr>
        <p:sp>
          <p:nvSpPr>
            <p:cNvPr id="25" name="Text Box 25"/>
            <p:cNvSpPr txBox="1">
              <a:spLocks noChangeArrowheads="1"/>
            </p:cNvSpPr>
            <p:nvPr/>
          </p:nvSpPr>
          <p:spPr bwMode="auto">
            <a:xfrm>
              <a:off x="720" y="1281"/>
              <a:ext cx="4247" cy="2746"/>
            </a:xfrm>
            <a:prstGeom prst="rect">
              <a:avLst/>
            </a:prstGeom>
            <a:noFill/>
            <a:ln w="9525">
              <a:noFill/>
              <a:miter lim="800000"/>
              <a:headEnd/>
              <a:tailEnd/>
            </a:ln>
          </p:spPr>
          <p:txBody>
            <a:bodyPr>
              <a:spAutoFit/>
            </a:bodyPr>
            <a:lstStyle/>
            <a:p>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                1101010110</a:t>
              </a:r>
            </a:p>
            <a:p>
              <a:r>
                <a:rPr lang="zh-CN" altLang="zh-CN" sz="2000" dirty="0">
                  <a:latin typeface="Courier New" pitchFamily="49" charset="0"/>
                  <a:ea typeface="黑体" pitchFamily="2" charset="-122"/>
                </a:rPr>
                <a:t> </a:t>
              </a:r>
              <a:r>
                <a:rPr lang="en-US" altLang="zh-CN" sz="2000" dirty="0">
                  <a:latin typeface="Courier New" pitchFamily="49" charset="0"/>
                  <a:ea typeface="黑体" pitchFamily="2" charset="-122"/>
                </a:rPr>
                <a:t> </a:t>
              </a:r>
              <a:r>
                <a:rPr lang="en-US" altLang="zh-CN" dirty="0">
                  <a:latin typeface="Courier New" pitchFamily="49" charset="0"/>
                  <a:ea typeface="黑体" pitchFamily="2" charset="-122"/>
                </a:rPr>
                <a:t>    </a:t>
              </a:r>
              <a:r>
                <a:rPr lang="en-US" altLang="zh-CN" sz="2000" i="1" dirty="0">
                  <a:latin typeface="Courier New" pitchFamily="49" charset="0"/>
                  <a:ea typeface="黑体" pitchFamily="2" charset="-122"/>
                </a:rPr>
                <a:t>G </a:t>
              </a:r>
              <a:r>
                <a:rPr lang="en-US" altLang="zh-CN" sz="2000" dirty="0">
                  <a:latin typeface="Courier New" pitchFamily="49" charset="0"/>
                  <a:ea typeface="黑体" pitchFamily="2" charset="-122"/>
                </a:rPr>
                <a:t>→</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110101 1010001101</a:t>
              </a:r>
              <a:r>
                <a:rPr lang="en-US" altLang="zh-CN" sz="2000" b="1" dirty="0">
                  <a:solidFill>
                    <a:srgbClr val="00B050"/>
                  </a:solidFill>
                  <a:latin typeface="Courier New" pitchFamily="49" charset="0"/>
                  <a:ea typeface="黑体" pitchFamily="2" charset="-122"/>
                </a:rPr>
                <a:t>00000</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2</a:t>
              </a:r>
              <a:r>
                <a:rPr lang="en-US" altLang="zh-CN" sz="2000" i="1" baseline="30000" dirty="0">
                  <a:latin typeface="Courier New" pitchFamily="49" charset="0"/>
                  <a:ea typeface="黑体" pitchFamily="2" charset="-122"/>
                </a:rPr>
                <a:t>n</a:t>
              </a:r>
              <a:r>
                <a:rPr lang="en-US" altLang="zh-CN" sz="2000" i="1" dirty="0">
                  <a:latin typeface="Courier New" pitchFamily="49" charset="0"/>
                  <a:ea typeface="黑体" pitchFamily="2" charset="-122"/>
                </a:rPr>
                <a:t>D</a:t>
              </a:r>
              <a:endParaRPr lang="en-US" altLang="zh-CN" sz="2000" dirty="0">
                <a:latin typeface="Courier New" pitchFamily="49" charset="0"/>
                <a:ea typeface="黑体" pitchFamily="2" charset="-122"/>
              </a:endParaRPr>
            </a:p>
            <a:p>
              <a:r>
                <a:rPr lang="en-US" altLang="zh-CN" sz="800" dirty="0">
                  <a:latin typeface="Courier New" pitchFamily="49" charset="0"/>
                  <a:ea typeface="黑体" pitchFamily="2" charset="-122"/>
                </a:rPr>
                <a:t>  </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 110101</a:t>
              </a:r>
            </a:p>
            <a:p>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111011</a:t>
              </a:r>
              <a:r>
                <a:rPr lang="en-US" altLang="zh-CN" sz="1000" dirty="0">
                  <a:latin typeface="Courier New" pitchFamily="49" charset="0"/>
                  <a:ea typeface="黑体" pitchFamily="2" charset="-122"/>
                </a:rPr>
                <a:t> </a:t>
              </a:r>
              <a:endParaRPr lang="en-US" altLang="zh-CN" sz="2000" dirty="0">
                <a:latin typeface="Courier New" pitchFamily="49" charset="0"/>
                <a:ea typeface="黑体" pitchFamily="2" charset="-122"/>
              </a:endParaRPr>
            </a:p>
            <a:p>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10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111010</a:t>
              </a:r>
            </a:p>
            <a:p>
              <a:r>
                <a:rPr lang="en-US" altLang="zh-CN" sz="10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11111</a:t>
              </a:r>
              <a:r>
                <a:rPr lang="en-US" altLang="zh-CN" sz="2000" b="1" dirty="0">
                  <a:solidFill>
                    <a:srgbClr val="00B050"/>
                  </a:solidFill>
                  <a:latin typeface="Courier New" pitchFamily="49" charset="0"/>
                  <a:ea typeface="黑体" pitchFamily="2" charset="-122"/>
                </a:rPr>
                <a:t>0</a:t>
              </a:r>
            </a:p>
            <a:p>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10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1011</a:t>
              </a:r>
              <a:r>
                <a:rPr lang="en-US" altLang="zh-CN" sz="2000" b="1" dirty="0">
                  <a:solidFill>
                    <a:srgbClr val="00B050"/>
                  </a:solidFill>
                  <a:latin typeface="Courier New" pitchFamily="49" charset="0"/>
                  <a:ea typeface="黑体" pitchFamily="2" charset="-122"/>
                </a:rPr>
                <a:t>00</a:t>
              </a:r>
            </a:p>
            <a:p>
              <a:r>
                <a:rPr lang="en-US" altLang="zh-CN" sz="8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8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11001</a:t>
              </a:r>
              <a:r>
                <a:rPr lang="en-US" altLang="zh-CN" sz="2000" b="1" dirty="0">
                  <a:solidFill>
                    <a:srgbClr val="00B050"/>
                  </a:solidFill>
                  <a:latin typeface="Courier New" pitchFamily="49" charset="0"/>
                  <a:ea typeface="黑体" pitchFamily="2" charset="-122"/>
                </a:rPr>
                <a:t>0</a:t>
              </a:r>
            </a:p>
            <a:p>
              <a:r>
                <a:rPr lang="en-US" altLang="zh-CN" sz="9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10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0111</a:t>
              </a:r>
              <a:r>
                <a:rPr lang="en-US" altLang="zh-CN" sz="2000" b="1" dirty="0">
                  <a:solidFill>
                    <a:srgbClr val="00B050"/>
                  </a:solidFill>
                  <a:latin typeface="Courier New" pitchFamily="49" charset="0"/>
                  <a:ea typeface="黑体" pitchFamily="2" charset="-122"/>
                </a:rPr>
                <a:t>0</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a:t>
              </a:r>
              <a:r>
                <a:rPr lang="en-US" altLang="zh-CN" sz="1000" dirty="0">
                  <a:latin typeface="Courier New" pitchFamily="49" charset="0"/>
                  <a:ea typeface="黑体" pitchFamily="2" charset="-122"/>
                </a:rPr>
                <a:t> </a:t>
              </a:r>
              <a:r>
                <a:rPr lang="en-US" altLang="zh-CN" sz="2000" i="1" dirty="0">
                  <a:latin typeface="Courier New" pitchFamily="49" charset="0"/>
                  <a:ea typeface="黑体" pitchFamily="2" charset="-122"/>
                </a:rPr>
                <a:t>R</a:t>
              </a:r>
              <a:endParaRPr lang="en-US" altLang="zh-CN" sz="2000" dirty="0">
                <a:latin typeface="Courier New" pitchFamily="49" charset="0"/>
                <a:ea typeface="黑体" pitchFamily="2" charset="-122"/>
              </a:endParaRPr>
            </a:p>
          </p:txBody>
        </p:sp>
        <p:sp>
          <p:nvSpPr>
            <p:cNvPr id="26" name="Freeform 26"/>
            <p:cNvSpPr>
              <a:spLocks/>
            </p:cNvSpPr>
            <p:nvPr/>
          </p:nvSpPr>
          <p:spPr bwMode="auto">
            <a:xfrm>
              <a:off x="2274" y="1480"/>
              <a:ext cx="1513" cy="168"/>
            </a:xfrm>
            <a:custGeom>
              <a:avLst/>
              <a:gdLst>
                <a:gd name="T0" fmla="*/ 0 w 1332"/>
                <a:gd name="T1" fmla="*/ 684 h 156"/>
                <a:gd name="T2" fmla="*/ 0 w 1332"/>
                <a:gd name="T3" fmla="*/ 0 h 156"/>
                <a:gd name="T4" fmla="*/ 17033 w 1332"/>
                <a:gd name="T5" fmla="*/ 1 h 156"/>
                <a:gd name="T6" fmla="*/ 0 60000 65536"/>
                <a:gd name="T7" fmla="*/ 0 60000 65536"/>
                <a:gd name="T8" fmla="*/ 0 60000 65536"/>
                <a:gd name="T9" fmla="*/ 0 w 1332"/>
                <a:gd name="T10" fmla="*/ 0 h 156"/>
                <a:gd name="T11" fmla="*/ 1332 w 1332"/>
                <a:gd name="T12" fmla="*/ 156 h 156"/>
              </a:gdLst>
              <a:ahLst/>
              <a:cxnLst>
                <a:cxn ang="T6">
                  <a:pos x="T0" y="T1"/>
                </a:cxn>
                <a:cxn ang="T7">
                  <a:pos x="T2" y="T3"/>
                </a:cxn>
                <a:cxn ang="T8">
                  <a:pos x="T4" y="T5"/>
                </a:cxn>
              </a:cxnLst>
              <a:rect l="T9" t="T10" r="T11" b="T12"/>
              <a:pathLst>
                <a:path w="1332" h="156">
                  <a:moveTo>
                    <a:pt x="0" y="156"/>
                  </a:moveTo>
                  <a:lnTo>
                    <a:pt x="0" y="0"/>
                  </a:lnTo>
                  <a:lnTo>
                    <a:pt x="1332" y="1"/>
                  </a:lnTo>
                </a:path>
              </a:pathLst>
            </a:custGeom>
            <a:noFill/>
            <a:ln w="28575">
              <a:solidFill>
                <a:srgbClr val="333399"/>
              </a:solidFill>
              <a:round/>
              <a:headEnd/>
              <a:tailEnd/>
            </a:ln>
          </p:spPr>
          <p:txBody>
            <a:bodyPr wrap="none" anchor="ctr"/>
            <a:lstStyle/>
            <a:p>
              <a:endParaRPr lang="zh-CN" altLang="en-US"/>
            </a:p>
          </p:txBody>
        </p:sp>
        <p:sp>
          <p:nvSpPr>
            <p:cNvPr id="27" name="Freeform 27"/>
            <p:cNvSpPr>
              <a:spLocks/>
            </p:cNvSpPr>
            <p:nvPr/>
          </p:nvSpPr>
          <p:spPr bwMode="auto">
            <a:xfrm>
              <a:off x="2944" y="1679"/>
              <a:ext cx="3" cy="237"/>
            </a:xfrm>
            <a:custGeom>
              <a:avLst/>
              <a:gdLst>
                <a:gd name="T0" fmla="*/ 0 w 3"/>
                <a:gd name="T1" fmla="*/ 0 h 237"/>
                <a:gd name="T2" fmla="*/ 3 w 3"/>
                <a:gd name="T3" fmla="*/ 237 h 237"/>
                <a:gd name="T4" fmla="*/ 0 60000 65536"/>
                <a:gd name="T5" fmla="*/ 0 60000 65536"/>
                <a:gd name="T6" fmla="*/ 0 w 3"/>
                <a:gd name="T7" fmla="*/ 0 h 237"/>
                <a:gd name="T8" fmla="*/ 3 w 3"/>
                <a:gd name="T9" fmla="*/ 237 h 237"/>
              </a:gdLst>
              <a:ahLst/>
              <a:cxnLst>
                <a:cxn ang="T4">
                  <a:pos x="T0" y="T1"/>
                </a:cxn>
                <a:cxn ang="T5">
                  <a:pos x="T2" y="T3"/>
                </a:cxn>
              </a:cxnLst>
              <a:rect l="T6" t="T7" r="T8" b="T9"/>
              <a:pathLst>
                <a:path w="3" h="237">
                  <a:moveTo>
                    <a:pt x="0" y="0"/>
                  </a:moveTo>
                  <a:lnTo>
                    <a:pt x="3" y="237"/>
                  </a:lnTo>
                </a:path>
              </a:pathLst>
            </a:custGeom>
            <a:noFill/>
            <a:ln w="19050">
              <a:solidFill>
                <a:srgbClr val="FF0000"/>
              </a:solidFill>
              <a:round/>
              <a:headEnd/>
              <a:tailEnd type="triangle" w="sm" len="med"/>
            </a:ln>
          </p:spPr>
          <p:txBody>
            <a:bodyPr/>
            <a:lstStyle/>
            <a:p>
              <a:endParaRPr lang="zh-CN" altLang="en-US"/>
            </a:p>
          </p:txBody>
        </p:sp>
        <p:sp>
          <p:nvSpPr>
            <p:cNvPr id="28" name="Freeform 28"/>
            <p:cNvSpPr>
              <a:spLocks/>
            </p:cNvSpPr>
            <p:nvPr/>
          </p:nvSpPr>
          <p:spPr bwMode="auto">
            <a:xfrm>
              <a:off x="3040" y="1679"/>
              <a:ext cx="1" cy="576"/>
            </a:xfrm>
            <a:custGeom>
              <a:avLst/>
              <a:gdLst>
                <a:gd name="T0" fmla="*/ 0 w 1"/>
                <a:gd name="T1" fmla="*/ 0 h 576"/>
                <a:gd name="T2" fmla="*/ 0 w 1"/>
                <a:gd name="T3" fmla="*/ 576 h 576"/>
                <a:gd name="T4" fmla="*/ 0 60000 65536"/>
                <a:gd name="T5" fmla="*/ 0 60000 65536"/>
                <a:gd name="T6" fmla="*/ 0 w 1"/>
                <a:gd name="T7" fmla="*/ 0 h 576"/>
                <a:gd name="T8" fmla="*/ 1 w 1"/>
                <a:gd name="T9" fmla="*/ 576 h 576"/>
              </a:gdLst>
              <a:ahLst/>
              <a:cxnLst>
                <a:cxn ang="T4">
                  <a:pos x="T0" y="T1"/>
                </a:cxn>
                <a:cxn ang="T5">
                  <a:pos x="T2" y="T3"/>
                </a:cxn>
              </a:cxnLst>
              <a:rect l="T6" t="T7" r="T8" b="T9"/>
              <a:pathLst>
                <a:path w="1" h="576">
                  <a:moveTo>
                    <a:pt x="0" y="0"/>
                  </a:moveTo>
                  <a:lnTo>
                    <a:pt x="0" y="576"/>
                  </a:lnTo>
                </a:path>
              </a:pathLst>
            </a:custGeom>
            <a:noFill/>
            <a:ln w="28575">
              <a:solidFill>
                <a:srgbClr val="FF0000"/>
              </a:solidFill>
              <a:round/>
              <a:headEnd/>
              <a:tailEnd type="triangle" w="sm" len="med"/>
            </a:ln>
          </p:spPr>
          <p:txBody>
            <a:bodyPr/>
            <a:lstStyle/>
            <a:p>
              <a:endParaRPr lang="zh-CN" altLang="en-US"/>
            </a:p>
          </p:txBody>
        </p:sp>
        <p:sp>
          <p:nvSpPr>
            <p:cNvPr id="29" name="Freeform 29"/>
            <p:cNvSpPr>
              <a:spLocks/>
            </p:cNvSpPr>
            <p:nvPr/>
          </p:nvSpPr>
          <p:spPr bwMode="auto">
            <a:xfrm>
              <a:off x="3136" y="1679"/>
              <a:ext cx="8" cy="592"/>
            </a:xfrm>
            <a:custGeom>
              <a:avLst/>
              <a:gdLst>
                <a:gd name="T0" fmla="*/ 0 w 8"/>
                <a:gd name="T1" fmla="*/ 0 h 592"/>
                <a:gd name="T2" fmla="*/ 8 w 8"/>
                <a:gd name="T3" fmla="*/ 592 h 592"/>
                <a:gd name="T4" fmla="*/ 0 60000 65536"/>
                <a:gd name="T5" fmla="*/ 0 60000 65536"/>
                <a:gd name="T6" fmla="*/ 0 w 8"/>
                <a:gd name="T7" fmla="*/ 0 h 592"/>
                <a:gd name="T8" fmla="*/ 8 w 8"/>
                <a:gd name="T9" fmla="*/ 592 h 592"/>
              </a:gdLst>
              <a:ahLst/>
              <a:cxnLst>
                <a:cxn ang="T4">
                  <a:pos x="T0" y="T1"/>
                </a:cxn>
                <a:cxn ang="T5">
                  <a:pos x="T2" y="T3"/>
                </a:cxn>
              </a:cxnLst>
              <a:rect l="T6" t="T7" r="T8" b="T9"/>
              <a:pathLst>
                <a:path w="8" h="592">
                  <a:moveTo>
                    <a:pt x="0" y="0"/>
                  </a:moveTo>
                  <a:lnTo>
                    <a:pt x="8" y="592"/>
                  </a:lnTo>
                </a:path>
              </a:pathLst>
            </a:custGeom>
            <a:noFill/>
            <a:ln w="28575">
              <a:solidFill>
                <a:srgbClr val="FF0000"/>
              </a:solidFill>
              <a:round/>
              <a:headEnd/>
              <a:tailEnd type="triangle" w="sm" len="med"/>
            </a:ln>
          </p:spPr>
          <p:txBody>
            <a:bodyPr/>
            <a:lstStyle/>
            <a:p>
              <a:endParaRPr lang="zh-CN" altLang="en-US"/>
            </a:p>
          </p:txBody>
        </p:sp>
        <p:sp>
          <p:nvSpPr>
            <p:cNvPr id="30" name="Freeform 30"/>
            <p:cNvSpPr>
              <a:spLocks/>
            </p:cNvSpPr>
            <p:nvPr/>
          </p:nvSpPr>
          <p:spPr bwMode="auto">
            <a:xfrm>
              <a:off x="3224" y="1679"/>
              <a:ext cx="8" cy="992"/>
            </a:xfrm>
            <a:custGeom>
              <a:avLst/>
              <a:gdLst>
                <a:gd name="T0" fmla="*/ 0 w 8"/>
                <a:gd name="T1" fmla="*/ 0 h 992"/>
                <a:gd name="T2" fmla="*/ 8 w 8"/>
                <a:gd name="T3" fmla="*/ 992 h 992"/>
                <a:gd name="T4" fmla="*/ 0 60000 65536"/>
                <a:gd name="T5" fmla="*/ 0 60000 65536"/>
                <a:gd name="T6" fmla="*/ 0 w 8"/>
                <a:gd name="T7" fmla="*/ 0 h 992"/>
                <a:gd name="T8" fmla="*/ 8 w 8"/>
                <a:gd name="T9" fmla="*/ 992 h 992"/>
              </a:gdLst>
              <a:ahLst/>
              <a:cxnLst>
                <a:cxn ang="T4">
                  <a:pos x="T0" y="T1"/>
                </a:cxn>
                <a:cxn ang="T5">
                  <a:pos x="T2" y="T3"/>
                </a:cxn>
              </a:cxnLst>
              <a:rect l="T6" t="T7" r="T8" b="T9"/>
              <a:pathLst>
                <a:path w="8" h="992">
                  <a:moveTo>
                    <a:pt x="0" y="0"/>
                  </a:moveTo>
                  <a:lnTo>
                    <a:pt x="8" y="992"/>
                  </a:lnTo>
                </a:path>
              </a:pathLst>
            </a:custGeom>
            <a:noFill/>
            <a:ln w="28575">
              <a:solidFill>
                <a:srgbClr val="FF0000"/>
              </a:solidFill>
              <a:round/>
              <a:headEnd/>
              <a:tailEnd type="triangle" w="sm" len="med"/>
            </a:ln>
          </p:spPr>
          <p:txBody>
            <a:bodyPr/>
            <a:lstStyle/>
            <a:p>
              <a:endParaRPr lang="zh-CN" altLang="en-US"/>
            </a:p>
          </p:txBody>
        </p:sp>
        <p:sp>
          <p:nvSpPr>
            <p:cNvPr id="31" name="Freeform 31"/>
            <p:cNvSpPr>
              <a:spLocks/>
            </p:cNvSpPr>
            <p:nvPr/>
          </p:nvSpPr>
          <p:spPr bwMode="auto">
            <a:xfrm>
              <a:off x="3320" y="1679"/>
              <a:ext cx="1" cy="976"/>
            </a:xfrm>
            <a:custGeom>
              <a:avLst/>
              <a:gdLst>
                <a:gd name="T0" fmla="*/ 0 w 1"/>
                <a:gd name="T1" fmla="*/ 0 h 976"/>
                <a:gd name="T2" fmla="*/ 0 w 1"/>
                <a:gd name="T3" fmla="*/ 976 h 976"/>
                <a:gd name="T4" fmla="*/ 0 60000 65536"/>
                <a:gd name="T5" fmla="*/ 0 60000 65536"/>
                <a:gd name="T6" fmla="*/ 0 w 1"/>
                <a:gd name="T7" fmla="*/ 0 h 976"/>
                <a:gd name="T8" fmla="*/ 1 w 1"/>
                <a:gd name="T9" fmla="*/ 976 h 976"/>
              </a:gdLst>
              <a:ahLst/>
              <a:cxnLst>
                <a:cxn ang="T4">
                  <a:pos x="T0" y="T1"/>
                </a:cxn>
                <a:cxn ang="T5">
                  <a:pos x="T2" y="T3"/>
                </a:cxn>
              </a:cxnLst>
              <a:rect l="T6" t="T7" r="T8" b="T9"/>
              <a:pathLst>
                <a:path w="1" h="976">
                  <a:moveTo>
                    <a:pt x="0" y="0"/>
                  </a:moveTo>
                  <a:lnTo>
                    <a:pt x="0" y="976"/>
                  </a:lnTo>
                </a:path>
              </a:pathLst>
            </a:custGeom>
            <a:noFill/>
            <a:ln w="28575">
              <a:solidFill>
                <a:srgbClr val="FF0000"/>
              </a:solidFill>
              <a:round/>
              <a:headEnd/>
              <a:tailEnd type="triangle" w="sm" len="med"/>
            </a:ln>
          </p:spPr>
          <p:txBody>
            <a:bodyPr/>
            <a:lstStyle/>
            <a:p>
              <a:endParaRPr lang="zh-CN" altLang="en-US"/>
            </a:p>
          </p:txBody>
        </p:sp>
        <p:sp>
          <p:nvSpPr>
            <p:cNvPr id="32" name="Line 32"/>
            <p:cNvSpPr>
              <a:spLocks noChangeShapeType="1"/>
            </p:cNvSpPr>
            <p:nvPr/>
          </p:nvSpPr>
          <p:spPr bwMode="auto">
            <a:xfrm>
              <a:off x="3416" y="1679"/>
              <a:ext cx="8" cy="1342"/>
            </a:xfrm>
            <a:prstGeom prst="line">
              <a:avLst/>
            </a:prstGeom>
            <a:noFill/>
            <a:ln w="28575">
              <a:solidFill>
                <a:srgbClr val="FF0000"/>
              </a:solidFill>
              <a:round/>
              <a:headEnd/>
              <a:tailEnd type="triangle" w="sm" len="med"/>
            </a:ln>
          </p:spPr>
          <p:txBody>
            <a:bodyPr/>
            <a:lstStyle/>
            <a:p>
              <a:endParaRPr lang="zh-CN" altLang="en-US"/>
            </a:p>
          </p:txBody>
        </p:sp>
        <p:sp>
          <p:nvSpPr>
            <p:cNvPr id="33" name="Line 33"/>
            <p:cNvSpPr>
              <a:spLocks noChangeShapeType="1"/>
            </p:cNvSpPr>
            <p:nvPr/>
          </p:nvSpPr>
          <p:spPr bwMode="auto">
            <a:xfrm>
              <a:off x="3512" y="1679"/>
              <a:ext cx="3" cy="1343"/>
            </a:xfrm>
            <a:prstGeom prst="line">
              <a:avLst/>
            </a:prstGeom>
            <a:noFill/>
            <a:ln w="28575">
              <a:solidFill>
                <a:srgbClr val="FF0000"/>
              </a:solidFill>
              <a:round/>
              <a:headEnd/>
              <a:tailEnd type="triangle" w="sm" len="med"/>
            </a:ln>
          </p:spPr>
          <p:txBody>
            <a:bodyPr/>
            <a:lstStyle/>
            <a:p>
              <a:endParaRPr lang="zh-CN" altLang="en-US"/>
            </a:p>
          </p:txBody>
        </p:sp>
        <p:sp>
          <p:nvSpPr>
            <p:cNvPr id="34" name="Line 34"/>
            <p:cNvSpPr>
              <a:spLocks noChangeShapeType="1"/>
            </p:cNvSpPr>
            <p:nvPr/>
          </p:nvSpPr>
          <p:spPr bwMode="auto">
            <a:xfrm flipH="1">
              <a:off x="3606" y="1679"/>
              <a:ext cx="2" cy="1734"/>
            </a:xfrm>
            <a:prstGeom prst="line">
              <a:avLst/>
            </a:prstGeom>
            <a:noFill/>
            <a:ln w="28575">
              <a:solidFill>
                <a:srgbClr val="FF0000"/>
              </a:solidFill>
              <a:round/>
              <a:headEnd/>
              <a:tailEnd type="triangle" w="sm" len="med"/>
            </a:ln>
          </p:spPr>
          <p:txBody>
            <a:bodyPr/>
            <a:lstStyle/>
            <a:p>
              <a:endParaRPr lang="zh-CN" altLang="en-US"/>
            </a:p>
          </p:txBody>
        </p:sp>
        <p:sp>
          <p:nvSpPr>
            <p:cNvPr id="35" name="Line 35"/>
            <p:cNvSpPr>
              <a:spLocks noChangeShapeType="1"/>
            </p:cNvSpPr>
            <p:nvPr/>
          </p:nvSpPr>
          <p:spPr bwMode="auto">
            <a:xfrm flipH="1">
              <a:off x="3696" y="1679"/>
              <a:ext cx="8" cy="2114"/>
            </a:xfrm>
            <a:prstGeom prst="line">
              <a:avLst/>
            </a:prstGeom>
            <a:noFill/>
            <a:ln w="28575">
              <a:solidFill>
                <a:srgbClr val="FF0000"/>
              </a:solidFill>
              <a:round/>
              <a:headEnd/>
              <a:tailEnd type="triangle" w="sm" len="med"/>
            </a:ln>
          </p:spPr>
          <p:txBody>
            <a:bodyPr/>
            <a:lstStyle/>
            <a:p>
              <a:endParaRPr lang="zh-CN" altLang="en-US"/>
            </a:p>
          </p:txBody>
        </p:sp>
        <p:sp>
          <p:nvSpPr>
            <p:cNvPr id="36" name="Line 36"/>
            <p:cNvSpPr>
              <a:spLocks noChangeShapeType="1"/>
            </p:cNvSpPr>
            <p:nvPr/>
          </p:nvSpPr>
          <p:spPr bwMode="auto">
            <a:xfrm flipV="1">
              <a:off x="3123" y="3816"/>
              <a:ext cx="549" cy="6"/>
            </a:xfrm>
            <a:prstGeom prst="line">
              <a:avLst/>
            </a:prstGeom>
            <a:noFill/>
            <a:ln w="28575">
              <a:solidFill>
                <a:srgbClr val="333399"/>
              </a:solidFill>
              <a:round/>
              <a:headEnd/>
              <a:tailEnd/>
            </a:ln>
          </p:spPr>
          <p:txBody>
            <a:bodyPr/>
            <a:lstStyle/>
            <a:p>
              <a:endParaRPr lang="zh-CN" altLang="en-US"/>
            </a:p>
          </p:txBody>
        </p:sp>
        <p:sp>
          <p:nvSpPr>
            <p:cNvPr id="37" name="Line 37"/>
            <p:cNvSpPr>
              <a:spLocks noChangeShapeType="1"/>
            </p:cNvSpPr>
            <p:nvPr/>
          </p:nvSpPr>
          <p:spPr bwMode="auto">
            <a:xfrm flipV="1">
              <a:off x="3016" y="3430"/>
              <a:ext cx="544" cy="0"/>
            </a:xfrm>
            <a:prstGeom prst="line">
              <a:avLst/>
            </a:prstGeom>
            <a:noFill/>
            <a:ln w="28575">
              <a:solidFill>
                <a:srgbClr val="333399"/>
              </a:solidFill>
              <a:round/>
              <a:headEnd/>
              <a:tailEnd/>
            </a:ln>
          </p:spPr>
          <p:txBody>
            <a:bodyPr/>
            <a:lstStyle/>
            <a:p>
              <a:endParaRPr lang="zh-CN" altLang="en-US"/>
            </a:p>
          </p:txBody>
        </p:sp>
        <p:sp>
          <p:nvSpPr>
            <p:cNvPr id="38" name="Line 38"/>
            <p:cNvSpPr>
              <a:spLocks noChangeShapeType="1"/>
            </p:cNvSpPr>
            <p:nvPr/>
          </p:nvSpPr>
          <p:spPr bwMode="auto">
            <a:xfrm>
              <a:off x="2835" y="3038"/>
              <a:ext cx="531" cy="0"/>
            </a:xfrm>
            <a:prstGeom prst="line">
              <a:avLst/>
            </a:prstGeom>
            <a:noFill/>
            <a:ln w="28575">
              <a:solidFill>
                <a:srgbClr val="333399"/>
              </a:solidFill>
              <a:round/>
              <a:headEnd/>
              <a:tailEnd/>
            </a:ln>
          </p:spPr>
          <p:txBody>
            <a:bodyPr/>
            <a:lstStyle/>
            <a:p>
              <a:endParaRPr lang="zh-CN" altLang="en-US"/>
            </a:p>
          </p:txBody>
        </p:sp>
        <p:sp>
          <p:nvSpPr>
            <p:cNvPr id="39" name="Line 39"/>
            <p:cNvSpPr>
              <a:spLocks noChangeShapeType="1"/>
            </p:cNvSpPr>
            <p:nvPr/>
          </p:nvSpPr>
          <p:spPr bwMode="auto">
            <a:xfrm>
              <a:off x="2653" y="2659"/>
              <a:ext cx="545" cy="0"/>
            </a:xfrm>
            <a:prstGeom prst="line">
              <a:avLst/>
            </a:prstGeom>
            <a:noFill/>
            <a:ln w="28575">
              <a:solidFill>
                <a:srgbClr val="333399"/>
              </a:solidFill>
              <a:round/>
              <a:headEnd/>
              <a:tailEnd/>
            </a:ln>
          </p:spPr>
          <p:txBody>
            <a:bodyPr/>
            <a:lstStyle/>
            <a:p>
              <a:endParaRPr lang="zh-CN" altLang="en-US"/>
            </a:p>
          </p:txBody>
        </p:sp>
        <p:sp>
          <p:nvSpPr>
            <p:cNvPr id="40" name="Line 40"/>
            <p:cNvSpPr>
              <a:spLocks noChangeShapeType="1"/>
            </p:cNvSpPr>
            <p:nvPr/>
          </p:nvSpPr>
          <p:spPr bwMode="auto">
            <a:xfrm>
              <a:off x="2423" y="2272"/>
              <a:ext cx="574" cy="0"/>
            </a:xfrm>
            <a:prstGeom prst="line">
              <a:avLst/>
            </a:prstGeom>
            <a:noFill/>
            <a:ln w="28575">
              <a:solidFill>
                <a:srgbClr val="333399"/>
              </a:solidFill>
              <a:round/>
              <a:headEnd/>
              <a:tailEnd/>
            </a:ln>
          </p:spPr>
          <p:txBody>
            <a:bodyPr/>
            <a:lstStyle/>
            <a:p>
              <a:endParaRPr lang="zh-CN" altLang="en-US"/>
            </a:p>
          </p:txBody>
        </p:sp>
        <p:sp>
          <p:nvSpPr>
            <p:cNvPr id="41" name="Line 41"/>
            <p:cNvSpPr>
              <a:spLocks noChangeShapeType="1"/>
            </p:cNvSpPr>
            <p:nvPr/>
          </p:nvSpPr>
          <p:spPr bwMode="auto">
            <a:xfrm>
              <a:off x="2336" y="1888"/>
              <a:ext cx="544" cy="0"/>
            </a:xfrm>
            <a:prstGeom prst="line">
              <a:avLst/>
            </a:prstGeom>
            <a:noFill/>
            <a:ln w="28575">
              <a:solidFill>
                <a:srgbClr val="333399"/>
              </a:solidFill>
              <a:round/>
              <a:headEnd/>
              <a:tailEnd/>
            </a:ln>
          </p:spPr>
          <p:txBody>
            <a:bodyPr/>
            <a:lstStyle/>
            <a:p>
              <a:endParaRPr lang="zh-CN" altLang="en-US"/>
            </a:p>
          </p:txBody>
        </p:sp>
        <p:sp>
          <p:nvSpPr>
            <p:cNvPr id="42" name="Line 42"/>
            <p:cNvSpPr>
              <a:spLocks noChangeShapeType="1"/>
            </p:cNvSpPr>
            <p:nvPr/>
          </p:nvSpPr>
          <p:spPr bwMode="auto">
            <a:xfrm>
              <a:off x="3244" y="4004"/>
              <a:ext cx="862" cy="0"/>
            </a:xfrm>
            <a:prstGeom prst="line">
              <a:avLst/>
            </a:prstGeom>
            <a:noFill/>
            <a:ln w="76200">
              <a:solidFill>
                <a:srgbClr val="00FF00"/>
              </a:solidFill>
              <a:round/>
              <a:headEnd/>
              <a:tailEnd/>
            </a:ln>
          </p:spPr>
          <p:txBody>
            <a:bodyPr/>
            <a:lstStyle/>
            <a:p>
              <a:endParaRPr lang="zh-CN" altLang="en-US"/>
            </a:p>
          </p:txBody>
        </p:sp>
        <p:sp>
          <p:nvSpPr>
            <p:cNvPr id="43" name="Line 43"/>
            <p:cNvSpPr>
              <a:spLocks noChangeShapeType="1"/>
            </p:cNvSpPr>
            <p:nvPr/>
          </p:nvSpPr>
          <p:spPr bwMode="auto">
            <a:xfrm>
              <a:off x="3833" y="1706"/>
              <a:ext cx="363" cy="0"/>
            </a:xfrm>
            <a:prstGeom prst="line">
              <a:avLst/>
            </a:prstGeom>
            <a:noFill/>
            <a:ln w="76200">
              <a:solidFill>
                <a:srgbClr val="00FF00"/>
              </a:solidFill>
              <a:round/>
              <a:headEnd/>
              <a:tailEnd/>
            </a:ln>
          </p:spPr>
          <p:txBody>
            <a:bodyPr/>
            <a:lstStyle/>
            <a:p>
              <a:endParaRPr lang="zh-CN" altLang="en-US"/>
            </a:p>
          </p:txBody>
        </p:sp>
        <p:sp>
          <p:nvSpPr>
            <p:cNvPr id="44" name="Line 44"/>
            <p:cNvSpPr>
              <a:spLocks noChangeShapeType="1"/>
            </p:cNvSpPr>
            <p:nvPr/>
          </p:nvSpPr>
          <p:spPr bwMode="auto">
            <a:xfrm>
              <a:off x="1294" y="1706"/>
              <a:ext cx="181" cy="0"/>
            </a:xfrm>
            <a:prstGeom prst="line">
              <a:avLst/>
            </a:prstGeom>
            <a:noFill/>
            <a:ln w="76200">
              <a:solidFill>
                <a:srgbClr val="00FF00"/>
              </a:solidFill>
              <a:round/>
              <a:headEnd/>
              <a:tailEnd/>
            </a:ln>
          </p:spPr>
          <p:txBody>
            <a:bodyPr/>
            <a:lstStyle/>
            <a:p>
              <a:endParaRPr lang="zh-CN" altLang="en-US"/>
            </a:p>
          </p:txBody>
        </p:sp>
      </p:grpSp>
      <p:sp>
        <p:nvSpPr>
          <p:cNvPr id="45"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846905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p:txBody>
          <a:bodyPr/>
          <a:lstStyle/>
          <a:p>
            <a:r>
              <a:rPr kumimoji="1" lang="zh-CN" altLang="en-US" dirty="0"/>
              <a:t>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循环冗余校验</a:t>
            </a:r>
            <a:r>
              <a:rPr kumimoji="1" lang="en-US" altLang="zh-CN" sz="3200" dirty="0">
                <a:solidFill>
                  <a:schemeClr val="accent1">
                    <a:lumMod val="75000"/>
                  </a:schemeClr>
                </a:solidFill>
              </a:rPr>
              <a:t>CRC</a:t>
            </a:r>
            <a:endParaRPr kumimoji="0" lang="zh-CN" altLang="en-US" sz="3200" dirty="0">
              <a:solidFill>
                <a:schemeClr val="accent1">
                  <a:lumMod val="75000"/>
                </a:schemeClr>
              </a:solidFill>
              <a:latin typeface="宋体" panose="02010600030101010101" pitchFamily="2" charset="-122"/>
            </a:endParaRPr>
          </a:p>
        </p:txBody>
      </p:sp>
      <p:sp>
        <p:nvSpPr>
          <p:cNvPr id="61442" name="Rectangle 3"/>
          <p:cNvSpPr>
            <a:spLocks noGrp="1" noChangeArrowheads="1"/>
          </p:cNvSpPr>
          <p:nvPr>
            <p:ph type="body" idx="1"/>
          </p:nvPr>
        </p:nvSpPr>
        <p:spPr/>
        <p:txBody>
          <a:bodyPr/>
          <a:lstStyle/>
          <a:p>
            <a:pPr eaLnBrk="1" hangingPunct="1">
              <a:lnSpc>
                <a:spcPts val="4100"/>
              </a:lnSpc>
            </a:pPr>
            <a:r>
              <a:rPr lang="zh-CN" altLang="en-US" dirty="0"/>
              <a:t>四个国际标准生成多项式</a:t>
            </a:r>
          </a:p>
          <a:p>
            <a:pPr lvl="1" eaLnBrk="1" hangingPunct="1">
              <a:lnSpc>
                <a:spcPts val="4100"/>
              </a:lnSpc>
            </a:pPr>
            <a:r>
              <a:rPr lang="en-US" altLang="zh-CN" dirty="0"/>
              <a:t>CRC-12 = x</a:t>
            </a:r>
            <a:r>
              <a:rPr lang="en-US" altLang="zh-CN" baseline="30000" dirty="0"/>
              <a:t>12</a:t>
            </a:r>
            <a:r>
              <a:rPr lang="en-US" altLang="zh-CN" dirty="0"/>
              <a:t>+x</a:t>
            </a:r>
            <a:r>
              <a:rPr lang="en-US" altLang="zh-CN" baseline="30000" dirty="0"/>
              <a:t>11</a:t>
            </a:r>
            <a:r>
              <a:rPr lang="en-US" altLang="zh-CN" dirty="0"/>
              <a:t>+x</a:t>
            </a:r>
            <a:r>
              <a:rPr lang="en-US" altLang="zh-CN" baseline="30000" dirty="0"/>
              <a:t>3</a:t>
            </a:r>
            <a:r>
              <a:rPr lang="en-US" altLang="zh-CN" dirty="0"/>
              <a:t>+x</a:t>
            </a:r>
            <a:r>
              <a:rPr lang="en-US" altLang="zh-CN" baseline="30000" dirty="0"/>
              <a:t>2</a:t>
            </a:r>
            <a:r>
              <a:rPr lang="en-US" altLang="zh-CN" dirty="0"/>
              <a:t>+x+1</a:t>
            </a:r>
          </a:p>
          <a:p>
            <a:pPr lvl="1" eaLnBrk="1" hangingPunct="1">
              <a:lnSpc>
                <a:spcPts val="4100"/>
              </a:lnSpc>
            </a:pPr>
            <a:r>
              <a:rPr lang="en-US" altLang="zh-CN" dirty="0"/>
              <a:t>CRC-16 = x</a:t>
            </a:r>
            <a:r>
              <a:rPr lang="en-US" altLang="zh-CN" baseline="30000" dirty="0"/>
              <a:t>16</a:t>
            </a:r>
            <a:r>
              <a:rPr lang="en-US" altLang="zh-CN" dirty="0"/>
              <a:t>+x</a:t>
            </a:r>
            <a:r>
              <a:rPr lang="en-US" altLang="zh-CN" baseline="30000" dirty="0"/>
              <a:t>15</a:t>
            </a:r>
            <a:r>
              <a:rPr lang="en-US" altLang="zh-CN" dirty="0"/>
              <a:t>+x</a:t>
            </a:r>
            <a:r>
              <a:rPr lang="en-US" altLang="zh-CN" baseline="30000" dirty="0"/>
              <a:t>2</a:t>
            </a:r>
            <a:r>
              <a:rPr lang="en-US" altLang="zh-CN" dirty="0"/>
              <a:t>+1</a:t>
            </a:r>
          </a:p>
          <a:p>
            <a:pPr lvl="1" eaLnBrk="1" hangingPunct="1">
              <a:lnSpc>
                <a:spcPts val="4100"/>
              </a:lnSpc>
            </a:pPr>
            <a:r>
              <a:rPr lang="en-US" altLang="zh-CN" dirty="0"/>
              <a:t>CRC-CCITT = x</a:t>
            </a:r>
            <a:r>
              <a:rPr lang="en-US" altLang="zh-CN" baseline="30000" dirty="0"/>
              <a:t>16</a:t>
            </a:r>
            <a:r>
              <a:rPr lang="en-US" altLang="zh-CN" dirty="0"/>
              <a:t>+x</a:t>
            </a:r>
            <a:r>
              <a:rPr lang="en-US" altLang="zh-CN" baseline="30000" dirty="0"/>
              <a:t>12</a:t>
            </a:r>
            <a:r>
              <a:rPr lang="en-US" altLang="zh-CN" dirty="0"/>
              <a:t>+x</a:t>
            </a:r>
            <a:r>
              <a:rPr lang="en-US" altLang="zh-CN" baseline="30000" dirty="0"/>
              <a:t>5</a:t>
            </a:r>
            <a:r>
              <a:rPr lang="en-US" altLang="zh-CN" dirty="0"/>
              <a:t>+1</a:t>
            </a:r>
          </a:p>
          <a:p>
            <a:pPr lvl="1" eaLnBrk="1" hangingPunct="1">
              <a:lnSpc>
                <a:spcPts val="4100"/>
              </a:lnSpc>
            </a:pPr>
            <a:r>
              <a:rPr lang="en-US" altLang="zh-CN" dirty="0"/>
              <a:t>CRC-32 = x</a:t>
            </a:r>
            <a:r>
              <a:rPr lang="en-US" altLang="zh-CN" baseline="30000" dirty="0"/>
              <a:t>32</a:t>
            </a:r>
            <a:r>
              <a:rPr lang="en-US" altLang="zh-CN" dirty="0"/>
              <a:t>+x</a:t>
            </a:r>
            <a:r>
              <a:rPr lang="en-US" altLang="zh-CN" baseline="30000" dirty="0"/>
              <a:t>26</a:t>
            </a:r>
            <a:r>
              <a:rPr lang="en-US" altLang="zh-CN" dirty="0"/>
              <a:t>+x</a:t>
            </a:r>
            <a:r>
              <a:rPr lang="en-US" altLang="zh-CN" baseline="30000" dirty="0"/>
              <a:t>23</a:t>
            </a:r>
            <a:r>
              <a:rPr lang="en-US" altLang="zh-CN" dirty="0"/>
              <a:t>+x</a:t>
            </a:r>
            <a:r>
              <a:rPr lang="en-US" altLang="zh-CN" baseline="30000" dirty="0"/>
              <a:t>22</a:t>
            </a:r>
            <a:r>
              <a:rPr lang="en-US" altLang="zh-CN" dirty="0"/>
              <a:t>+x</a:t>
            </a:r>
            <a:r>
              <a:rPr lang="en-US" altLang="zh-CN" baseline="30000" dirty="0"/>
              <a:t>16</a:t>
            </a:r>
            <a:r>
              <a:rPr lang="en-US" altLang="zh-CN" dirty="0"/>
              <a:t>+x</a:t>
            </a:r>
            <a:r>
              <a:rPr lang="en-US" altLang="zh-CN" baseline="30000" dirty="0"/>
              <a:t>12</a:t>
            </a:r>
            <a:r>
              <a:rPr lang="en-US" altLang="zh-CN" dirty="0"/>
              <a:t>+x</a:t>
            </a:r>
            <a:r>
              <a:rPr lang="en-US" altLang="zh-CN" baseline="30000" dirty="0"/>
              <a:t>11</a:t>
            </a:r>
            <a:r>
              <a:rPr lang="en-US" altLang="zh-CN" dirty="0"/>
              <a:t>+x</a:t>
            </a:r>
            <a:r>
              <a:rPr lang="en-US" altLang="zh-CN" baseline="30000" dirty="0"/>
              <a:t>10</a:t>
            </a:r>
            <a:r>
              <a:rPr lang="en-US" altLang="zh-CN" dirty="0"/>
              <a:t>+x</a:t>
            </a:r>
            <a:r>
              <a:rPr lang="en-US" altLang="zh-CN" baseline="30000" dirty="0"/>
              <a:t>8</a:t>
            </a:r>
            <a:r>
              <a:rPr lang="en-US" altLang="zh-CN" dirty="0"/>
              <a:t>+x</a:t>
            </a:r>
            <a:r>
              <a:rPr lang="en-US" altLang="zh-CN" baseline="30000" dirty="0"/>
              <a:t>7</a:t>
            </a:r>
            <a:r>
              <a:rPr lang="en-US" altLang="zh-CN" dirty="0"/>
              <a:t>+x</a:t>
            </a:r>
            <a:r>
              <a:rPr lang="en-US" altLang="zh-CN" baseline="30000" dirty="0"/>
              <a:t>5</a:t>
            </a:r>
            <a:r>
              <a:rPr lang="en-US" altLang="zh-CN" dirty="0"/>
              <a:t>+x</a:t>
            </a:r>
            <a:r>
              <a:rPr lang="en-US" altLang="zh-CN" baseline="30000" dirty="0"/>
              <a:t>4</a:t>
            </a:r>
            <a:r>
              <a:rPr lang="en-US" altLang="zh-CN" dirty="0"/>
              <a:t>+x</a:t>
            </a:r>
            <a:r>
              <a:rPr lang="en-US" altLang="zh-CN" baseline="30000" dirty="0"/>
              <a:t>2</a:t>
            </a:r>
            <a:r>
              <a:rPr lang="en-US" altLang="zh-CN" dirty="0"/>
              <a:t>+x+1</a:t>
            </a:r>
          </a:p>
        </p:txBody>
      </p:sp>
      <p:sp>
        <p:nvSpPr>
          <p:cNvPr id="4" name="矩形 3">
            <a:extLst>
              <a:ext uri="{FF2B5EF4-FFF2-40B4-BE49-F238E27FC236}">
                <a16:creationId xmlns:a16="http://schemas.microsoft.com/office/drawing/2014/main" id="{FF4BBAB8-7444-4237-ADD3-A0704706DF79}"/>
              </a:ext>
            </a:extLst>
          </p:cNvPr>
          <p:cNvSpPr/>
          <p:nvPr/>
        </p:nvSpPr>
        <p:spPr>
          <a:xfrm>
            <a:off x="1418390" y="5057679"/>
            <a:ext cx="7467822" cy="454099"/>
          </a:xfrm>
          <a:prstGeom prst="rect">
            <a:avLst/>
          </a:prstGeom>
          <a:ln>
            <a:solidFill>
              <a:srgbClr val="00B0F0"/>
            </a:solidFill>
          </a:ln>
        </p:spPr>
        <p:txBody>
          <a:bodyPr wrap="square">
            <a:spAutoFit/>
          </a:bodyPr>
          <a:lstStyle/>
          <a:p>
            <a:pPr marL="0" lvl="1" algn="ctr">
              <a:lnSpc>
                <a:spcPts val="3000"/>
              </a:lnSpc>
              <a:spcBef>
                <a:spcPts val="600"/>
              </a:spcBef>
              <a:buClr>
                <a:srgbClr val="C00000"/>
              </a:buClr>
              <a:buSzPct val="100000"/>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例如，以太网、无线局域网使用</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CRC-32</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生成多项式</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
        <p:nvSpPr>
          <p:cNvPr id="6" name="文本框 5">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36450372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endParaRPr kumimoji="1" lang="zh-CN" altLang="en-US" sz="3200" dirty="0"/>
          </a:p>
        </p:txBody>
      </p:sp>
      <p:sp>
        <p:nvSpPr>
          <p:cNvPr id="3" name="内容占位符 2"/>
          <p:cNvSpPr>
            <a:spLocks noGrp="1"/>
          </p:cNvSpPr>
          <p:nvPr>
            <p:ph idx="1"/>
          </p:nvPr>
        </p:nvSpPr>
        <p:spPr>
          <a:xfrm>
            <a:off x="838200" y="1384300"/>
            <a:ext cx="10617200" cy="4419600"/>
          </a:xfrm>
        </p:spPr>
        <p:txBody>
          <a:bodyPr>
            <a:noAutofit/>
          </a:bodyPr>
          <a:lstStyle/>
          <a:p>
            <a:pPr>
              <a:lnSpc>
                <a:spcPts val="3600"/>
              </a:lnSpc>
            </a:pPr>
            <a:r>
              <a:rPr lang="zh-CN" altLang="en-US" dirty="0"/>
              <a:t>设计纠错码</a:t>
            </a:r>
          </a:p>
          <a:p>
            <a:pPr lvl="1">
              <a:lnSpc>
                <a:spcPts val="3600"/>
              </a:lnSpc>
            </a:pPr>
            <a:r>
              <a:rPr lang="zh-CN" altLang="en-US" dirty="0"/>
              <a:t>要求：</a:t>
            </a:r>
            <a:r>
              <a:rPr lang="en-US" altLang="zh-CN" dirty="0"/>
              <a:t>m</a:t>
            </a:r>
            <a:r>
              <a:rPr lang="zh-CN" altLang="zh-CN" dirty="0"/>
              <a:t>个信息位，</a:t>
            </a:r>
            <a:r>
              <a:rPr lang="en-US" altLang="zh-CN" dirty="0"/>
              <a:t>r</a:t>
            </a:r>
            <a:r>
              <a:rPr lang="zh-CN" altLang="zh-CN" dirty="0"/>
              <a:t>个校验位，纠正单比特错</a:t>
            </a:r>
            <a:endParaRPr lang="zh-CN" altLang="en-US" dirty="0"/>
          </a:p>
          <a:p>
            <a:pPr lvl="1">
              <a:lnSpc>
                <a:spcPts val="3600"/>
              </a:lnSpc>
            </a:pPr>
            <a:r>
              <a:rPr lang="zh-CN" altLang="zh-CN" dirty="0"/>
              <a:t>对2</a:t>
            </a:r>
            <a:r>
              <a:rPr lang="en-US" altLang="zh-CN" baseline="30000" dirty="0"/>
              <a:t>m</a:t>
            </a:r>
            <a:r>
              <a:rPr lang="zh-CN" altLang="zh-CN" dirty="0"/>
              <a:t>个有效信息中任何一个，有</a:t>
            </a:r>
            <a:r>
              <a:rPr lang="en-US" altLang="zh-CN" dirty="0"/>
              <a:t>n</a:t>
            </a:r>
            <a:r>
              <a:rPr lang="zh-CN" altLang="zh-CN" dirty="0"/>
              <a:t>个与其距离为1的无效码字</a:t>
            </a:r>
            <a:r>
              <a:rPr lang="zh-CN" altLang="en-US" dirty="0"/>
              <a:t>：</a:t>
            </a:r>
            <a:endParaRPr lang="en-US" altLang="zh-CN" dirty="0"/>
          </a:p>
          <a:p>
            <a:pPr lvl="2" indent="-336550">
              <a:lnSpc>
                <a:spcPts val="3600"/>
              </a:lnSpc>
              <a:buFont typeface="微软雅黑" panose="020B0503020204020204" pitchFamily="34" charset="-122"/>
              <a:buChar char="−"/>
            </a:pPr>
            <a:r>
              <a:rPr lang="zh-CN" altLang="en-US" dirty="0"/>
              <a:t>可以考虑将该信息对应的合法码字的</a:t>
            </a:r>
            <a:r>
              <a:rPr lang="en-US" altLang="zh-CN" dirty="0"/>
              <a:t>n</a:t>
            </a:r>
            <a:r>
              <a:rPr lang="zh-CN" altLang="en-US" dirty="0"/>
              <a:t>位逐个取反，得到</a:t>
            </a:r>
            <a:r>
              <a:rPr lang="en-US" altLang="zh-CN" dirty="0"/>
              <a:t>n</a:t>
            </a:r>
            <a:r>
              <a:rPr lang="zh-CN" altLang="en-US" dirty="0"/>
              <a:t>个距离为</a:t>
            </a:r>
            <a:r>
              <a:rPr lang="en-US" altLang="zh-CN" dirty="0"/>
              <a:t>1</a:t>
            </a:r>
            <a:r>
              <a:rPr lang="zh-CN" altLang="en-US" dirty="0"/>
              <a:t>的非法码字，需要</a:t>
            </a:r>
            <a:r>
              <a:rPr lang="en-US" altLang="zh-CN" dirty="0"/>
              <a:t>n+1</a:t>
            </a:r>
            <a:r>
              <a:rPr lang="zh-CN" altLang="en-US" dirty="0"/>
              <a:t>个位模式来标识</a:t>
            </a:r>
            <a:endParaRPr lang="en-US" altLang="zh-CN" dirty="0"/>
          </a:p>
          <a:p>
            <a:pPr marL="692150" lvl="1" indent="-342900">
              <a:lnSpc>
                <a:spcPts val="3600"/>
              </a:lnSpc>
            </a:pPr>
            <a:r>
              <a:rPr lang="zh-CN" altLang="zh-CN" dirty="0"/>
              <a:t>因此有</a:t>
            </a:r>
            <a:r>
              <a:rPr lang="zh-CN" altLang="en-US" dirty="0"/>
              <a:t>：</a:t>
            </a:r>
            <a:r>
              <a:rPr lang="en-US" altLang="zh-CN" dirty="0"/>
              <a:t>(n + 1) 2</a:t>
            </a:r>
            <a:r>
              <a:rPr lang="en-US" altLang="zh-CN" baseline="30000" dirty="0"/>
              <a:t>m</a:t>
            </a:r>
            <a:r>
              <a:rPr lang="en-US" altLang="zh-CN" dirty="0"/>
              <a:t> </a:t>
            </a:r>
            <a:r>
              <a:rPr lang="en-US" altLang="zh-CN" dirty="0">
                <a:sym typeface="Symbol" panose="05050102010706020507" pitchFamily="18" charset="2"/>
              </a:rPr>
              <a:t> 2</a:t>
            </a:r>
            <a:r>
              <a:rPr lang="en-US" altLang="zh-CN" baseline="30000" dirty="0">
                <a:sym typeface="Symbol" panose="05050102010706020507" pitchFamily="18" charset="2"/>
              </a:rPr>
              <a:t>n</a:t>
            </a:r>
          </a:p>
          <a:p>
            <a:pPr marL="692150" lvl="1" indent="-342900">
              <a:lnSpc>
                <a:spcPts val="3600"/>
              </a:lnSpc>
            </a:pPr>
            <a:r>
              <a:rPr lang="zh-CN" altLang="en-US" dirty="0">
                <a:sym typeface="Symbol" panose="05050102010706020507" pitchFamily="18" charset="2"/>
              </a:rPr>
              <a:t>利用 </a:t>
            </a:r>
            <a:r>
              <a:rPr lang="en-US" altLang="zh-CN" dirty="0">
                <a:sym typeface="Symbol" panose="05050102010706020507" pitchFamily="18" charset="2"/>
              </a:rPr>
              <a:t>n = m + r</a:t>
            </a:r>
            <a:r>
              <a:rPr lang="zh-CN" altLang="en-US" dirty="0">
                <a:sym typeface="Symbol" panose="05050102010706020507" pitchFamily="18" charset="2"/>
              </a:rPr>
              <a:t>，得到 </a:t>
            </a:r>
            <a:r>
              <a:rPr lang="en-US" altLang="zh-CN" dirty="0">
                <a:sym typeface="Symbol" panose="05050102010706020507" pitchFamily="18" charset="2"/>
              </a:rPr>
              <a:t>(m + r + 1)  2</a:t>
            </a:r>
            <a:r>
              <a:rPr lang="en-US" altLang="zh-CN" baseline="30000" dirty="0">
                <a:sym typeface="Symbol" panose="05050102010706020507" pitchFamily="18" charset="2"/>
              </a:rPr>
              <a:t>r</a:t>
            </a:r>
            <a:endParaRPr lang="en-US" altLang="zh-CN" dirty="0">
              <a:sym typeface="Symbol" panose="05050102010706020507" pitchFamily="18" charset="2"/>
            </a:endParaRPr>
          </a:p>
          <a:p>
            <a:pPr marL="692150" lvl="1" indent="-342900">
              <a:lnSpc>
                <a:spcPts val="3600"/>
              </a:lnSpc>
            </a:pPr>
            <a:r>
              <a:rPr lang="zh-CN" altLang="en-US" dirty="0">
                <a:sym typeface="Symbol" panose="05050102010706020507" pitchFamily="18" charset="2"/>
              </a:rPr>
              <a:t>在给定</a:t>
            </a:r>
            <a:r>
              <a:rPr lang="en-US" altLang="zh-CN" dirty="0">
                <a:sym typeface="Symbol" panose="05050102010706020507" pitchFamily="18" charset="2"/>
              </a:rPr>
              <a:t>m</a:t>
            </a:r>
            <a:r>
              <a:rPr lang="zh-CN" altLang="en-US" dirty="0">
                <a:sym typeface="Symbol" panose="05050102010706020507" pitchFamily="18" charset="2"/>
              </a:rPr>
              <a:t>的情况下，利用该式可以得出纠正单比特错误校验位数的下界</a:t>
            </a:r>
            <a:endParaRPr lang="zh-CN" altLang="en-US" dirty="0"/>
          </a:p>
          <a:p>
            <a:pPr lvl="2" indent="-336550">
              <a:lnSpc>
                <a:spcPts val="3400"/>
              </a:lnSpc>
              <a:buFont typeface="微软雅黑" panose="020B0503020204020204" pitchFamily="34" charset="-122"/>
              <a:buChar char="−"/>
            </a:pPr>
            <a:endParaRPr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6" name="文本框 5">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Tree>
    <p:extLst>
      <p:ext uri="{BB962C8B-B14F-4D97-AF65-F5344CB8AC3E}">
        <p14:creationId xmlns:p14="http://schemas.microsoft.com/office/powerpoint/2010/main" val="39138603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838200" y="1292340"/>
            <a:ext cx="10515600" cy="4736320"/>
          </a:xfrm>
        </p:spPr>
        <p:txBody>
          <a:bodyPr>
            <a:noAutofit/>
          </a:bodyPr>
          <a:lstStyle/>
          <a:p>
            <a:pPr>
              <a:lnSpc>
                <a:spcPct val="150000"/>
              </a:lnSpc>
            </a:pPr>
            <a:r>
              <a:rPr kumimoji="1" lang="zh-CN" altLang="en-US" sz="2600" dirty="0">
                <a:solidFill>
                  <a:srgbClr val="C00000"/>
                </a:solidFill>
              </a:rPr>
              <a:t>目标</a:t>
            </a:r>
            <a:r>
              <a:rPr kumimoji="1" lang="zh-CN" altLang="en-US" sz="2600" dirty="0"/>
              <a:t>：</a:t>
            </a:r>
            <a:r>
              <a:rPr kumimoji="1" lang="zh-CN" altLang="en-US" sz="2600" dirty="0">
                <a:solidFill>
                  <a:schemeClr val="accent1">
                    <a:lumMod val="75000"/>
                  </a:schemeClr>
                </a:solidFill>
              </a:rPr>
              <a:t>以</a:t>
            </a:r>
            <a:r>
              <a:rPr lang="zh-CN" altLang="en-US" sz="2600" dirty="0">
                <a:solidFill>
                  <a:schemeClr val="accent1">
                    <a:lumMod val="75000"/>
                  </a:schemeClr>
                </a:solidFill>
              </a:rPr>
              <a:t>奇偶校验为基础，如何找到出错位置，提供</a:t>
            </a:r>
            <a:r>
              <a:rPr lang="en-US" altLang="zh-CN" sz="2600" dirty="0">
                <a:solidFill>
                  <a:schemeClr val="accent1">
                    <a:lumMod val="75000"/>
                  </a:schemeClr>
                </a:solidFill>
              </a:rPr>
              <a:t>1</a:t>
            </a:r>
            <a:r>
              <a:rPr lang="zh-CN" altLang="en-US" sz="2600" dirty="0">
                <a:solidFill>
                  <a:schemeClr val="accent1">
                    <a:lumMod val="75000"/>
                  </a:schemeClr>
                </a:solidFill>
              </a:rPr>
              <a:t>位纠错能力</a:t>
            </a:r>
            <a:endParaRPr kumimoji="1" lang="en-US" altLang="zh-CN" sz="2600" dirty="0">
              <a:solidFill>
                <a:schemeClr val="accent1">
                  <a:lumMod val="75000"/>
                </a:schemeClr>
              </a:solidFill>
            </a:endParaRPr>
          </a:p>
          <a:p>
            <a:pPr>
              <a:lnSpc>
                <a:spcPct val="150000"/>
              </a:lnSpc>
            </a:pPr>
            <a:r>
              <a:rPr kumimoji="1" lang="zh-CN" altLang="en-US" sz="2600" dirty="0"/>
              <a:t>理解海明码编码过程，以 </a:t>
            </a:r>
            <a:r>
              <a:rPr kumimoji="1" lang="en-US" altLang="zh-CN" sz="2600" dirty="0"/>
              <a:t>(15, 11)</a:t>
            </a:r>
            <a:r>
              <a:rPr kumimoji="1" lang="zh-CN" altLang="en-US" sz="2600" dirty="0"/>
              <a:t>海明码为例</a:t>
            </a:r>
            <a:endParaRPr kumimoji="1" lang="en-US" altLang="zh-CN" sz="2600" dirty="0"/>
          </a:p>
          <a:p>
            <a:pPr lvl="1">
              <a:lnSpc>
                <a:spcPct val="150000"/>
              </a:lnSpc>
            </a:pPr>
            <a:r>
              <a:rPr kumimoji="1" lang="zh-CN" altLang="en-US" sz="2200" dirty="0"/>
              <a:t>例如：</a:t>
            </a:r>
            <a:r>
              <a:rPr kumimoji="1" lang="en-US" altLang="zh-CN" sz="2200" dirty="0"/>
              <a:t>11</a:t>
            </a:r>
            <a:r>
              <a:rPr kumimoji="1" lang="zh-CN" altLang="en-US" sz="2200" dirty="0"/>
              <a:t>比特的数据</a:t>
            </a:r>
            <a:r>
              <a:rPr kumimoji="1" lang="en-US" altLang="zh-CN" sz="2200" dirty="0">
                <a:solidFill>
                  <a:srgbClr val="C00000"/>
                </a:solidFill>
              </a:rPr>
              <a:t>01011001101</a:t>
            </a:r>
          </a:p>
          <a:p>
            <a:pPr lvl="1">
              <a:lnSpc>
                <a:spcPct val="150000"/>
              </a:lnSpc>
            </a:pPr>
            <a:r>
              <a:rPr kumimoji="1" lang="en-US" altLang="zh-CN" sz="2200" dirty="0"/>
              <a:t>11</a:t>
            </a:r>
            <a:r>
              <a:rPr kumimoji="1" lang="zh-CN" altLang="en-US" sz="2200" dirty="0"/>
              <a:t>比特数据按顺序放入数据位</a:t>
            </a:r>
            <a:endParaRPr kumimoji="1" lang="en-US" altLang="zh-CN" sz="2200" dirty="0"/>
          </a:p>
          <a:p>
            <a:pPr lvl="1">
              <a:lnSpc>
                <a:spcPct val="150000"/>
              </a:lnSpc>
            </a:pPr>
            <a:r>
              <a:rPr kumimoji="1" lang="zh-CN" altLang="en-US" dirty="0">
                <a:solidFill>
                  <a:srgbClr val="C00000"/>
                </a:solidFill>
              </a:rPr>
              <a:t>校验位：</a:t>
            </a:r>
            <a:r>
              <a:rPr kumimoji="1" lang="en-US" altLang="zh-CN" dirty="0"/>
              <a:t>2</a:t>
            </a:r>
            <a:r>
              <a:rPr kumimoji="1" lang="zh-CN" altLang="en-US" dirty="0"/>
              <a:t>的幂次方位（记为</a:t>
            </a:r>
            <a:r>
              <a:rPr kumimoji="1" lang="en-US" altLang="zh-CN" dirty="0"/>
              <a:t>p1, p2, p4, p8</a:t>
            </a:r>
            <a:r>
              <a:rPr kumimoji="1" lang="zh-CN" altLang="en-US" dirty="0"/>
              <a:t>）</a:t>
            </a:r>
            <a:endParaRPr kumimoji="1" lang="en-US" altLang="zh-CN" dirty="0"/>
          </a:p>
          <a:p>
            <a:pPr lvl="1">
              <a:lnSpc>
                <a:spcPct val="150000"/>
              </a:lnSpc>
            </a:pPr>
            <a:r>
              <a:rPr kumimoji="1" lang="zh-CN" altLang="en-US" sz="2200" dirty="0"/>
              <a:t>每个校验位对数据位的子集做校验，缩小定位错误的范围</a:t>
            </a:r>
            <a:endParaRPr kumimoji="1" lang="en-US" altLang="zh-CN" sz="2200" dirty="0"/>
          </a:p>
          <a:p>
            <a:pPr lvl="1">
              <a:lnSpc>
                <a:spcPct val="150000"/>
              </a:lnSpc>
            </a:pPr>
            <a:r>
              <a:rPr kumimoji="1" lang="zh-CN" altLang="en-US" sz="2200" dirty="0">
                <a:solidFill>
                  <a:srgbClr val="C00000"/>
                </a:solidFill>
              </a:rPr>
              <a:t>问题：每个校验位如何计算？</a:t>
            </a:r>
            <a:endParaRPr kumimoji="1" lang="en-US" altLang="zh-CN" sz="2200" dirty="0">
              <a:solidFill>
                <a:srgbClr val="C00000"/>
              </a:solidFill>
            </a:endParaRP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43" name="矩形 42"/>
          <p:cNvSpPr/>
          <p:nvPr/>
        </p:nvSpPr>
        <p:spPr>
          <a:xfrm>
            <a:off x="9008032" y="5009781"/>
            <a:ext cx="225984" cy="228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9148894" y="4939415"/>
            <a:ext cx="955209" cy="369332"/>
          </a:xfrm>
          <a:prstGeom prst="rect">
            <a:avLst/>
          </a:prstGeom>
          <a:noFill/>
        </p:spPr>
        <p:txBody>
          <a:bodyPr wrap="square" rtlCol="0">
            <a:spAutoFit/>
          </a:bodyPr>
          <a:lstStyle/>
          <a:p>
            <a:pPr algn="ctr"/>
            <a:r>
              <a:rPr lang="zh-CN" altLang="en-US" dirty="0"/>
              <a:t>校验位</a:t>
            </a:r>
          </a:p>
        </p:txBody>
      </p:sp>
      <p:sp>
        <p:nvSpPr>
          <p:cNvPr id="45" name="矩形 44"/>
          <p:cNvSpPr/>
          <p:nvPr/>
        </p:nvSpPr>
        <p:spPr>
          <a:xfrm>
            <a:off x="10175777" y="5009781"/>
            <a:ext cx="225984"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10328153" y="4939415"/>
            <a:ext cx="955209" cy="369332"/>
          </a:xfrm>
          <a:prstGeom prst="rect">
            <a:avLst/>
          </a:prstGeom>
          <a:noFill/>
        </p:spPr>
        <p:txBody>
          <a:bodyPr wrap="square" rtlCol="0">
            <a:spAutoFit/>
          </a:bodyPr>
          <a:lstStyle/>
          <a:p>
            <a:pPr algn="ctr"/>
            <a:r>
              <a:rPr lang="zh-CN" altLang="en-US" dirty="0"/>
              <a:t>数据位</a:t>
            </a:r>
          </a:p>
        </p:txBody>
      </p:sp>
      <p:sp>
        <p:nvSpPr>
          <p:cNvPr id="47" name="文本框 46"/>
          <p:cNvSpPr txBox="1"/>
          <p:nvPr/>
        </p:nvSpPr>
        <p:spPr>
          <a:xfrm>
            <a:off x="8410938" y="5376196"/>
            <a:ext cx="3370198" cy="369332"/>
          </a:xfrm>
          <a:prstGeom prst="rect">
            <a:avLst/>
          </a:prstGeom>
          <a:noFill/>
        </p:spPr>
        <p:txBody>
          <a:bodyPr wrap="square" rtlCol="0">
            <a:spAutoFit/>
          </a:bodyPr>
          <a:lstStyle/>
          <a:p>
            <a:pPr algn="ctr"/>
            <a:r>
              <a:rPr lang="zh-CN" altLang="en-US" dirty="0"/>
              <a:t>右下角数字为码字中位序号</a:t>
            </a:r>
          </a:p>
        </p:txBody>
      </p:sp>
      <p:graphicFrame>
        <p:nvGraphicFramePr>
          <p:cNvPr id="49" name="表格 48"/>
          <p:cNvGraphicFramePr>
            <a:graphicFrameLocks noGrp="1"/>
          </p:cNvGraphicFramePr>
          <p:nvPr/>
        </p:nvGraphicFramePr>
        <p:xfrm>
          <a:off x="9090064" y="3365677"/>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50" name="表格 49"/>
          <p:cNvGraphicFramePr>
            <a:graphicFrameLocks noGrp="1"/>
          </p:cNvGraphicFramePr>
          <p:nvPr/>
        </p:nvGraphicFramePr>
        <p:xfrm>
          <a:off x="9550093" y="2953908"/>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962773"/>
                  </a:ext>
                </a:extLst>
              </a:tr>
            </a:tbl>
          </a:graphicData>
        </a:graphic>
      </p:graphicFrame>
      <p:sp>
        <p:nvSpPr>
          <p:cNvPr id="51" name="文本框 50"/>
          <p:cNvSpPr txBox="1"/>
          <p:nvPr/>
        </p:nvSpPr>
        <p:spPr>
          <a:xfrm>
            <a:off x="9779175" y="32031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10265509" y="31926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10726512" y="319267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9314739" y="36046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9779174" y="35989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10260132" y="35989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10726512" y="359264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9314739" y="400114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9777620" y="399477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10222032" y="400094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10716663" y="400429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9270733" y="439963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9746314" y="440598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4" name="文本框 63"/>
          <p:cNvSpPr txBox="1"/>
          <p:nvPr/>
        </p:nvSpPr>
        <p:spPr>
          <a:xfrm>
            <a:off x="10228382" y="439337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10703963" y="439475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05984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838200" y="1292340"/>
            <a:ext cx="10515600" cy="1319853"/>
          </a:xfrm>
        </p:spPr>
        <p:txBody>
          <a:bodyPr>
            <a:noAutofit/>
          </a:bodyPr>
          <a:lstStyle/>
          <a:p>
            <a:pPr>
              <a:lnSpc>
                <a:spcPct val="150000"/>
              </a:lnSpc>
            </a:pPr>
            <a:r>
              <a:rPr kumimoji="1" lang="zh-CN" altLang="en-US" sz="2600" dirty="0"/>
              <a:t>子集的选择与校验位计算</a:t>
            </a:r>
            <a:endParaRPr kumimoji="1" lang="en-US" altLang="zh-CN" sz="2600" dirty="0"/>
          </a:p>
          <a:p>
            <a:pPr lvl="1">
              <a:lnSpc>
                <a:spcPct val="150000"/>
              </a:lnSpc>
            </a:pPr>
            <a:r>
              <a:rPr kumimoji="1" lang="zh-CN" altLang="en-US" sz="2200" dirty="0"/>
              <a:t>海明码缺省为偶校验（也可以使用奇校验）</a:t>
            </a:r>
            <a:endParaRPr kumimoji="1" lang="en-US" altLang="zh-CN"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41" name="表格 40"/>
          <p:cNvGraphicFramePr>
            <a:graphicFrameLocks noGrp="1"/>
          </p:cNvGraphicFramePr>
          <p:nvPr/>
        </p:nvGraphicFramePr>
        <p:xfrm>
          <a:off x="1432758" y="3474731"/>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42" name="表格 41"/>
          <p:cNvGraphicFramePr>
            <a:graphicFrameLocks noGrp="1"/>
          </p:cNvGraphicFramePr>
          <p:nvPr/>
        </p:nvGraphicFramePr>
        <p:xfrm>
          <a:off x="1892787" y="3062962"/>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49" name="文本框 48"/>
          <p:cNvSpPr txBox="1"/>
          <p:nvPr/>
        </p:nvSpPr>
        <p:spPr>
          <a:xfrm>
            <a:off x="2121869" y="331224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2608203" y="330172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3069206" y="330172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1657433" y="371372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2121868" y="370804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2602826" y="370804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3069206" y="370169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1657433" y="411019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2120314" y="410382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2564726" y="41100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3059357" y="411335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1613427" y="450868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2089008" y="451504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2571076" y="450243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3046657" y="450381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892787" y="3746194"/>
            <a:ext cx="1215388" cy="2208305"/>
            <a:chOff x="1892787" y="3671763"/>
            <a:chExt cx="1215388" cy="2208305"/>
          </a:xfrm>
        </p:grpSpPr>
        <p:sp>
          <p:nvSpPr>
            <p:cNvPr id="6" name="文本框 5"/>
            <p:cNvSpPr txBox="1"/>
            <p:nvPr/>
          </p:nvSpPr>
          <p:spPr>
            <a:xfrm>
              <a:off x="1892787" y="5233737"/>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en-US" altLang="zh-CN" dirty="0">
                  <a:latin typeface="微软雅黑" panose="020B0503020204020204" pitchFamily="34" charset="-122"/>
                  <a:ea typeface="微软雅黑" panose="020B0503020204020204" pitchFamily="34" charset="-122"/>
                </a:rPr>
                <a:t>p1=1</a:t>
              </a:r>
              <a:endParaRPr lang="zh-CN" altLang="en-US" dirty="0">
                <a:latin typeface="微软雅黑" panose="020B0503020204020204" pitchFamily="34" charset="-122"/>
                <a:ea typeface="微软雅黑" panose="020B0503020204020204" pitchFamily="34" charset="-122"/>
              </a:endParaRPr>
            </a:p>
          </p:txBody>
        </p:sp>
        <p:cxnSp>
          <p:nvCxnSpPr>
            <p:cNvPr id="8" name="直接连接符 7"/>
            <p:cNvCxnSpPr>
              <a:endCxn id="6" idx="0"/>
            </p:cNvCxnSpPr>
            <p:nvPr/>
          </p:nvCxnSpPr>
          <p:spPr>
            <a:xfrm>
              <a:off x="2108058" y="3671763"/>
              <a:ext cx="392423" cy="15619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7" idx="1"/>
              <a:endCxn id="6" idx="0"/>
            </p:cNvCxnSpPr>
            <p:nvPr/>
          </p:nvCxnSpPr>
          <p:spPr>
            <a:xfrm>
              <a:off x="2120314" y="4132363"/>
              <a:ext cx="380167" cy="1101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61" idx="1"/>
              <a:endCxn id="6" idx="0"/>
            </p:cNvCxnSpPr>
            <p:nvPr/>
          </p:nvCxnSpPr>
          <p:spPr>
            <a:xfrm>
              <a:off x="2089008" y="4543576"/>
              <a:ext cx="411473" cy="69016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55" idx="1"/>
              <a:endCxn id="6" idx="0"/>
            </p:cNvCxnSpPr>
            <p:nvPr/>
          </p:nvCxnSpPr>
          <p:spPr>
            <a:xfrm flipH="1">
              <a:off x="2500481" y="3730229"/>
              <a:ext cx="568725" cy="150350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a:endCxn id="6" idx="0"/>
            </p:cNvCxnSpPr>
            <p:nvPr/>
          </p:nvCxnSpPr>
          <p:spPr>
            <a:xfrm flipH="1">
              <a:off x="2500481" y="4463363"/>
              <a:ext cx="539828" cy="770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72" name="文本框 71"/>
          <p:cNvSpPr txBox="1"/>
          <p:nvPr/>
        </p:nvSpPr>
        <p:spPr>
          <a:xfrm>
            <a:off x="1985536" y="3149682"/>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1</a:t>
            </a:r>
            <a:endParaRPr lang="zh-CN" altLang="en-US" dirty="0">
              <a:solidFill>
                <a:srgbClr val="C00000"/>
              </a:solidFill>
              <a:latin typeface="微软雅黑" panose="020B0503020204020204" pitchFamily="34" charset="-122"/>
              <a:ea typeface="微软雅黑" panose="020B0503020204020204" pitchFamily="34" charset="-122"/>
            </a:endParaRPr>
          </a:p>
        </p:txBody>
      </p:sp>
      <p:graphicFrame>
        <p:nvGraphicFramePr>
          <p:cNvPr id="73" name="表格 72"/>
          <p:cNvGraphicFramePr>
            <a:graphicFrameLocks noGrp="1"/>
          </p:cNvGraphicFramePr>
          <p:nvPr/>
        </p:nvGraphicFramePr>
        <p:xfrm>
          <a:off x="3808812" y="3495097"/>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74" name="表格 73"/>
          <p:cNvGraphicFramePr>
            <a:graphicFrameLocks noGrp="1"/>
          </p:cNvGraphicFramePr>
          <p:nvPr/>
        </p:nvGraphicFramePr>
        <p:xfrm>
          <a:off x="4268841" y="3083328"/>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75" name="文本框 74"/>
          <p:cNvSpPr txBox="1"/>
          <p:nvPr/>
        </p:nvSpPr>
        <p:spPr>
          <a:xfrm>
            <a:off x="4497923" y="333261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6" name="文本框 75"/>
          <p:cNvSpPr txBox="1"/>
          <p:nvPr/>
        </p:nvSpPr>
        <p:spPr>
          <a:xfrm>
            <a:off x="4984257" y="332209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7" name="文本框 76"/>
          <p:cNvSpPr txBox="1"/>
          <p:nvPr/>
        </p:nvSpPr>
        <p:spPr>
          <a:xfrm>
            <a:off x="5445260" y="33220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8" name="文本框 77"/>
          <p:cNvSpPr txBox="1"/>
          <p:nvPr/>
        </p:nvSpPr>
        <p:spPr>
          <a:xfrm>
            <a:off x="4033487" y="373409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4497922" y="372841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0" name="文本框 79"/>
          <p:cNvSpPr txBox="1"/>
          <p:nvPr/>
        </p:nvSpPr>
        <p:spPr>
          <a:xfrm>
            <a:off x="4978880" y="372841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5445260" y="372206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4033487" y="413056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4496368" y="412419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4940780" y="413036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5" name="文本框 84"/>
          <p:cNvSpPr txBox="1"/>
          <p:nvPr/>
        </p:nvSpPr>
        <p:spPr>
          <a:xfrm>
            <a:off x="5435411" y="413371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6" name="文本框 85"/>
          <p:cNvSpPr txBox="1"/>
          <p:nvPr/>
        </p:nvSpPr>
        <p:spPr>
          <a:xfrm>
            <a:off x="3989481" y="452905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7" name="文本框 86"/>
          <p:cNvSpPr txBox="1"/>
          <p:nvPr/>
        </p:nvSpPr>
        <p:spPr>
          <a:xfrm>
            <a:off x="4465062" y="453540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8" name="文本框 87"/>
          <p:cNvSpPr txBox="1"/>
          <p:nvPr/>
        </p:nvSpPr>
        <p:spPr>
          <a:xfrm>
            <a:off x="4947130" y="452279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9" name="文本框 88"/>
          <p:cNvSpPr txBox="1"/>
          <p:nvPr/>
        </p:nvSpPr>
        <p:spPr>
          <a:xfrm>
            <a:off x="5422711" y="452417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aphicFrame>
        <p:nvGraphicFramePr>
          <p:cNvPr id="90" name="表格 89"/>
          <p:cNvGraphicFramePr>
            <a:graphicFrameLocks noGrp="1"/>
          </p:cNvGraphicFramePr>
          <p:nvPr/>
        </p:nvGraphicFramePr>
        <p:xfrm>
          <a:off x="6201362" y="3473118"/>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5908191"/>
                  </a:ext>
                </a:extLst>
              </a:tr>
            </a:tbl>
          </a:graphicData>
        </a:graphic>
      </p:graphicFrame>
      <p:graphicFrame>
        <p:nvGraphicFramePr>
          <p:cNvPr id="91" name="表格 90"/>
          <p:cNvGraphicFramePr>
            <a:graphicFrameLocks noGrp="1"/>
          </p:cNvGraphicFramePr>
          <p:nvPr/>
        </p:nvGraphicFramePr>
        <p:xfrm>
          <a:off x="6661391" y="3061349"/>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92" name="文本框 91"/>
          <p:cNvSpPr txBox="1"/>
          <p:nvPr/>
        </p:nvSpPr>
        <p:spPr>
          <a:xfrm>
            <a:off x="6890473" y="331063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3" name="文本框 92"/>
          <p:cNvSpPr txBox="1"/>
          <p:nvPr/>
        </p:nvSpPr>
        <p:spPr>
          <a:xfrm>
            <a:off x="7376807" y="330011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4" name="文本框 93"/>
          <p:cNvSpPr txBox="1"/>
          <p:nvPr/>
        </p:nvSpPr>
        <p:spPr>
          <a:xfrm>
            <a:off x="7837810" y="330011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5" name="文本框 94"/>
          <p:cNvSpPr txBox="1"/>
          <p:nvPr/>
        </p:nvSpPr>
        <p:spPr>
          <a:xfrm>
            <a:off x="6426037" y="371211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6" name="文本框 95"/>
          <p:cNvSpPr txBox="1"/>
          <p:nvPr/>
        </p:nvSpPr>
        <p:spPr>
          <a:xfrm>
            <a:off x="6890472" y="370643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7371430" y="370643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7837810" y="370008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6426037" y="410858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6888918" y="41022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1" name="文本框 100"/>
          <p:cNvSpPr txBox="1"/>
          <p:nvPr/>
        </p:nvSpPr>
        <p:spPr>
          <a:xfrm>
            <a:off x="7333330" y="410838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2" name="文本框 101"/>
          <p:cNvSpPr txBox="1"/>
          <p:nvPr/>
        </p:nvSpPr>
        <p:spPr>
          <a:xfrm>
            <a:off x="7827961" y="411174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3" name="文本框 102"/>
          <p:cNvSpPr txBox="1"/>
          <p:nvPr/>
        </p:nvSpPr>
        <p:spPr>
          <a:xfrm>
            <a:off x="6382031" y="450707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4" name="文本框 103"/>
          <p:cNvSpPr txBox="1"/>
          <p:nvPr/>
        </p:nvSpPr>
        <p:spPr>
          <a:xfrm>
            <a:off x="6857612" y="451342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5" name="文本框 104"/>
          <p:cNvSpPr txBox="1"/>
          <p:nvPr/>
        </p:nvSpPr>
        <p:spPr>
          <a:xfrm>
            <a:off x="7339680" y="450081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6" name="文本框 105"/>
          <p:cNvSpPr txBox="1"/>
          <p:nvPr/>
        </p:nvSpPr>
        <p:spPr>
          <a:xfrm>
            <a:off x="7815261" y="450219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aphicFrame>
        <p:nvGraphicFramePr>
          <p:cNvPr id="107" name="表格 106"/>
          <p:cNvGraphicFramePr>
            <a:graphicFrameLocks noGrp="1"/>
          </p:cNvGraphicFramePr>
          <p:nvPr/>
        </p:nvGraphicFramePr>
        <p:xfrm>
          <a:off x="8523765" y="3440950"/>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5908191"/>
                  </a:ext>
                </a:extLst>
              </a:tr>
            </a:tbl>
          </a:graphicData>
        </a:graphic>
      </p:graphicFrame>
      <p:graphicFrame>
        <p:nvGraphicFramePr>
          <p:cNvPr id="108" name="表格 107"/>
          <p:cNvGraphicFramePr>
            <a:graphicFrameLocks noGrp="1"/>
          </p:cNvGraphicFramePr>
          <p:nvPr/>
        </p:nvGraphicFramePr>
        <p:xfrm>
          <a:off x="8983794" y="3029181"/>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109" name="文本框 108"/>
          <p:cNvSpPr txBox="1"/>
          <p:nvPr/>
        </p:nvSpPr>
        <p:spPr>
          <a:xfrm>
            <a:off x="9212876" y="32784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0" name="文本框 109"/>
          <p:cNvSpPr txBox="1"/>
          <p:nvPr/>
        </p:nvSpPr>
        <p:spPr>
          <a:xfrm>
            <a:off x="9699210" y="326794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1" name="文本框 110"/>
          <p:cNvSpPr txBox="1"/>
          <p:nvPr/>
        </p:nvSpPr>
        <p:spPr>
          <a:xfrm>
            <a:off x="10160213" y="326794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2" name="文本框 111"/>
          <p:cNvSpPr txBox="1"/>
          <p:nvPr/>
        </p:nvSpPr>
        <p:spPr>
          <a:xfrm>
            <a:off x="8748440" y="367994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3" name="文本框 112"/>
          <p:cNvSpPr txBox="1"/>
          <p:nvPr/>
        </p:nvSpPr>
        <p:spPr>
          <a:xfrm>
            <a:off x="9212875" y="36742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4" name="文本框 113"/>
          <p:cNvSpPr txBox="1"/>
          <p:nvPr/>
        </p:nvSpPr>
        <p:spPr>
          <a:xfrm>
            <a:off x="9693833" y="36742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5" name="文本框 114"/>
          <p:cNvSpPr txBox="1"/>
          <p:nvPr/>
        </p:nvSpPr>
        <p:spPr>
          <a:xfrm>
            <a:off x="10160213" y="366791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6" name="文本框 115"/>
          <p:cNvSpPr txBox="1"/>
          <p:nvPr/>
        </p:nvSpPr>
        <p:spPr>
          <a:xfrm>
            <a:off x="8748440" y="407641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7" name="文本框 116"/>
          <p:cNvSpPr txBox="1"/>
          <p:nvPr/>
        </p:nvSpPr>
        <p:spPr>
          <a:xfrm>
            <a:off x="9211321" y="407004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8" name="文本框 117"/>
          <p:cNvSpPr txBox="1"/>
          <p:nvPr/>
        </p:nvSpPr>
        <p:spPr>
          <a:xfrm>
            <a:off x="9655733" y="407622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9" name="文本框 118"/>
          <p:cNvSpPr txBox="1"/>
          <p:nvPr/>
        </p:nvSpPr>
        <p:spPr>
          <a:xfrm>
            <a:off x="10150364" y="40795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0" name="文本框 119"/>
          <p:cNvSpPr txBox="1"/>
          <p:nvPr/>
        </p:nvSpPr>
        <p:spPr>
          <a:xfrm>
            <a:off x="8704434" y="447490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1" name="文本框 120"/>
          <p:cNvSpPr txBox="1"/>
          <p:nvPr/>
        </p:nvSpPr>
        <p:spPr>
          <a:xfrm>
            <a:off x="9180015" y="448126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9662083" y="446864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3" name="文本框 122"/>
          <p:cNvSpPr txBox="1"/>
          <p:nvPr/>
        </p:nvSpPr>
        <p:spPr>
          <a:xfrm>
            <a:off x="10137664" y="447003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4545241" y="3825026"/>
            <a:ext cx="1215388" cy="2130610"/>
            <a:chOff x="4545241" y="3750595"/>
            <a:chExt cx="1215388" cy="2130610"/>
          </a:xfrm>
        </p:grpSpPr>
        <p:sp>
          <p:nvSpPr>
            <p:cNvPr id="125" name="文本框 124"/>
            <p:cNvSpPr txBox="1"/>
            <p:nvPr/>
          </p:nvSpPr>
          <p:spPr>
            <a:xfrm>
              <a:off x="4545241" y="5234874"/>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en-US" altLang="zh-CN" dirty="0">
                  <a:latin typeface="微软雅黑" panose="020B0503020204020204" pitchFamily="34" charset="-122"/>
                  <a:ea typeface="微软雅黑" panose="020B0503020204020204" pitchFamily="34" charset="-122"/>
                </a:rPr>
                <a:t>p2=0</a:t>
              </a:r>
              <a:endParaRPr lang="zh-CN" altLang="en-US" dirty="0">
                <a:latin typeface="微软雅黑" panose="020B0503020204020204" pitchFamily="34" charset="-122"/>
                <a:ea typeface="微软雅黑" panose="020B0503020204020204" pitchFamily="34" charset="-122"/>
              </a:endParaRPr>
            </a:p>
          </p:txBody>
        </p:sp>
        <p:cxnSp>
          <p:nvCxnSpPr>
            <p:cNvPr id="129" name="直接连接符 128"/>
            <p:cNvCxnSpPr>
              <a:stCxn id="81" idx="1"/>
              <a:endCxn id="125" idx="0"/>
            </p:cNvCxnSpPr>
            <p:nvPr/>
          </p:nvCxnSpPr>
          <p:spPr>
            <a:xfrm flipH="1">
              <a:off x="5152935" y="3750595"/>
              <a:ext cx="292325" cy="148427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89" idx="1"/>
              <a:endCxn id="125" idx="0"/>
            </p:cNvCxnSpPr>
            <p:nvPr/>
          </p:nvCxnSpPr>
          <p:spPr>
            <a:xfrm flipH="1">
              <a:off x="5152935" y="4552713"/>
              <a:ext cx="269776" cy="682161"/>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131" name="文本框 130"/>
          <p:cNvSpPr txBox="1"/>
          <p:nvPr/>
        </p:nvSpPr>
        <p:spPr>
          <a:xfrm>
            <a:off x="4829583" y="3163225"/>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0</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32" name="文本框 131"/>
          <p:cNvSpPr txBox="1"/>
          <p:nvPr/>
        </p:nvSpPr>
        <p:spPr>
          <a:xfrm>
            <a:off x="6282497" y="3528339"/>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1</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33" name="文本框 132"/>
          <p:cNvSpPr txBox="1"/>
          <p:nvPr/>
        </p:nvSpPr>
        <p:spPr>
          <a:xfrm>
            <a:off x="8608027" y="3893885"/>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0</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48" name="文本框 147"/>
          <p:cNvSpPr txBox="1"/>
          <p:nvPr/>
        </p:nvSpPr>
        <p:spPr>
          <a:xfrm>
            <a:off x="1897686" y="2652392"/>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1</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sp>
        <p:nvSpPr>
          <p:cNvPr id="149" name="文本框 148"/>
          <p:cNvSpPr txBox="1"/>
          <p:nvPr/>
        </p:nvSpPr>
        <p:spPr>
          <a:xfrm>
            <a:off x="4248375" y="2679662"/>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2</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sp>
        <p:nvSpPr>
          <p:cNvPr id="150" name="文本框 149"/>
          <p:cNvSpPr txBox="1"/>
          <p:nvPr/>
        </p:nvSpPr>
        <p:spPr>
          <a:xfrm>
            <a:off x="6661391" y="2660026"/>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3</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sp>
        <p:nvSpPr>
          <p:cNvPr id="151" name="文本框 150"/>
          <p:cNvSpPr txBox="1"/>
          <p:nvPr/>
        </p:nvSpPr>
        <p:spPr>
          <a:xfrm>
            <a:off x="8944591" y="2646202"/>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4</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sp>
        <p:nvSpPr>
          <p:cNvPr id="152" name="矩形 151"/>
          <p:cNvSpPr/>
          <p:nvPr/>
        </p:nvSpPr>
        <p:spPr>
          <a:xfrm>
            <a:off x="7434304" y="2133053"/>
            <a:ext cx="225984" cy="2286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152"/>
          <p:cNvSpPr txBox="1"/>
          <p:nvPr/>
        </p:nvSpPr>
        <p:spPr>
          <a:xfrm>
            <a:off x="7575166" y="2062687"/>
            <a:ext cx="1761339" cy="369332"/>
          </a:xfrm>
          <a:prstGeom prst="rect">
            <a:avLst/>
          </a:prstGeom>
          <a:noFill/>
        </p:spPr>
        <p:txBody>
          <a:bodyPr wrap="square" rtlCol="0">
            <a:spAutoFit/>
          </a:bodyPr>
          <a:lstStyle/>
          <a:p>
            <a:pPr algn="ctr"/>
            <a:r>
              <a:rPr lang="zh-CN" altLang="en-US" dirty="0"/>
              <a:t>每组的数据位</a:t>
            </a:r>
          </a:p>
        </p:txBody>
      </p:sp>
      <p:sp>
        <p:nvSpPr>
          <p:cNvPr id="154" name="矩形 153"/>
          <p:cNvSpPr/>
          <p:nvPr/>
        </p:nvSpPr>
        <p:spPr>
          <a:xfrm>
            <a:off x="9354061" y="2121618"/>
            <a:ext cx="225984" cy="2286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文本框 154"/>
          <p:cNvSpPr txBox="1"/>
          <p:nvPr/>
        </p:nvSpPr>
        <p:spPr>
          <a:xfrm>
            <a:off x="9522548" y="2046696"/>
            <a:ext cx="1625824" cy="369332"/>
          </a:xfrm>
          <a:prstGeom prst="rect">
            <a:avLst/>
          </a:prstGeom>
          <a:noFill/>
        </p:spPr>
        <p:txBody>
          <a:bodyPr wrap="square" rtlCol="0">
            <a:spAutoFit/>
          </a:bodyPr>
          <a:lstStyle/>
          <a:p>
            <a:pPr algn="ctr"/>
            <a:r>
              <a:rPr lang="zh-CN" altLang="en-US" dirty="0"/>
              <a:t>每组的校验位</a:t>
            </a:r>
          </a:p>
        </p:txBody>
      </p:sp>
      <p:grpSp>
        <p:nvGrpSpPr>
          <p:cNvPr id="159" name="组合 158"/>
          <p:cNvGrpSpPr/>
          <p:nvPr/>
        </p:nvGrpSpPr>
        <p:grpSpPr>
          <a:xfrm>
            <a:off x="6472156" y="3726842"/>
            <a:ext cx="1421051" cy="2208305"/>
            <a:chOff x="6472156" y="3726842"/>
            <a:chExt cx="1421051" cy="2208305"/>
          </a:xfrm>
        </p:grpSpPr>
        <p:grpSp>
          <p:nvGrpSpPr>
            <p:cNvPr id="134" name="组合 133"/>
            <p:cNvGrpSpPr/>
            <p:nvPr/>
          </p:nvGrpSpPr>
          <p:grpSpPr>
            <a:xfrm>
              <a:off x="6677819" y="3726842"/>
              <a:ext cx="1215388" cy="2208305"/>
              <a:chOff x="1892787" y="3671763"/>
              <a:chExt cx="1215388" cy="2208305"/>
            </a:xfrm>
          </p:grpSpPr>
          <p:sp>
            <p:nvSpPr>
              <p:cNvPr id="135" name="文本框 134"/>
              <p:cNvSpPr txBox="1"/>
              <p:nvPr/>
            </p:nvSpPr>
            <p:spPr>
              <a:xfrm>
                <a:off x="1892787" y="5233737"/>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en-US" altLang="zh-CN" dirty="0">
                    <a:latin typeface="微软雅黑" panose="020B0503020204020204" pitchFamily="34" charset="-122"/>
                    <a:ea typeface="微软雅黑" panose="020B0503020204020204" pitchFamily="34" charset="-122"/>
                  </a:rPr>
                  <a:t>p4=1</a:t>
                </a:r>
                <a:endParaRPr lang="zh-CN" altLang="en-US" dirty="0">
                  <a:latin typeface="微软雅黑" panose="020B0503020204020204" pitchFamily="34" charset="-122"/>
                  <a:ea typeface="微软雅黑" panose="020B0503020204020204" pitchFamily="34" charset="-122"/>
                </a:endParaRPr>
              </a:p>
            </p:txBody>
          </p:sp>
          <p:cxnSp>
            <p:nvCxnSpPr>
              <p:cNvPr id="136" name="直接连接符 135"/>
              <p:cNvCxnSpPr>
                <a:endCxn id="135" idx="0"/>
              </p:cNvCxnSpPr>
              <p:nvPr/>
            </p:nvCxnSpPr>
            <p:spPr>
              <a:xfrm>
                <a:off x="2108058" y="3671763"/>
                <a:ext cx="392423" cy="15619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8" name="直接连接符 137"/>
              <p:cNvCxnSpPr>
                <a:endCxn id="135" idx="0"/>
              </p:cNvCxnSpPr>
              <p:nvPr/>
            </p:nvCxnSpPr>
            <p:spPr>
              <a:xfrm>
                <a:off x="2089008" y="4532943"/>
                <a:ext cx="411473" cy="70079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9" name="直接连接符 138"/>
              <p:cNvCxnSpPr>
                <a:endCxn id="135" idx="0"/>
              </p:cNvCxnSpPr>
              <p:nvPr/>
            </p:nvCxnSpPr>
            <p:spPr>
              <a:xfrm flipH="1">
                <a:off x="2500481" y="3719596"/>
                <a:ext cx="568726" cy="151414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0" name="直接连接符 139"/>
              <p:cNvCxnSpPr>
                <a:endCxn id="135" idx="0"/>
              </p:cNvCxnSpPr>
              <p:nvPr/>
            </p:nvCxnSpPr>
            <p:spPr>
              <a:xfrm flipH="1">
                <a:off x="2500481" y="4463363"/>
                <a:ext cx="539828" cy="770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156" name="直接连接符 155"/>
            <p:cNvCxnSpPr>
              <a:endCxn id="135" idx="0"/>
            </p:cNvCxnSpPr>
            <p:nvPr/>
          </p:nvCxnSpPr>
          <p:spPr>
            <a:xfrm>
              <a:off x="6472156" y="4524178"/>
              <a:ext cx="813357" cy="764638"/>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160" name="组合 159"/>
          <p:cNvGrpSpPr/>
          <p:nvPr/>
        </p:nvGrpSpPr>
        <p:grpSpPr>
          <a:xfrm>
            <a:off x="8826821" y="4173992"/>
            <a:ext cx="1411658" cy="1758338"/>
            <a:chOff x="8826821" y="4173992"/>
            <a:chExt cx="1411658" cy="1758338"/>
          </a:xfrm>
        </p:grpSpPr>
        <p:grpSp>
          <p:nvGrpSpPr>
            <p:cNvPr id="141" name="组合 140"/>
            <p:cNvGrpSpPr/>
            <p:nvPr/>
          </p:nvGrpSpPr>
          <p:grpSpPr>
            <a:xfrm>
              <a:off x="9023091" y="4173992"/>
              <a:ext cx="1215388" cy="1758338"/>
              <a:chOff x="1892787" y="4121730"/>
              <a:chExt cx="1215388" cy="1758338"/>
            </a:xfrm>
          </p:grpSpPr>
          <p:sp>
            <p:nvSpPr>
              <p:cNvPr id="142" name="文本框 141"/>
              <p:cNvSpPr txBox="1"/>
              <p:nvPr/>
            </p:nvSpPr>
            <p:spPr>
              <a:xfrm>
                <a:off x="1892787" y="5233737"/>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en-US" altLang="zh-CN" dirty="0">
                    <a:latin typeface="微软雅黑" panose="020B0503020204020204" pitchFamily="34" charset="-122"/>
                    <a:ea typeface="微软雅黑" panose="020B0503020204020204" pitchFamily="34" charset="-122"/>
                  </a:rPr>
                  <a:t>p8=0</a:t>
                </a:r>
                <a:endParaRPr lang="zh-CN" altLang="en-US" dirty="0">
                  <a:latin typeface="微软雅黑" panose="020B0503020204020204" pitchFamily="34" charset="-122"/>
                  <a:ea typeface="微软雅黑" panose="020B0503020204020204" pitchFamily="34" charset="-122"/>
                </a:endParaRPr>
              </a:p>
            </p:txBody>
          </p:sp>
          <p:cxnSp>
            <p:nvCxnSpPr>
              <p:cNvPr id="144" name="直接连接符 143"/>
              <p:cNvCxnSpPr>
                <a:endCxn id="142" idx="0"/>
              </p:cNvCxnSpPr>
              <p:nvPr/>
            </p:nvCxnSpPr>
            <p:spPr>
              <a:xfrm>
                <a:off x="2120314" y="4121730"/>
                <a:ext cx="380167" cy="111200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5" name="直接连接符 144"/>
              <p:cNvCxnSpPr>
                <a:endCxn id="142" idx="0"/>
              </p:cNvCxnSpPr>
              <p:nvPr/>
            </p:nvCxnSpPr>
            <p:spPr>
              <a:xfrm>
                <a:off x="2089008" y="4532943"/>
                <a:ext cx="411473" cy="70079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7" name="直接连接符 146"/>
              <p:cNvCxnSpPr>
                <a:endCxn id="142" idx="0"/>
              </p:cNvCxnSpPr>
              <p:nvPr/>
            </p:nvCxnSpPr>
            <p:spPr>
              <a:xfrm flipH="1">
                <a:off x="2500481" y="4463363"/>
                <a:ext cx="539828" cy="770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158" name="直接连接符 157"/>
            <p:cNvCxnSpPr/>
            <p:nvPr/>
          </p:nvCxnSpPr>
          <p:spPr>
            <a:xfrm>
              <a:off x="8826821" y="4544667"/>
              <a:ext cx="813357" cy="764638"/>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7778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1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2"/>
                                        </p:tgtEl>
                                        <p:attrNameLst>
                                          <p:attrName>style.visibility</p:attrName>
                                        </p:attrNameLst>
                                      </p:cBhvr>
                                      <p:to>
                                        <p:strVal val="visible"/>
                                      </p:to>
                                    </p:set>
                                  </p:childTnLst>
                                </p:cTn>
                              </p:par>
                            </p:childTnLst>
                          </p:cTn>
                        </p:par>
                        <p:par>
                          <p:cTn id="12" fill="hold">
                            <p:stCondLst>
                              <p:cond delay="0"/>
                            </p:stCondLst>
                            <p:childTnLst>
                              <p:par>
                                <p:cTn id="13" presetID="8" presetClass="emph" presetSubtype="0" fill="hold" grpId="1" nodeType="afterEffect">
                                  <p:stCondLst>
                                    <p:cond delay="0"/>
                                  </p:stCondLst>
                                  <p:childTnLst>
                                    <p:animRot by="21600000">
                                      <p:cBhvr>
                                        <p:cTn id="14" dur="2000" fill="hold"/>
                                        <p:tgtEl>
                                          <p:spTgt spid="72"/>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up)">
                                      <p:cBhvr>
                                        <p:cTn id="19" dur="10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31"/>
                                        </p:tgtEl>
                                        <p:attrNameLst>
                                          <p:attrName>style.visibility</p:attrName>
                                        </p:attrNameLst>
                                      </p:cBhvr>
                                      <p:to>
                                        <p:strVal val="visible"/>
                                      </p:to>
                                    </p:set>
                                  </p:childTnLst>
                                </p:cTn>
                              </p:par>
                            </p:childTnLst>
                          </p:cTn>
                        </p:par>
                        <p:par>
                          <p:cTn id="24" fill="hold">
                            <p:stCondLst>
                              <p:cond delay="0"/>
                            </p:stCondLst>
                            <p:childTnLst>
                              <p:par>
                                <p:cTn id="25" presetID="8" presetClass="emph" presetSubtype="0" fill="hold" grpId="1" nodeType="afterEffect">
                                  <p:stCondLst>
                                    <p:cond delay="0"/>
                                  </p:stCondLst>
                                  <p:childTnLst>
                                    <p:animRot by="21600000">
                                      <p:cBhvr>
                                        <p:cTn id="26" dur="2000" fill="hold"/>
                                        <p:tgtEl>
                                          <p:spTgt spid="131"/>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59"/>
                                        </p:tgtEl>
                                        <p:attrNameLst>
                                          <p:attrName>style.visibility</p:attrName>
                                        </p:attrNameLst>
                                      </p:cBhvr>
                                      <p:to>
                                        <p:strVal val="visible"/>
                                      </p:to>
                                    </p:set>
                                    <p:animEffect transition="in" filter="wipe(up)">
                                      <p:cBhvr>
                                        <p:cTn id="31" dur="500"/>
                                        <p:tgtEl>
                                          <p:spTgt spid="15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32"/>
                                        </p:tgtEl>
                                        <p:attrNameLst>
                                          <p:attrName>style.visibility</p:attrName>
                                        </p:attrNameLst>
                                      </p:cBhvr>
                                      <p:to>
                                        <p:strVal val="visible"/>
                                      </p:to>
                                    </p:set>
                                  </p:childTnLst>
                                </p:cTn>
                              </p:par>
                            </p:childTnLst>
                          </p:cTn>
                        </p:par>
                        <p:par>
                          <p:cTn id="36" fill="hold">
                            <p:stCondLst>
                              <p:cond delay="0"/>
                            </p:stCondLst>
                            <p:childTnLst>
                              <p:par>
                                <p:cTn id="37" presetID="8" presetClass="emph" presetSubtype="0" fill="hold" grpId="1" nodeType="afterEffect">
                                  <p:stCondLst>
                                    <p:cond delay="0"/>
                                  </p:stCondLst>
                                  <p:childTnLst>
                                    <p:animRot by="21600000">
                                      <p:cBhvr>
                                        <p:cTn id="38" dur="2000" fill="hold"/>
                                        <p:tgtEl>
                                          <p:spTgt spid="132"/>
                                        </p:tgtEl>
                                        <p:attrNameLst>
                                          <p:attrName>r</p:attrName>
                                        </p:attrNameLst>
                                      </p:cBhvr>
                                    </p:animRo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160"/>
                                        </p:tgtEl>
                                        <p:attrNameLst>
                                          <p:attrName>style.visibility</p:attrName>
                                        </p:attrNameLst>
                                      </p:cBhvr>
                                      <p:to>
                                        <p:strVal val="visible"/>
                                      </p:to>
                                    </p:set>
                                    <p:animEffect transition="in" filter="wipe(up)">
                                      <p:cBhvr>
                                        <p:cTn id="43" dur="500"/>
                                        <p:tgtEl>
                                          <p:spTgt spid="160"/>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33"/>
                                        </p:tgtEl>
                                        <p:attrNameLst>
                                          <p:attrName>style.visibility</p:attrName>
                                        </p:attrNameLst>
                                      </p:cBhvr>
                                      <p:to>
                                        <p:strVal val="visible"/>
                                      </p:to>
                                    </p:set>
                                  </p:childTnLst>
                                </p:cTn>
                              </p:par>
                            </p:childTnLst>
                          </p:cTn>
                        </p:par>
                        <p:par>
                          <p:cTn id="48" fill="hold">
                            <p:stCondLst>
                              <p:cond delay="0"/>
                            </p:stCondLst>
                            <p:childTnLst>
                              <p:par>
                                <p:cTn id="49" presetID="8" presetClass="emph" presetSubtype="0" fill="hold" grpId="1" nodeType="afterEffect">
                                  <p:stCondLst>
                                    <p:cond delay="0"/>
                                  </p:stCondLst>
                                  <p:childTnLst>
                                    <p:animRot by="21600000">
                                      <p:cBhvr>
                                        <p:cTn id="50" dur="2000" fill="hold"/>
                                        <p:tgtEl>
                                          <p:spTgt spid="13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2" grpId="1"/>
      <p:bldP spid="131" grpId="0"/>
      <p:bldP spid="131" grpId="1"/>
      <p:bldP spid="132" grpId="0"/>
      <p:bldP spid="132" grpId="1"/>
      <p:bldP spid="133" grpId="0"/>
      <p:bldP spid="133"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838200" y="1292340"/>
            <a:ext cx="10515600" cy="1562825"/>
          </a:xfrm>
        </p:spPr>
        <p:txBody>
          <a:bodyPr>
            <a:noAutofit/>
          </a:bodyPr>
          <a:lstStyle/>
          <a:p>
            <a:pPr>
              <a:lnSpc>
                <a:spcPct val="150000"/>
              </a:lnSpc>
            </a:pPr>
            <a:r>
              <a:rPr kumimoji="1" lang="zh-CN" altLang="en-US" sz="2600" dirty="0"/>
              <a:t>码字的发送与接收</a:t>
            </a:r>
            <a:endParaRPr kumimoji="1" lang="en-US" altLang="zh-CN" sz="2600" dirty="0"/>
          </a:p>
          <a:p>
            <a:pPr lvl="1">
              <a:lnSpc>
                <a:spcPct val="150000"/>
              </a:lnSpc>
            </a:pPr>
            <a:r>
              <a:rPr kumimoji="1" lang="zh-CN" altLang="en-US" sz="2200" dirty="0"/>
              <a:t>如果发送过程中第</a:t>
            </a:r>
            <a:r>
              <a:rPr kumimoji="1" lang="en-US" altLang="zh-CN" sz="2200" dirty="0"/>
              <a:t>7</a:t>
            </a:r>
            <a:r>
              <a:rPr kumimoji="1" lang="zh-CN" altLang="en-US" sz="2200" dirty="0"/>
              <a:t>位出现差错，如何定位错误？</a:t>
            </a:r>
            <a:endParaRPr kumimoji="1" lang="en-US" altLang="zh-CN"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124" name="表格 123"/>
          <p:cNvGraphicFramePr>
            <a:graphicFrameLocks noGrp="1"/>
          </p:cNvGraphicFramePr>
          <p:nvPr/>
        </p:nvGraphicFramePr>
        <p:xfrm>
          <a:off x="1491651" y="3407613"/>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1</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0</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126" name="表格 125"/>
          <p:cNvGraphicFramePr>
            <a:graphicFrameLocks noGrp="1"/>
          </p:cNvGraphicFramePr>
          <p:nvPr/>
        </p:nvGraphicFramePr>
        <p:xfrm>
          <a:off x="1951680" y="2995844"/>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1</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0</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962773"/>
                  </a:ext>
                </a:extLst>
              </a:tr>
            </a:tbl>
          </a:graphicData>
        </a:graphic>
      </p:graphicFrame>
      <p:sp>
        <p:nvSpPr>
          <p:cNvPr id="127" name="文本框 126"/>
          <p:cNvSpPr txBox="1"/>
          <p:nvPr/>
        </p:nvSpPr>
        <p:spPr>
          <a:xfrm>
            <a:off x="2180762" y="324512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8" name="文本框 127"/>
          <p:cNvSpPr txBox="1"/>
          <p:nvPr/>
        </p:nvSpPr>
        <p:spPr>
          <a:xfrm>
            <a:off x="2667096" y="323460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37" name="文本框 136"/>
          <p:cNvSpPr txBox="1"/>
          <p:nvPr/>
        </p:nvSpPr>
        <p:spPr>
          <a:xfrm>
            <a:off x="3128099" y="323460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43" name="文本框 142"/>
          <p:cNvSpPr txBox="1"/>
          <p:nvPr/>
        </p:nvSpPr>
        <p:spPr>
          <a:xfrm>
            <a:off x="1716326" y="364660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46" name="文本框 145"/>
          <p:cNvSpPr txBox="1"/>
          <p:nvPr/>
        </p:nvSpPr>
        <p:spPr>
          <a:xfrm>
            <a:off x="2180761" y="364092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2" name="文本框 151"/>
          <p:cNvSpPr txBox="1"/>
          <p:nvPr/>
        </p:nvSpPr>
        <p:spPr>
          <a:xfrm>
            <a:off x="2661719" y="364092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3" name="文本框 152"/>
          <p:cNvSpPr txBox="1"/>
          <p:nvPr/>
        </p:nvSpPr>
        <p:spPr>
          <a:xfrm>
            <a:off x="3128099" y="363457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4" name="文本框 153"/>
          <p:cNvSpPr txBox="1"/>
          <p:nvPr/>
        </p:nvSpPr>
        <p:spPr>
          <a:xfrm>
            <a:off x="1716326" y="404307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5" name="文本框 154"/>
          <p:cNvSpPr txBox="1"/>
          <p:nvPr/>
        </p:nvSpPr>
        <p:spPr>
          <a:xfrm>
            <a:off x="2179207" y="403671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6" name="文本框 155"/>
          <p:cNvSpPr txBox="1"/>
          <p:nvPr/>
        </p:nvSpPr>
        <p:spPr>
          <a:xfrm>
            <a:off x="2623619" y="404288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7" name="文本框 156"/>
          <p:cNvSpPr txBox="1"/>
          <p:nvPr/>
        </p:nvSpPr>
        <p:spPr>
          <a:xfrm>
            <a:off x="3118250" y="404623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8" name="文本框 157"/>
          <p:cNvSpPr txBox="1"/>
          <p:nvPr/>
        </p:nvSpPr>
        <p:spPr>
          <a:xfrm>
            <a:off x="1672320" y="444156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9" name="文本框 158"/>
          <p:cNvSpPr txBox="1"/>
          <p:nvPr/>
        </p:nvSpPr>
        <p:spPr>
          <a:xfrm>
            <a:off x="2147901" y="444792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60" name="文本框 159"/>
          <p:cNvSpPr txBox="1"/>
          <p:nvPr/>
        </p:nvSpPr>
        <p:spPr>
          <a:xfrm>
            <a:off x="2629969" y="443531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61" name="文本框 160"/>
          <p:cNvSpPr txBox="1"/>
          <p:nvPr/>
        </p:nvSpPr>
        <p:spPr>
          <a:xfrm>
            <a:off x="3105550" y="443669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62" name="矩形 161"/>
          <p:cNvSpPr/>
          <p:nvPr/>
        </p:nvSpPr>
        <p:spPr>
          <a:xfrm>
            <a:off x="1346975" y="5047848"/>
            <a:ext cx="225984" cy="228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文本框 162"/>
          <p:cNvSpPr txBox="1"/>
          <p:nvPr/>
        </p:nvSpPr>
        <p:spPr>
          <a:xfrm>
            <a:off x="1487837" y="4977482"/>
            <a:ext cx="955209" cy="369332"/>
          </a:xfrm>
          <a:prstGeom prst="rect">
            <a:avLst/>
          </a:prstGeom>
          <a:noFill/>
        </p:spPr>
        <p:txBody>
          <a:bodyPr wrap="square" rtlCol="0">
            <a:spAutoFit/>
          </a:bodyPr>
          <a:lstStyle/>
          <a:p>
            <a:pPr algn="ctr"/>
            <a:r>
              <a:rPr lang="zh-CN" altLang="en-US" dirty="0"/>
              <a:t>校验位</a:t>
            </a:r>
          </a:p>
        </p:txBody>
      </p:sp>
      <p:sp>
        <p:nvSpPr>
          <p:cNvPr id="164" name="矩形 163"/>
          <p:cNvSpPr/>
          <p:nvPr/>
        </p:nvSpPr>
        <p:spPr>
          <a:xfrm>
            <a:off x="2514720" y="5047848"/>
            <a:ext cx="225984"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2667096" y="4977482"/>
            <a:ext cx="955209" cy="369332"/>
          </a:xfrm>
          <a:prstGeom prst="rect">
            <a:avLst/>
          </a:prstGeom>
          <a:noFill/>
        </p:spPr>
        <p:txBody>
          <a:bodyPr wrap="square" rtlCol="0">
            <a:spAutoFit/>
          </a:bodyPr>
          <a:lstStyle/>
          <a:p>
            <a:pPr algn="ctr"/>
            <a:r>
              <a:rPr lang="zh-CN" altLang="en-US" dirty="0"/>
              <a:t>数据位</a:t>
            </a:r>
          </a:p>
        </p:txBody>
      </p:sp>
      <p:sp>
        <p:nvSpPr>
          <p:cNvPr id="7" name="右箭头 6"/>
          <p:cNvSpPr/>
          <p:nvPr/>
        </p:nvSpPr>
        <p:spPr>
          <a:xfrm>
            <a:off x="3838245" y="3726863"/>
            <a:ext cx="3875964" cy="197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矩形 182"/>
          <p:cNvSpPr/>
          <p:nvPr/>
        </p:nvSpPr>
        <p:spPr>
          <a:xfrm>
            <a:off x="8023133" y="5081505"/>
            <a:ext cx="225984" cy="228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文本框 183"/>
          <p:cNvSpPr txBox="1"/>
          <p:nvPr/>
        </p:nvSpPr>
        <p:spPr>
          <a:xfrm>
            <a:off x="8163995" y="5011139"/>
            <a:ext cx="955209" cy="369332"/>
          </a:xfrm>
          <a:prstGeom prst="rect">
            <a:avLst/>
          </a:prstGeom>
          <a:noFill/>
        </p:spPr>
        <p:txBody>
          <a:bodyPr wrap="square" rtlCol="0">
            <a:spAutoFit/>
          </a:bodyPr>
          <a:lstStyle/>
          <a:p>
            <a:pPr algn="ctr"/>
            <a:r>
              <a:rPr lang="zh-CN" altLang="en-US" dirty="0"/>
              <a:t>校验位</a:t>
            </a:r>
          </a:p>
        </p:txBody>
      </p:sp>
      <p:sp>
        <p:nvSpPr>
          <p:cNvPr id="185" name="矩形 184"/>
          <p:cNvSpPr/>
          <p:nvPr/>
        </p:nvSpPr>
        <p:spPr>
          <a:xfrm>
            <a:off x="9190878" y="5081505"/>
            <a:ext cx="225984"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9343254" y="5011139"/>
            <a:ext cx="955209" cy="369332"/>
          </a:xfrm>
          <a:prstGeom prst="rect">
            <a:avLst/>
          </a:prstGeom>
          <a:noFill/>
        </p:spPr>
        <p:txBody>
          <a:bodyPr wrap="square" rtlCol="0">
            <a:spAutoFit/>
          </a:bodyPr>
          <a:lstStyle/>
          <a:p>
            <a:pPr algn="ctr"/>
            <a:r>
              <a:rPr lang="zh-CN" altLang="en-US" dirty="0"/>
              <a:t>数据位</a:t>
            </a:r>
          </a:p>
        </p:txBody>
      </p:sp>
      <p:sp>
        <p:nvSpPr>
          <p:cNvPr id="9" name="文本框 8"/>
          <p:cNvSpPr txBox="1"/>
          <p:nvPr/>
        </p:nvSpPr>
        <p:spPr>
          <a:xfrm>
            <a:off x="3838245" y="3245387"/>
            <a:ext cx="3763558" cy="461665"/>
          </a:xfrm>
          <a:prstGeom prst="rect">
            <a:avLst/>
          </a:prstGeom>
          <a:noFill/>
        </p:spPr>
        <p:txBody>
          <a:bodyPr wrap="square" rtlCol="0">
            <a:spAutoFit/>
          </a:bodyPr>
          <a:lstStyle/>
          <a:p>
            <a:pPr algn="ctr"/>
            <a:r>
              <a:rPr lang="en-US" altLang="zh-CN" sz="2400" dirty="0">
                <a:latin typeface="微软雅黑" panose="020B0503020204020204" pitchFamily="34" charset="-122"/>
                <a:ea typeface="微软雅黑" panose="020B0503020204020204" pitchFamily="34" charset="-122"/>
              </a:rPr>
              <a:t>101100111010001</a:t>
            </a:r>
            <a:endParaRPr lang="zh-CN" altLang="en-US" sz="2400" dirty="0">
              <a:latin typeface="微软雅黑" panose="020B0503020204020204" pitchFamily="34" charset="-122"/>
              <a:ea typeface="微软雅黑" panose="020B0503020204020204" pitchFamily="34" charset="-122"/>
            </a:endParaRPr>
          </a:p>
        </p:txBody>
      </p:sp>
      <p:graphicFrame>
        <p:nvGraphicFramePr>
          <p:cNvPr id="187" name="表格 186"/>
          <p:cNvGraphicFramePr>
            <a:graphicFrameLocks noGrp="1"/>
          </p:cNvGraphicFramePr>
          <p:nvPr/>
        </p:nvGraphicFramePr>
        <p:xfrm>
          <a:off x="8123454" y="3403001"/>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1</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0</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188" name="表格 187"/>
          <p:cNvGraphicFramePr>
            <a:graphicFrameLocks noGrp="1"/>
          </p:cNvGraphicFramePr>
          <p:nvPr/>
        </p:nvGraphicFramePr>
        <p:xfrm>
          <a:off x="8583483" y="2991232"/>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1</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0</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0</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962773"/>
                  </a:ext>
                </a:extLst>
              </a:tr>
            </a:tbl>
          </a:graphicData>
        </a:graphic>
      </p:graphicFrame>
      <p:sp>
        <p:nvSpPr>
          <p:cNvPr id="189" name="文本框 188"/>
          <p:cNvSpPr txBox="1"/>
          <p:nvPr/>
        </p:nvSpPr>
        <p:spPr>
          <a:xfrm>
            <a:off x="8812565" y="32405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0" name="文本框 189"/>
          <p:cNvSpPr txBox="1"/>
          <p:nvPr/>
        </p:nvSpPr>
        <p:spPr>
          <a:xfrm>
            <a:off x="9298899" y="322999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1" name="文本框 190"/>
          <p:cNvSpPr txBox="1"/>
          <p:nvPr/>
        </p:nvSpPr>
        <p:spPr>
          <a:xfrm>
            <a:off x="9759902" y="322999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2" name="文本框 191"/>
          <p:cNvSpPr txBox="1"/>
          <p:nvPr/>
        </p:nvSpPr>
        <p:spPr>
          <a:xfrm>
            <a:off x="8348129" y="364199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3" name="文本框 192"/>
          <p:cNvSpPr txBox="1"/>
          <p:nvPr/>
        </p:nvSpPr>
        <p:spPr>
          <a:xfrm>
            <a:off x="8812564" y="36363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4" name="文本框 193"/>
          <p:cNvSpPr txBox="1"/>
          <p:nvPr/>
        </p:nvSpPr>
        <p:spPr>
          <a:xfrm>
            <a:off x="9293522" y="36363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5" name="文本框 194"/>
          <p:cNvSpPr txBox="1"/>
          <p:nvPr/>
        </p:nvSpPr>
        <p:spPr>
          <a:xfrm>
            <a:off x="9759902" y="36299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6" name="文本框 195"/>
          <p:cNvSpPr txBox="1"/>
          <p:nvPr/>
        </p:nvSpPr>
        <p:spPr>
          <a:xfrm>
            <a:off x="8348129" y="40384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7" name="文本框 196"/>
          <p:cNvSpPr txBox="1"/>
          <p:nvPr/>
        </p:nvSpPr>
        <p:spPr>
          <a:xfrm>
            <a:off x="8811010" y="403209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8" name="文本框 197"/>
          <p:cNvSpPr txBox="1"/>
          <p:nvPr/>
        </p:nvSpPr>
        <p:spPr>
          <a:xfrm>
            <a:off x="9255422" y="40382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9" name="文本框 198"/>
          <p:cNvSpPr txBox="1"/>
          <p:nvPr/>
        </p:nvSpPr>
        <p:spPr>
          <a:xfrm>
            <a:off x="9750053" y="404162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0" name="文本框 199"/>
          <p:cNvSpPr txBox="1"/>
          <p:nvPr/>
        </p:nvSpPr>
        <p:spPr>
          <a:xfrm>
            <a:off x="8304123" y="443695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1" name="文本框 200"/>
          <p:cNvSpPr txBox="1"/>
          <p:nvPr/>
        </p:nvSpPr>
        <p:spPr>
          <a:xfrm>
            <a:off x="8779704" y="444331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2" name="文本框 201"/>
          <p:cNvSpPr txBox="1"/>
          <p:nvPr/>
        </p:nvSpPr>
        <p:spPr>
          <a:xfrm>
            <a:off x="9261772" y="443070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3" name="文本框 202"/>
          <p:cNvSpPr txBox="1"/>
          <p:nvPr/>
        </p:nvSpPr>
        <p:spPr>
          <a:xfrm>
            <a:off x="9737353" y="443208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4" name="文本框 203"/>
          <p:cNvSpPr txBox="1"/>
          <p:nvPr/>
        </p:nvSpPr>
        <p:spPr>
          <a:xfrm>
            <a:off x="1845141" y="5515675"/>
            <a:ext cx="1109034" cy="461665"/>
          </a:xfrm>
          <a:prstGeom prst="rect">
            <a:avLst/>
          </a:prstGeom>
          <a:noFill/>
        </p:spPr>
        <p:txBody>
          <a:bodyPr wrap="square" rtlCol="0">
            <a:spAutoFit/>
          </a:bodyPr>
          <a:lstStyle/>
          <a:p>
            <a:pPr algn="ctr"/>
            <a:r>
              <a:rPr lang="zh-CN" altLang="en-US" sz="2400" dirty="0"/>
              <a:t>发送方</a:t>
            </a:r>
          </a:p>
        </p:txBody>
      </p:sp>
      <p:sp>
        <p:nvSpPr>
          <p:cNvPr id="12" name="任意多边形 11"/>
          <p:cNvSpPr/>
          <p:nvPr/>
        </p:nvSpPr>
        <p:spPr>
          <a:xfrm>
            <a:off x="5305926" y="3112121"/>
            <a:ext cx="1070821" cy="1231279"/>
          </a:xfrm>
          <a:custGeom>
            <a:avLst/>
            <a:gdLst>
              <a:gd name="connsiteX0" fmla="*/ 0 w 1070821"/>
              <a:gd name="connsiteY0" fmla="*/ 1038774 h 1231279"/>
              <a:gd name="connsiteX1" fmla="*/ 12032 w 1070821"/>
              <a:gd name="connsiteY1" fmla="*/ 653763 h 1231279"/>
              <a:gd name="connsiteX2" fmla="*/ 48127 w 1070821"/>
              <a:gd name="connsiteY2" fmla="*/ 629700 h 1231279"/>
              <a:gd name="connsiteX3" fmla="*/ 72190 w 1070821"/>
              <a:gd name="connsiteY3" fmla="*/ 689858 h 1231279"/>
              <a:gd name="connsiteX4" fmla="*/ 96253 w 1070821"/>
              <a:gd name="connsiteY4" fmla="*/ 834237 h 1231279"/>
              <a:gd name="connsiteX5" fmla="*/ 108285 w 1070821"/>
              <a:gd name="connsiteY5" fmla="*/ 870332 h 1231279"/>
              <a:gd name="connsiteX6" fmla="*/ 132348 w 1070821"/>
              <a:gd name="connsiteY6" fmla="*/ 990647 h 1231279"/>
              <a:gd name="connsiteX7" fmla="*/ 156411 w 1070821"/>
              <a:gd name="connsiteY7" fmla="*/ 954553 h 1231279"/>
              <a:gd name="connsiteX8" fmla="*/ 168442 w 1070821"/>
              <a:gd name="connsiteY8" fmla="*/ 906426 h 1231279"/>
              <a:gd name="connsiteX9" fmla="*/ 192506 w 1070821"/>
              <a:gd name="connsiteY9" fmla="*/ 858300 h 1231279"/>
              <a:gd name="connsiteX10" fmla="*/ 204537 w 1070821"/>
              <a:gd name="connsiteY10" fmla="*/ 786111 h 1231279"/>
              <a:gd name="connsiteX11" fmla="*/ 228600 w 1070821"/>
              <a:gd name="connsiteY11" fmla="*/ 725953 h 1231279"/>
              <a:gd name="connsiteX12" fmla="*/ 264695 w 1070821"/>
              <a:gd name="connsiteY12" fmla="*/ 605637 h 1231279"/>
              <a:gd name="connsiteX13" fmla="*/ 288758 w 1070821"/>
              <a:gd name="connsiteY13" fmla="*/ 533447 h 1231279"/>
              <a:gd name="connsiteX14" fmla="*/ 300790 w 1070821"/>
              <a:gd name="connsiteY14" fmla="*/ 497353 h 1231279"/>
              <a:gd name="connsiteX15" fmla="*/ 324853 w 1070821"/>
              <a:gd name="connsiteY15" fmla="*/ 581574 h 1231279"/>
              <a:gd name="connsiteX16" fmla="*/ 348916 w 1070821"/>
              <a:gd name="connsiteY16" fmla="*/ 653763 h 1231279"/>
              <a:gd name="connsiteX17" fmla="*/ 385011 w 1070821"/>
              <a:gd name="connsiteY17" fmla="*/ 810174 h 1231279"/>
              <a:gd name="connsiteX18" fmla="*/ 421106 w 1070821"/>
              <a:gd name="connsiteY18" fmla="*/ 978616 h 1231279"/>
              <a:gd name="connsiteX19" fmla="*/ 433137 w 1070821"/>
              <a:gd name="connsiteY19" fmla="*/ 1038774 h 1231279"/>
              <a:gd name="connsiteX20" fmla="*/ 457200 w 1070821"/>
              <a:gd name="connsiteY20" fmla="*/ 1122995 h 1231279"/>
              <a:gd name="connsiteX21" fmla="*/ 469232 w 1070821"/>
              <a:gd name="connsiteY21" fmla="*/ 208595 h 1231279"/>
              <a:gd name="connsiteX22" fmla="*/ 481263 w 1070821"/>
              <a:gd name="connsiteY22" fmla="*/ 4058 h 1231279"/>
              <a:gd name="connsiteX23" fmla="*/ 493295 w 1070821"/>
              <a:gd name="connsiteY23" fmla="*/ 64216 h 1231279"/>
              <a:gd name="connsiteX24" fmla="*/ 541421 w 1070821"/>
              <a:gd name="connsiteY24" fmla="*/ 232658 h 1231279"/>
              <a:gd name="connsiteX25" fmla="*/ 553453 w 1070821"/>
              <a:gd name="connsiteY25" fmla="*/ 304847 h 1231279"/>
              <a:gd name="connsiteX26" fmla="*/ 565485 w 1070821"/>
              <a:gd name="connsiteY26" fmla="*/ 340942 h 1231279"/>
              <a:gd name="connsiteX27" fmla="*/ 589548 w 1070821"/>
              <a:gd name="connsiteY27" fmla="*/ 437195 h 1231279"/>
              <a:gd name="connsiteX28" fmla="*/ 637674 w 1070821"/>
              <a:gd name="connsiteY28" fmla="*/ 581574 h 1231279"/>
              <a:gd name="connsiteX29" fmla="*/ 709863 w 1070821"/>
              <a:gd name="connsiteY29" fmla="*/ 822205 h 1231279"/>
              <a:gd name="connsiteX30" fmla="*/ 721895 w 1070821"/>
              <a:gd name="connsiteY30" fmla="*/ 870332 h 1231279"/>
              <a:gd name="connsiteX31" fmla="*/ 745958 w 1070821"/>
              <a:gd name="connsiteY31" fmla="*/ 930490 h 1231279"/>
              <a:gd name="connsiteX32" fmla="*/ 770021 w 1070821"/>
              <a:gd name="connsiteY32" fmla="*/ 1002679 h 1231279"/>
              <a:gd name="connsiteX33" fmla="*/ 806116 w 1070821"/>
              <a:gd name="connsiteY33" fmla="*/ 1110963 h 1231279"/>
              <a:gd name="connsiteX34" fmla="*/ 818148 w 1070821"/>
              <a:gd name="connsiteY34" fmla="*/ 1147058 h 1231279"/>
              <a:gd name="connsiteX35" fmla="*/ 830179 w 1070821"/>
              <a:gd name="connsiteY35" fmla="*/ 1183153 h 1231279"/>
              <a:gd name="connsiteX36" fmla="*/ 842211 w 1070821"/>
              <a:gd name="connsiteY36" fmla="*/ 617668 h 1231279"/>
              <a:gd name="connsiteX37" fmla="*/ 854242 w 1070821"/>
              <a:gd name="connsiteY37" fmla="*/ 545479 h 1231279"/>
              <a:gd name="connsiteX38" fmla="*/ 866274 w 1070821"/>
              <a:gd name="connsiteY38" fmla="*/ 593605 h 1231279"/>
              <a:gd name="connsiteX39" fmla="*/ 902369 w 1070821"/>
              <a:gd name="connsiteY39" fmla="*/ 713921 h 1231279"/>
              <a:gd name="connsiteX40" fmla="*/ 914400 w 1070821"/>
              <a:gd name="connsiteY40" fmla="*/ 774079 h 1231279"/>
              <a:gd name="connsiteX41" fmla="*/ 938463 w 1070821"/>
              <a:gd name="connsiteY41" fmla="*/ 810174 h 1231279"/>
              <a:gd name="connsiteX42" fmla="*/ 950495 w 1070821"/>
              <a:gd name="connsiteY42" fmla="*/ 882363 h 1231279"/>
              <a:gd name="connsiteX43" fmla="*/ 986590 w 1070821"/>
              <a:gd name="connsiteY43" fmla="*/ 942521 h 1231279"/>
              <a:gd name="connsiteX44" fmla="*/ 1046748 w 1070821"/>
              <a:gd name="connsiteY44" fmla="*/ 1147058 h 1231279"/>
              <a:gd name="connsiteX45" fmla="*/ 1070811 w 1070821"/>
              <a:gd name="connsiteY45" fmla="*/ 1231279 h 123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70821" h="1231279">
                <a:moveTo>
                  <a:pt x="0" y="1038774"/>
                </a:moveTo>
                <a:cubicBezTo>
                  <a:pt x="4011" y="910437"/>
                  <a:pt x="4910" y="781965"/>
                  <a:pt x="12032" y="653763"/>
                </a:cubicBezTo>
                <a:cubicBezTo>
                  <a:pt x="15922" y="583740"/>
                  <a:pt x="19842" y="601416"/>
                  <a:pt x="48127" y="629700"/>
                </a:cubicBezTo>
                <a:cubicBezTo>
                  <a:pt x="56148" y="649753"/>
                  <a:pt x="67243" y="668835"/>
                  <a:pt x="72190" y="689858"/>
                </a:cubicBezTo>
                <a:cubicBezTo>
                  <a:pt x="83365" y="737351"/>
                  <a:pt x="80824" y="787951"/>
                  <a:pt x="96253" y="834237"/>
                </a:cubicBezTo>
                <a:cubicBezTo>
                  <a:pt x="100264" y="846269"/>
                  <a:pt x="105433" y="857974"/>
                  <a:pt x="108285" y="870332"/>
                </a:cubicBezTo>
                <a:cubicBezTo>
                  <a:pt x="117482" y="910184"/>
                  <a:pt x="132348" y="990647"/>
                  <a:pt x="132348" y="990647"/>
                </a:cubicBezTo>
                <a:cubicBezTo>
                  <a:pt x="140369" y="978616"/>
                  <a:pt x="150715" y="967844"/>
                  <a:pt x="156411" y="954553"/>
                </a:cubicBezTo>
                <a:cubicBezTo>
                  <a:pt x="162925" y="939354"/>
                  <a:pt x="162636" y="921909"/>
                  <a:pt x="168442" y="906426"/>
                </a:cubicBezTo>
                <a:cubicBezTo>
                  <a:pt x="174740" y="889632"/>
                  <a:pt x="184485" y="874342"/>
                  <a:pt x="192506" y="858300"/>
                </a:cubicBezTo>
                <a:cubicBezTo>
                  <a:pt x="196516" y="834237"/>
                  <a:pt x="198118" y="809646"/>
                  <a:pt x="204537" y="786111"/>
                </a:cubicBezTo>
                <a:cubicBezTo>
                  <a:pt x="210220" y="765275"/>
                  <a:pt x="221219" y="746250"/>
                  <a:pt x="228600" y="725953"/>
                </a:cubicBezTo>
                <a:cubicBezTo>
                  <a:pt x="277211" y="592272"/>
                  <a:pt x="233917" y="708230"/>
                  <a:pt x="264695" y="605637"/>
                </a:cubicBezTo>
                <a:cubicBezTo>
                  <a:pt x="271984" y="581342"/>
                  <a:pt x="280737" y="557510"/>
                  <a:pt x="288758" y="533447"/>
                </a:cubicBezTo>
                <a:lnTo>
                  <a:pt x="300790" y="497353"/>
                </a:lnTo>
                <a:cubicBezTo>
                  <a:pt x="341228" y="618672"/>
                  <a:pt x="279523" y="430475"/>
                  <a:pt x="324853" y="581574"/>
                </a:cubicBezTo>
                <a:cubicBezTo>
                  <a:pt x="332142" y="605869"/>
                  <a:pt x="342764" y="629156"/>
                  <a:pt x="348916" y="653763"/>
                </a:cubicBezTo>
                <a:cubicBezTo>
                  <a:pt x="402014" y="866157"/>
                  <a:pt x="351813" y="710582"/>
                  <a:pt x="385011" y="810174"/>
                </a:cubicBezTo>
                <a:cubicBezTo>
                  <a:pt x="406913" y="985395"/>
                  <a:pt x="381542" y="833547"/>
                  <a:pt x="421106" y="978616"/>
                </a:cubicBezTo>
                <a:cubicBezTo>
                  <a:pt x="426487" y="998345"/>
                  <a:pt x="428701" y="1018811"/>
                  <a:pt x="433137" y="1038774"/>
                </a:cubicBezTo>
                <a:cubicBezTo>
                  <a:pt x="443207" y="1084088"/>
                  <a:pt x="443804" y="1082806"/>
                  <a:pt x="457200" y="1122995"/>
                </a:cubicBezTo>
                <a:cubicBezTo>
                  <a:pt x="461211" y="818195"/>
                  <a:pt x="462678" y="513351"/>
                  <a:pt x="469232" y="208595"/>
                </a:cubicBezTo>
                <a:cubicBezTo>
                  <a:pt x="470700" y="140314"/>
                  <a:pt x="470035" y="71426"/>
                  <a:pt x="481263" y="4058"/>
                </a:cubicBezTo>
                <a:cubicBezTo>
                  <a:pt x="484625" y="-16114"/>
                  <a:pt x="488091" y="44440"/>
                  <a:pt x="493295" y="64216"/>
                </a:cubicBezTo>
                <a:cubicBezTo>
                  <a:pt x="508156" y="120687"/>
                  <a:pt x="531821" y="175058"/>
                  <a:pt x="541421" y="232658"/>
                </a:cubicBezTo>
                <a:cubicBezTo>
                  <a:pt x="545432" y="256721"/>
                  <a:pt x="548161" y="281033"/>
                  <a:pt x="553453" y="304847"/>
                </a:cubicBezTo>
                <a:cubicBezTo>
                  <a:pt x="556204" y="317227"/>
                  <a:pt x="562148" y="328706"/>
                  <a:pt x="565485" y="340942"/>
                </a:cubicBezTo>
                <a:cubicBezTo>
                  <a:pt x="574187" y="372848"/>
                  <a:pt x="580045" y="405518"/>
                  <a:pt x="589548" y="437195"/>
                </a:cubicBezTo>
                <a:cubicBezTo>
                  <a:pt x="604125" y="485785"/>
                  <a:pt x="625370" y="532359"/>
                  <a:pt x="637674" y="581574"/>
                </a:cubicBezTo>
                <a:cubicBezTo>
                  <a:pt x="707903" y="862490"/>
                  <a:pt x="638513" y="608155"/>
                  <a:pt x="709863" y="822205"/>
                </a:cubicBezTo>
                <a:cubicBezTo>
                  <a:pt x="715092" y="837893"/>
                  <a:pt x="716666" y="854644"/>
                  <a:pt x="721895" y="870332"/>
                </a:cubicBezTo>
                <a:cubicBezTo>
                  <a:pt x="728725" y="890821"/>
                  <a:pt x="738577" y="910193"/>
                  <a:pt x="745958" y="930490"/>
                </a:cubicBezTo>
                <a:cubicBezTo>
                  <a:pt x="754626" y="954328"/>
                  <a:pt x="762000" y="978616"/>
                  <a:pt x="770021" y="1002679"/>
                </a:cubicBezTo>
                <a:lnTo>
                  <a:pt x="806116" y="1110963"/>
                </a:lnTo>
                <a:lnTo>
                  <a:pt x="818148" y="1147058"/>
                </a:lnTo>
                <a:lnTo>
                  <a:pt x="830179" y="1183153"/>
                </a:lnTo>
                <a:cubicBezTo>
                  <a:pt x="834190" y="994658"/>
                  <a:pt x="835101" y="806072"/>
                  <a:pt x="842211" y="617668"/>
                </a:cubicBezTo>
                <a:cubicBezTo>
                  <a:pt x="843131" y="593290"/>
                  <a:pt x="836992" y="562729"/>
                  <a:pt x="854242" y="545479"/>
                </a:cubicBezTo>
                <a:cubicBezTo>
                  <a:pt x="865935" y="533786"/>
                  <a:pt x="862687" y="577463"/>
                  <a:pt x="866274" y="593605"/>
                </a:cubicBezTo>
                <a:cubicBezTo>
                  <a:pt x="886609" y="685109"/>
                  <a:pt x="866416" y="624037"/>
                  <a:pt x="902369" y="713921"/>
                </a:cubicBezTo>
                <a:cubicBezTo>
                  <a:pt x="906379" y="733974"/>
                  <a:pt x="907220" y="754931"/>
                  <a:pt x="914400" y="774079"/>
                </a:cubicBezTo>
                <a:cubicBezTo>
                  <a:pt x="919477" y="787619"/>
                  <a:pt x="933890" y="796456"/>
                  <a:pt x="938463" y="810174"/>
                </a:cubicBezTo>
                <a:cubicBezTo>
                  <a:pt x="946177" y="833317"/>
                  <a:pt x="942158" y="859437"/>
                  <a:pt x="950495" y="882363"/>
                </a:cubicBezTo>
                <a:cubicBezTo>
                  <a:pt x="958487" y="904340"/>
                  <a:pt x="977378" y="921027"/>
                  <a:pt x="986590" y="942521"/>
                </a:cubicBezTo>
                <a:cubicBezTo>
                  <a:pt x="1022957" y="1027376"/>
                  <a:pt x="1022312" y="1061531"/>
                  <a:pt x="1046748" y="1147058"/>
                </a:cubicBezTo>
                <a:cubicBezTo>
                  <a:pt x="1072079" y="1235718"/>
                  <a:pt x="1070811" y="1191880"/>
                  <a:pt x="1070811" y="1231279"/>
                </a:cubicBezTo>
              </a:path>
            </a:pathLst>
          </a:custGeom>
          <a:ln w="12700"/>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
        <p:nvSpPr>
          <p:cNvPr id="205" name="文本框 204"/>
          <p:cNvSpPr txBox="1"/>
          <p:nvPr/>
        </p:nvSpPr>
        <p:spPr>
          <a:xfrm>
            <a:off x="8605551" y="5460916"/>
            <a:ext cx="1109034" cy="461665"/>
          </a:xfrm>
          <a:prstGeom prst="rect">
            <a:avLst/>
          </a:prstGeom>
          <a:noFill/>
        </p:spPr>
        <p:txBody>
          <a:bodyPr wrap="square" rtlCol="0">
            <a:spAutoFit/>
          </a:bodyPr>
          <a:lstStyle/>
          <a:p>
            <a:pPr algn="ctr"/>
            <a:r>
              <a:rPr lang="zh-CN" altLang="en-US" sz="2400" dirty="0"/>
              <a:t>接收方</a:t>
            </a:r>
          </a:p>
        </p:txBody>
      </p:sp>
    </p:spTree>
    <p:extLst>
      <p:ext uri="{BB962C8B-B14F-4D97-AF65-F5344CB8AC3E}">
        <p14:creationId xmlns:p14="http://schemas.microsoft.com/office/powerpoint/2010/main" val="8401241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721895" y="1292341"/>
            <a:ext cx="6388200" cy="1290041"/>
          </a:xfrm>
        </p:spPr>
        <p:txBody>
          <a:bodyPr>
            <a:noAutofit/>
          </a:bodyPr>
          <a:lstStyle/>
          <a:p>
            <a:pPr>
              <a:lnSpc>
                <a:spcPct val="150000"/>
              </a:lnSpc>
            </a:pPr>
            <a:r>
              <a:rPr kumimoji="1" lang="zh-CN" altLang="en-US" sz="2600" dirty="0"/>
              <a:t>定位错误与纠正</a:t>
            </a:r>
            <a:endParaRPr kumimoji="1" lang="en-US" altLang="zh-CN" sz="2600" dirty="0"/>
          </a:p>
          <a:p>
            <a:pPr lvl="1">
              <a:lnSpc>
                <a:spcPct val="150000"/>
              </a:lnSpc>
            </a:pPr>
            <a:r>
              <a:rPr kumimoji="1" lang="zh-CN" altLang="en-US" sz="2200" dirty="0"/>
              <a:t>组</a:t>
            </a:r>
            <a:r>
              <a:rPr kumimoji="1" lang="en-US" altLang="zh-CN" sz="2200" dirty="0"/>
              <a:t>1</a:t>
            </a:r>
            <a:r>
              <a:rPr kumimoji="1" lang="zh-CN" altLang="en-US" sz="2200" dirty="0"/>
              <a:t>和组</a:t>
            </a:r>
            <a:r>
              <a:rPr kumimoji="1" lang="en-US" altLang="zh-CN" sz="2200" dirty="0"/>
              <a:t>2</a:t>
            </a:r>
            <a:r>
              <a:rPr kumimoji="1" lang="zh-CN" altLang="en-US" sz="2200" dirty="0"/>
              <a:t>的校验结果可以定位错误所在的列</a:t>
            </a:r>
            <a:endParaRPr kumimoji="1" lang="en-US" altLang="zh-CN"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41" name="表格 40"/>
          <p:cNvGraphicFramePr>
            <a:graphicFrameLocks noGrp="1"/>
          </p:cNvGraphicFramePr>
          <p:nvPr/>
        </p:nvGraphicFramePr>
        <p:xfrm>
          <a:off x="7310324" y="2735022"/>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42" name="表格 41"/>
          <p:cNvGraphicFramePr>
            <a:graphicFrameLocks noGrp="1"/>
          </p:cNvGraphicFramePr>
          <p:nvPr/>
        </p:nvGraphicFramePr>
        <p:xfrm>
          <a:off x="7770353" y="2323253"/>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0</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49" name="文本框 48"/>
          <p:cNvSpPr txBox="1"/>
          <p:nvPr/>
        </p:nvSpPr>
        <p:spPr>
          <a:xfrm>
            <a:off x="7999435" y="257253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8485769" y="256201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8946772" y="256201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7534999" y="297401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7999434" y="296833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8480392" y="296833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8946772" y="296198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7534999" y="337048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7997880" y="336411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8442292" y="337029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8936923" y="337364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7490993" y="376897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7966574" y="377533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8448642" y="376272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8924223" y="376410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7770353" y="2664869"/>
            <a:ext cx="1215388" cy="2549921"/>
            <a:chOff x="1892787" y="3330147"/>
            <a:chExt cx="1215388" cy="2549921"/>
          </a:xfrm>
        </p:grpSpPr>
        <p:sp>
          <p:nvSpPr>
            <p:cNvPr id="6" name="文本框 5"/>
            <p:cNvSpPr txBox="1"/>
            <p:nvPr/>
          </p:nvSpPr>
          <p:spPr>
            <a:xfrm>
              <a:off x="1892787" y="5233737"/>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zh-CN" altLang="en-US" dirty="0">
                  <a:latin typeface="微软雅黑" panose="020B0503020204020204" pitchFamily="34" charset="-122"/>
                  <a:ea typeface="微软雅黑" panose="020B0503020204020204" pitchFamily="34" charset="-122"/>
                </a:rPr>
                <a:t>有错误</a:t>
              </a:r>
            </a:p>
          </p:txBody>
        </p:sp>
        <p:cxnSp>
          <p:nvCxnSpPr>
            <p:cNvPr id="8" name="直接连接符 7"/>
            <p:cNvCxnSpPr>
              <a:endCxn id="6" idx="0"/>
            </p:cNvCxnSpPr>
            <p:nvPr/>
          </p:nvCxnSpPr>
          <p:spPr>
            <a:xfrm>
              <a:off x="2108058" y="3671763"/>
              <a:ext cx="392423" cy="15619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7" idx="1"/>
              <a:endCxn id="6" idx="0"/>
            </p:cNvCxnSpPr>
            <p:nvPr/>
          </p:nvCxnSpPr>
          <p:spPr>
            <a:xfrm>
              <a:off x="2120314" y="4132363"/>
              <a:ext cx="380167" cy="1101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61" idx="1"/>
              <a:endCxn id="6" idx="0"/>
            </p:cNvCxnSpPr>
            <p:nvPr/>
          </p:nvCxnSpPr>
          <p:spPr>
            <a:xfrm>
              <a:off x="2089008" y="4543576"/>
              <a:ext cx="411473" cy="69016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49" idx="1"/>
              <a:endCxn id="6" idx="0"/>
            </p:cNvCxnSpPr>
            <p:nvPr/>
          </p:nvCxnSpPr>
          <p:spPr>
            <a:xfrm>
              <a:off x="2109837" y="3330147"/>
              <a:ext cx="390644" cy="190359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a:endCxn id="6" idx="0"/>
            </p:cNvCxnSpPr>
            <p:nvPr/>
          </p:nvCxnSpPr>
          <p:spPr>
            <a:xfrm flipH="1">
              <a:off x="2500481" y="4463363"/>
              <a:ext cx="539828" cy="770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72" name="文本框 71"/>
          <p:cNvSpPr txBox="1"/>
          <p:nvPr/>
        </p:nvSpPr>
        <p:spPr>
          <a:xfrm>
            <a:off x="7863102" y="2409973"/>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1</a:t>
            </a:r>
            <a:endParaRPr lang="zh-CN" altLang="en-US" dirty="0">
              <a:solidFill>
                <a:srgbClr val="C00000"/>
              </a:solidFill>
              <a:latin typeface="微软雅黑" panose="020B0503020204020204" pitchFamily="34" charset="-122"/>
              <a:ea typeface="微软雅黑" panose="020B0503020204020204" pitchFamily="34" charset="-122"/>
            </a:endParaRPr>
          </a:p>
        </p:txBody>
      </p:sp>
      <p:graphicFrame>
        <p:nvGraphicFramePr>
          <p:cNvPr id="73" name="表格 72"/>
          <p:cNvGraphicFramePr>
            <a:graphicFrameLocks noGrp="1"/>
          </p:cNvGraphicFramePr>
          <p:nvPr/>
        </p:nvGraphicFramePr>
        <p:xfrm>
          <a:off x="9686378" y="2755388"/>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74" name="表格 73"/>
          <p:cNvGraphicFramePr>
            <a:graphicFrameLocks noGrp="1"/>
          </p:cNvGraphicFramePr>
          <p:nvPr/>
        </p:nvGraphicFramePr>
        <p:xfrm>
          <a:off x="10146407" y="2343619"/>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0</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75" name="文本框 74"/>
          <p:cNvSpPr txBox="1"/>
          <p:nvPr/>
        </p:nvSpPr>
        <p:spPr>
          <a:xfrm>
            <a:off x="10375489" y="25929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6" name="文本框 75"/>
          <p:cNvSpPr txBox="1"/>
          <p:nvPr/>
        </p:nvSpPr>
        <p:spPr>
          <a:xfrm>
            <a:off x="10861823" y="258238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7" name="文本框 76"/>
          <p:cNvSpPr txBox="1"/>
          <p:nvPr/>
        </p:nvSpPr>
        <p:spPr>
          <a:xfrm>
            <a:off x="11322826" y="258238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8" name="文本框 77"/>
          <p:cNvSpPr txBox="1"/>
          <p:nvPr/>
        </p:nvSpPr>
        <p:spPr>
          <a:xfrm>
            <a:off x="9911053" y="299438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10375488" y="29887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0" name="文本框 79"/>
          <p:cNvSpPr txBox="1"/>
          <p:nvPr/>
        </p:nvSpPr>
        <p:spPr>
          <a:xfrm>
            <a:off x="10856446" y="29887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11322826" y="298235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9911053" y="339085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10373934" y="338448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10818346" y="339065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5" name="文本框 84"/>
          <p:cNvSpPr txBox="1"/>
          <p:nvPr/>
        </p:nvSpPr>
        <p:spPr>
          <a:xfrm>
            <a:off x="11312977" y="339401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6" name="文本框 85"/>
          <p:cNvSpPr txBox="1"/>
          <p:nvPr/>
        </p:nvSpPr>
        <p:spPr>
          <a:xfrm>
            <a:off x="9867047" y="378934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7" name="文本框 86"/>
          <p:cNvSpPr txBox="1"/>
          <p:nvPr/>
        </p:nvSpPr>
        <p:spPr>
          <a:xfrm>
            <a:off x="10342628" y="379569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8" name="文本框 87"/>
          <p:cNvSpPr txBox="1"/>
          <p:nvPr/>
        </p:nvSpPr>
        <p:spPr>
          <a:xfrm>
            <a:off x="10824696" y="378308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9" name="文本框 88"/>
          <p:cNvSpPr txBox="1"/>
          <p:nvPr/>
        </p:nvSpPr>
        <p:spPr>
          <a:xfrm>
            <a:off x="11300277" y="378446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0422807" y="3887435"/>
            <a:ext cx="1215388" cy="1351157"/>
            <a:chOff x="4545241" y="4552713"/>
            <a:chExt cx="1215388" cy="1351157"/>
          </a:xfrm>
        </p:grpSpPr>
        <p:sp>
          <p:nvSpPr>
            <p:cNvPr id="125" name="文本框 124"/>
            <p:cNvSpPr txBox="1"/>
            <p:nvPr/>
          </p:nvSpPr>
          <p:spPr>
            <a:xfrm>
              <a:off x="4545241" y="5257539"/>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zh-CN" altLang="en-US" dirty="0">
                  <a:latin typeface="微软雅黑" panose="020B0503020204020204" pitchFamily="34" charset="-122"/>
                  <a:ea typeface="微软雅黑" panose="020B0503020204020204" pitchFamily="34" charset="-122"/>
                </a:rPr>
                <a:t>有错误</a:t>
              </a:r>
            </a:p>
          </p:txBody>
        </p:sp>
        <p:cxnSp>
          <p:nvCxnSpPr>
            <p:cNvPr id="130" name="直接连接符 129"/>
            <p:cNvCxnSpPr>
              <a:stCxn id="89" idx="1"/>
              <a:endCxn id="125" idx="0"/>
            </p:cNvCxnSpPr>
            <p:nvPr/>
          </p:nvCxnSpPr>
          <p:spPr>
            <a:xfrm flipH="1">
              <a:off x="5152935" y="4552713"/>
              <a:ext cx="269776" cy="682161"/>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131" name="文本框 130"/>
          <p:cNvSpPr txBox="1"/>
          <p:nvPr/>
        </p:nvSpPr>
        <p:spPr>
          <a:xfrm>
            <a:off x="10707149" y="2423516"/>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0</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48" name="文本框 147"/>
          <p:cNvSpPr txBox="1"/>
          <p:nvPr/>
        </p:nvSpPr>
        <p:spPr>
          <a:xfrm>
            <a:off x="7775252" y="1912683"/>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1</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sp>
        <p:nvSpPr>
          <p:cNvPr id="149" name="文本框 148"/>
          <p:cNvSpPr txBox="1"/>
          <p:nvPr/>
        </p:nvSpPr>
        <p:spPr>
          <a:xfrm>
            <a:off x="10125941" y="1939953"/>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2</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graphicFrame>
        <p:nvGraphicFramePr>
          <p:cNvPr id="124" name="表格 123"/>
          <p:cNvGraphicFramePr>
            <a:graphicFrameLocks noGrp="1"/>
          </p:cNvGraphicFramePr>
          <p:nvPr>
            <p:extLst>
              <p:ext uri="{D42A27DB-BD31-4B8C-83A1-F6EECF244321}">
                <p14:modId xmlns:p14="http://schemas.microsoft.com/office/powerpoint/2010/main" val="3414794927"/>
              </p:ext>
            </p:extLst>
          </p:nvPr>
        </p:nvGraphicFramePr>
        <p:xfrm>
          <a:off x="1496886" y="4350596"/>
          <a:ext cx="2621817" cy="1491917"/>
        </p:xfrm>
        <a:graphic>
          <a:graphicData uri="http://schemas.openxmlformats.org/drawingml/2006/table">
            <a:tbl>
              <a:tblPr firstRow="1" bandRow="1">
                <a:tableStyleId>{5C22544A-7EE6-4342-B048-85BDC9FD1C3A}</a:tableStyleId>
              </a:tblPr>
              <a:tblGrid>
                <a:gridCol w="1001385">
                  <a:extLst>
                    <a:ext uri="{9D8B030D-6E8A-4147-A177-3AD203B41FA5}">
                      <a16:colId xmlns:a16="http://schemas.microsoft.com/office/drawing/2014/main" val="1902036101"/>
                    </a:ext>
                  </a:extLst>
                </a:gridCol>
                <a:gridCol w="540144">
                  <a:extLst>
                    <a:ext uri="{9D8B030D-6E8A-4147-A177-3AD203B41FA5}">
                      <a16:colId xmlns:a16="http://schemas.microsoft.com/office/drawing/2014/main" val="3004369747"/>
                    </a:ext>
                  </a:extLst>
                </a:gridCol>
                <a:gridCol w="540144">
                  <a:extLst>
                    <a:ext uri="{9D8B030D-6E8A-4147-A177-3AD203B41FA5}">
                      <a16:colId xmlns:a16="http://schemas.microsoft.com/office/drawing/2014/main" val="4047528689"/>
                    </a:ext>
                  </a:extLst>
                </a:gridCol>
                <a:gridCol w="540144">
                  <a:extLst>
                    <a:ext uri="{9D8B030D-6E8A-4147-A177-3AD203B41FA5}">
                      <a16:colId xmlns:a16="http://schemas.microsoft.com/office/drawing/2014/main" val="1274628466"/>
                    </a:ext>
                  </a:extLst>
                </a:gridCol>
              </a:tblGrid>
              <a:tr h="495645">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出错列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2</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3</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4</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98136">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B05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98136">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2</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B05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bl>
          </a:graphicData>
        </a:graphic>
      </p:graphicFrame>
      <p:sp>
        <p:nvSpPr>
          <p:cNvPr id="64" name="内容占位符 2"/>
          <p:cNvSpPr txBox="1">
            <a:spLocks/>
          </p:cNvSpPr>
          <p:nvPr/>
        </p:nvSpPr>
        <p:spPr>
          <a:xfrm>
            <a:off x="721895" y="2561509"/>
            <a:ext cx="6388200" cy="1151502"/>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r>
              <a:rPr kumimoji="1" lang="zh-CN" altLang="en-US" sz="2200" dirty="0"/>
              <a:t>例如：组</a:t>
            </a:r>
            <a:r>
              <a:rPr kumimoji="1" lang="en-US" altLang="zh-CN" sz="2200" dirty="0"/>
              <a:t>1</a:t>
            </a:r>
            <a:r>
              <a:rPr kumimoji="1" lang="zh-CN" altLang="en-US" sz="2200" dirty="0"/>
              <a:t>和组</a:t>
            </a:r>
            <a:r>
              <a:rPr kumimoji="1" lang="en-US" altLang="zh-CN" sz="2200" dirty="0"/>
              <a:t>2</a:t>
            </a:r>
            <a:r>
              <a:rPr kumimoji="1" lang="zh-CN" altLang="en-US" sz="2200" dirty="0"/>
              <a:t>校验结果都指明存在错误，</a:t>
            </a:r>
            <a:r>
              <a:rPr kumimoji="1" lang="zh-CN" altLang="en-US" sz="2200" dirty="0">
                <a:solidFill>
                  <a:srgbClr val="C00000"/>
                </a:solidFill>
              </a:rPr>
              <a:t>可定位错误位于第</a:t>
            </a:r>
            <a:r>
              <a:rPr kumimoji="1" lang="en-US" altLang="zh-CN" sz="2200" dirty="0">
                <a:solidFill>
                  <a:srgbClr val="C00000"/>
                </a:solidFill>
              </a:rPr>
              <a:t>4</a:t>
            </a:r>
            <a:r>
              <a:rPr kumimoji="1" lang="zh-CN" altLang="en-US" sz="2200" dirty="0">
                <a:solidFill>
                  <a:srgbClr val="C00000"/>
                </a:solidFill>
              </a:rPr>
              <a:t>列</a:t>
            </a:r>
            <a:endParaRPr kumimoji="1" lang="en-US" altLang="zh-CN" sz="2200" dirty="0">
              <a:solidFill>
                <a:srgbClr val="C00000"/>
              </a:solidFill>
            </a:endParaRPr>
          </a:p>
          <a:p>
            <a:pPr marL="457200" lvl="1" indent="0">
              <a:lnSpc>
                <a:spcPct val="150000"/>
              </a:lnSpc>
              <a:buFont typeface="Arial" panose="020B0604020202020204" pitchFamily="34" charset="0"/>
              <a:buNone/>
            </a:pPr>
            <a:endParaRPr kumimoji="1" lang="en-US" altLang="zh-CN" sz="2200" dirty="0"/>
          </a:p>
        </p:txBody>
      </p:sp>
      <p:sp>
        <p:nvSpPr>
          <p:cNvPr id="65" name="内容占位符 2"/>
          <p:cNvSpPr txBox="1">
            <a:spLocks/>
          </p:cNvSpPr>
          <p:nvPr/>
        </p:nvSpPr>
        <p:spPr>
          <a:xfrm>
            <a:off x="684974" y="3598805"/>
            <a:ext cx="6388200" cy="615987"/>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r>
              <a:rPr kumimoji="1" lang="zh-CN" altLang="en-US" sz="2200" dirty="0"/>
              <a:t>其他出错情况判断</a:t>
            </a:r>
            <a:endParaRPr kumimoji="1" lang="en-US" altLang="zh-CN" sz="2200" dirty="0"/>
          </a:p>
        </p:txBody>
      </p:sp>
    </p:spTree>
    <p:extLst>
      <p:ext uri="{BB962C8B-B14F-4D97-AF65-F5344CB8AC3E}">
        <p14:creationId xmlns:p14="http://schemas.microsoft.com/office/powerpoint/2010/main" val="3324149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1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up)">
                                      <p:cBhvr>
                                        <p:cTn id="12" dur="10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721895" y="1292340"/>
            <a:ext cx="6388200" cy="1269169"/>
          </a:xfrm>
        </p:spPr>
        <p:txBody>
          <a:bodyPr>
            <a:noAutofit/>
          </a:bodyPr>
          <a:lstStyle/>
          <a:p>
            <a:pPr>
              <a:lnSpc>
                <a:spcPct val="150000"/>
              </a:lnSpc>
            </a:pPr>
            <a:r>
              <a:rPr kumimoji="1" lang="zh-CN" altLang="en-US" sz="2600" dirty="0"/>
              <a:t>定位错误与纠正（续）</a:t>
            </a:r>
            <a:endParaRPr kumimoji="1" lang="en-US" altLang="zh-CN" sz="2600" dirty="0"/>
          </a:p>
          <a:p>
            <a:pPr lvl="1">
              <a:lnSpc>
                <a:spcPct val="150000"/>
              </a:lnSpc>
            </a:pPr>
            <a:r>
              <a:rPr kumimoji="1" lang="zh-CN" altLang="en-US" sz="2200" dirty="0"/>
              <a:t>组</a:t>
            </a:r>
            <a:r>
              <a:rPr kumimoji="1" lang="en-US" altLang="zh-CN" sz="2200" dirty="0"/>
              <a:t>3</a:t>
            </a:r>
            <a:r>
              <a:rPr kumimoji="1" lang="zh-CN" altLang="en-US" sz="2200" dirty="0"/>
              <a:t>和组</a:t>
            </a:r>
            <a:r>
              <a:rPr kumimoji="1" lang="en-US" altLang="zh-CN" sz="2200" dirty="0"/>
              <a:t>4</a:t>
            </a:r>
            <a:r>
              <a:rPr kumimoji="1" lang="zh-CN" altLang="en-US" sz="2200" dirty="0"/>
              <a:t>的校验结果可以定位错误所在的行</a:t>
            </a:r>
            <a:endParaRPr kumimoji="1" lang="en-US" altLang="zh-CN" sz="2200" dirty="0"/>
          </a:p>
          <a:p>
            <a:pPr lvl="1">
              <a:lnSpc>
                <a:spcPct val="150000"/>
              </a:lnSpc>
            </a:pPr>
            <a:endParaRPr kumimoji="1" lang="en-US" altLang="zh-CN" sz="2200" dirty="0">
              <a:solidFill>
                <a:srgbClr val="C00000"/>
              </a:solidFill>
            </a:endParaRP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124" name="表格 123"/>
          <p:cNvGraphicFramePr>
            <a:graphicFrameLocks noGrp="1"/>
          </p:cNvGraphicFramePr>
          <p:nvPr>
            <p:extLst>
              <p:ext uri="{D42A27DB-BD31-4B8C-83A1-F6EECF244321}">
                <p14:modId xmlns:p14="http://schemas.microsoft.com/office/powerpoint/2010/main" val="2083200583"/>
              </p:ext>
            </p:extLst>
          </p:nvPr>
        </p:nvGraphicFramePr>
        <p:xfrm>
          <a:off x="4144707" y="4651625"/>
          <a:ext cx="2621817" cy="1491917"/>
        </p:xfrm>
        <a:graphic>
          <a:graphicData uri="http://schemas.openxmlformats.org/drawingml/2006/table">
            <a:tbl>
              <a:tblPr firstRow="1" bandRow="1">
                <a:tableStyleId>{5C22544A-7EE6-4342-B048-85BDC9FD1C3A}</a:tableStyleId>
              </a:tblPr>
              <a:tblGrid>
                <a:gridCol w="1001385">
                  <a:extLst>
                    <a:ext uri="{9D8B030D-6E8A-4147-A177-3AD203B41FA5}">
                      <a16:colId xmlns:a16="http://schemas.microsoft.com/office/drawing/2014/main" val="1902036101"/>
                    </a:ext>
                  </a:extLst>
                </a:gridCol>
                <a:gridCol w="540144">
                  <a:extLst>
                    <a:ext uri="{9D8B030D-6E8A-4147-A177-3AD203B41FA5}">
                      <a16:colId xmlns:a16="http://schemas.microsoft.com/office/drawing/2014/main" val="3004369747"/>
                    </a:ext>
                  </a:extLst>
                </a:gridCol>
                <a:gridCol w="540144">
                  <a:extLst>
                    <a:ext uri="{9D8B030D-6E8A-4147-A177-3AD203B41FA5}">
                      <a16:colId xmlns:a16="http://schemas.microsoft.com/office/drawing/2014/main" val="4047528689"/>
                    </a:ext>
                  </a:extLst>
                </a:gridCol>
                <a:gridCol w="540144">
                  <a:extLst>
                    <a:ext uri="{9D8B030D-6E8A-4147-A177-3AD203B41FA5}">
                      <a16:colId xmlns:a16="http://schemas.microsoft.com/office/drawing/2014/main" val="1274628466"/>
                    </a:ext>
                  </a:extLst>
                </a:gridCol>
              </a:tblGrid>
              <a:tr h="495645">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出错行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2</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3</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4</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98136">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3</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B05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98136">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4</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B05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bl>
          </a:graphicData>
        </a:graphic>
      </p:graphicFrame>
      <p:graphicFrame>
        <p:nvGraphicFramePr>
          <p:cNvPr id="64" name="表格 63"/>
          <p:cNvGraphicFramePr>
            <a:graphicFrameLocks noGrp="1"/>
          </p:cNvGraphicFramePr>
          <p:nvPr/>
        </p:nvGraphicFramePr>
        <p:xfrm>
          <a:off x="7419951" y="2710588"/>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5908191"/>
                  </a:ext>
                </a:extLst>
              </a:tr>
            </a:tbl>
          </a:graphicData>
        </a:graphic>
      </p:graphicFrame>
      <p:graphicFrame>
        <p:nvGraphicFramePr>
          <p:cNvPr id="65" name="表格 64"/>
          <p:cNvGraphicFramePr>
            <a:graphicFrameLocks noGrp="1"/>
          </p:cNvGraphicFramePr>
          <p:nvPr/>
        </p:nvGraphicFramePr>
        <p:xfrm>
          <a:off x="7879980" y="2298819"/>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0</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66" name="文本框 65"/>
          <p:cNvSpPr txBox="1"/>
          <p:nvPr/>
        </p:nvSpPr>
        <p:spPr>
          <a:xfrm>
            <a:off x="8109062" y="25481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8595396" y="253758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0" name="文本框 89"/>
          <p:cNvSpPr txBox="1"/>
          <p:nvPr/>
        </p:nvSpPr>
        <p:spPr>
          <a:xfrm>
            <a:off x="9056399" y="253758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1" name="文本框 90"/>
          <p:cNvSpPr txBox="1"/>
          <p:nvPr/>
        </p:nvSpPr>
        <p:spPr>
          <a:xfrm>
            <a:off x="7644626" y="294958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2" name="文本框 91"/>
          <p:cNvSpPr txBox="1"/>
          <p:nvPr/>
        </p:nvSpPr>
        <p:spPr>
          <a:xfrm>
            <a:off x="8109061" y="29439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3" name="文本框 92"/>
          <p:cNvSpPr txBox="1"/>
          <p:nvPr/>
        </p:nvSpPr>
        <p:spPr>
          <a:xfrm>
            <a:off x="8590019" y="29439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4" name="文本框 93"/>
          <p:cNvSpPr txBox="1"/>
          <p:nvPr/>
        </p:nvSpPr>
        <p:spPr>
          <a:xfrm>
            <a:off x="9056399" y="293755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5" name="文本框 94"/>
          <p:cNvSpPr txBox="1"/>
          <p:nvPr/>
        </p:nvSpPr>
        <p:spPr>
          <a:xfrm>
            <a:off x="7644626" y="334605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6" name="文本框 95"/>
          <p:cNvSpPr txBox="1"/>
          <p:nvPr/>
        </p:nvSpPr>
        <p:spPr>
          <a:xfrm>
            <a:off x="8107507" y="333968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8551919" y="334585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9046550" y="334921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7600620" y="374454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8076201" y="375089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1" name="文本框 100"/>
          <p:cNvSpPr txBox="1"/>
          <p:nvPr/>
        </p:nvSpPr>
        <p:spPr>
          <a:xfrm>
            <a:off x="8558269" y="373828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2" name="文本框 101"/>
          <p:cNvSpPr txBox="1"/>
          <p:nvPr/>
        </p:nvSpPr>
        <p:spPr>
          <a:xfrm>
            <a:off x="9033850" y="373966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aphicFrame>
        <p:nvGraphicFramePr>
          <p:cNvPr id="103" name="表格 102"/>
          <p:cNvGraphicFramePr>
            <a:graphicFrameLocks noGrp="1"/>
          </p:cNvGraphicFramePr>
          <p:nvPr/>
        </p:nvGraphicFramePr>
        <p:xfrm>
          <a:off x="9742354" y="2678420"/>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5908191"/>
                  </a:ext>
                </a:extLst>
              </a:tr>
            </a:tbl>
          </a:graphicData>
        </a:graphic>
      </p:graphicFrame>
      <p:graphicFrame>
        <p:nvGraphicFramePr>
          <p:cNvPr id="104" name="表格 103"/>
          <p:cNvGraphicFramePr>
            <a:graphicFrameLocks noGrp="1"/>
          </p:cNvGraphicFramePr>
          <p:nvPr/>
        </p:nvGraphicFramePr>
        <p:xfrm>
          <a:off x="10202383" y="2266651"/>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0</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105" name="文本框 104"/>
          <p:cNvSpPr txBox="1"/>
          <p:nvPr/>
        </p:nvSpPr>
        <p:spPr>
          <a:xfrm>
            <a:off x="10431465" y="251593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6" name="文本框 105"/>
          <p:cNvSpPr txBox="1"/>
          <p:nvPr/>
        </p:nvSpPr>
        <p:spPr>
          <a:xfrm>
            <a:off x="10917799" y="25054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7" name="文本框 106"/>
          <p:cNvSpPr txBox="1"/>
          <p:nvPr/>
        </p:nvSpPr>
        <p:spPr>
          <a:xfrm>
            <a:off x="11378802" y="250541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8" name="文本框 107"/>
          <p:cNvSpPr txBox="1"/>
          <p:nvPr/>
        </p:nvSpPr>
        <p:spPr>
          <a:xfrm>
            <a:off x="9967029" y="29174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9" name="文本框 108"/>
          <p:cNvSpPr txBox="1"/>
          <p:nvPr/>
        </p:nvSpPr>
        <p:spPr>
          <a:xfrm>
            <a:off x="10431464" y="291173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0" name="文本框 109"/>
          <p:cNvSpPr txBox="1"/>
          <p:nvPr/>
        </p:nvSpPr>
        <p:spPr>
          <a:xfrm>
            <a:off x="10912422" y="291173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1" name="文本框 110"/>
          <p:cNvSpPr txBox="1"/>
          <p:nvPr/>
        </p:nvSpPr>
        <p:spPr>
          <a:xfrm>
            <a:off x="11378802" y="290538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2" name="文本框 111"/>
          <p:cNvSpPr txBox="1"/>
          <p:nvPr/>
        </p:nvSpPr>
        <p:spPr>
          <a:xfrm>
            <a:off x="9967029" y="331388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3" name="文本框 112"/>
          <p:cNvSpPr txBox="1"/>
          <p:nvPr/>
        </p:nvSpPr>
        <p:spPr>
          <a:xfrm>
            <a:off x="10429910" y="330751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4" name="文本框 113"/>
          <p:cNvSpPr txBox="1"/>
          <p:nvPr/>
        </p:nvSpPr>
        <p:spPr>
          <a:xfrm>
            <a:off x="10874322" y="33136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5" name="文本框 114"/>
          <p:cNvSpPr txBox="1"/>
          <p:nvPr/>
        </p:nvSpPr>
        <p:spPr>
          <a:xfrm>
            <a:off x="11368953" y="331704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6" name="文本框 115"/>
          <p:cNvSpPr txBox="1"/>
          <p:nvPr/>
        </p:nvSpPr>
        <p:spPr>
          <a:xfrm>
            <a:off x="9923023" y="371237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7" name="文本框 116"/>
          <p:cNvSpPr txBox="1"/>
          <p:nvPr/>
        </p:nvSpPr>
        <p:spPr>
          <a:xfrm>
            <a:off x="10398604" y="371873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8" name="文本框 117"/>
          <p:cNvSpPr txBox="1"/>
          <p:nvPr/>
        </p:nvSpPr>
        <p:spPr>
          <a:xfrm>
            <a:off x="10880672" y="370611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9" name="文本框 118"/>
          <p:cNvSpPr txBox="1"/>
          <p:nvPr/>
        </p:nvSpPr>
        <p:spPr>
          <a:xfrm>
            <a:off x="11356253" y="370750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0" name="文本框 119"/>
          <p:cNvSpPr txBox="1"/>
          <p:nvPr/>
        </p:nvSpPr>
        <p:spPr>
          <a:xfrm>
            <a:off x="7501086" y="2765809"/>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1</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21" name="文本框 120"/>
          <p:cNvSpPr txBox="1"/>
          <p:nvPr/>
        </p:nvSpPr>
        <p:spPr>
          <a:xfrm>
            <a:off x="9826616" y="3131355"/>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0</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37" name="文本框 136"/>
          <p:cNvSpPr txBox="1"/>
          <p:nvPr/>
        </p:nvSpPr>
        <p:spPr>
          <a:xfrm>
            <a:off x="7879980" y="1897496"/>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3</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sp>
        <p:nvSpPr>
          <p:cNvPr id="138" name="文本框 137"/>
          <p:cNvSpPr txBox="1"/>
          <p:nvPr/>
        </p:nvSpPr>
        <p:spPr>
          <a:xfrm>
            <a:off x="10163180" y="1883672"/>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4</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grpSp>
        <p:nvGrpSpPr>
          <p:cNvPr id="10" name="组合 9"/>
          <p:cNvGrpSpPr/>
          <p:nvPr/>
        </p:nvGrpSpPr>
        <p:grpSpPr>
          <a:xfrm>
            <a:off x="1505776" y="3764103"/>
            <a:ext cx="5616045" cy="430887"/>
            <a:chOff x="1505776" y="3764103"/>
            <a:chExt cx="5616045" cy="430887"/>
          </a:xfrm>
        </p:grpSpPr>
        <p:sp>
          <p:nvSpPr>
            <p:cNvPr id="140" name="右箭头 139"/>
            <p:cNvSpPr/>
            <p:nvPr/>
          </p:nvSpPr>
          <p:spPr>
            <a:xfrm>
              <a:off x="1505776" y="3830677"/>
              <a:ext cx="575687" cy="2961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文本框 140"/>
            <p:cNvSpPr txBox="1"/>
            <p:nvPr/>
          </p:nvSpPr>
          <p:spPr>
            <a:xfrm>
              <a:off x="2081462" y="3764103"/>
              <a:ext cx="5040359" cy="430887"/>
            </a:xfrm>
            <a:prstGeom prst="rect">
              <a:avLst/>
            </a:prstGeom>
            <a:noFill/>
          </p:spPr>
          <p:txBody>
            <a:bodyPr wrap="square" rtlCol="0">
              <a:spAutoFit/>
            </a:bodyPr>
            <a:lstStyle/>
            <a:p>
              <a:r>
                <a:rPr lang="zh-CN" altLang="en-US" sz="2200" dirty="0">
                  <a:solidFill>
                    <a:srgbClr val="C00000"/>
                  </a:solidFill>
                  <a:latin typeface="微软雅黑" panose="020B0503020204020204" pitchFamily="34" charset="-122"/>
                  <a:ea typeface="微软雅黑" panose="020B0503020204020204" pitchFamily="34" charset="-122"/>
                </a:rPr>
                <a:t>结论：错误位于第</a:t>
              </a:r>
              <a:r>
                <a:rPr lang="en-US" altLang="zh-CN" sz="2200" dirty="0">
                  <a:solidFill>
                    <a:srgbClr val="C00000"/>
                  </a:solidFill>
                  <a:latin typeface="微软雅黑" panose="020B0503020204020204" pitchFamily="34" charset="-122"/>
                  <a:ea typeface="微软雅黑" panose="020B0503020204020204" pitchFamily="34" charset="-122"/>
                </a:rPr>
                <a:t>2</a:t>
              </a:r>
              <a:r>
                <a:rPr lang="zh-CN" altLang="en-US" sz="2200" dirty="0">
                  <a:solidFill>
                    <a:srgbClr val="C00000"/>
                  </a:solidFill>
                  <a:latin typeface="微软雅黑" panose="020B0503020204020204" pitchFamily="34" charset="-122"/>
                  <a:ea typeface="微软雅黑" panose="020B0503020204020204" pitchFamily="34" charset="-122"/>
                </a:rPr>
                <a:t>行、第</a:t>
              </a:r>
              <a:r>
                <a:rPr lang="en-US" altLang="zh-CN" sz="2200" dirty="0">
                  <a:solidFill>
                    <a:srgbClr val="C00000"/>
                  </a:solidFill>
                  <a:latin typeface="微软雅黑" panose="020B0503020204020204" pitchFamily="34" charset="-122"/>
                  <a:ea typeface="微软雅黑" panose="020B0503020204020204" pitchFamily="34" charset="-122"/>
                </a:rPr>
                <a:t>4</a:t>
              </a:r>
              <a:r>
                <a:rPr lang="zh-CN" altLang="en-US" sz="2200" dirty="0">
                  <a:solidFill>
                    <a:srgbClr val="C00000"/>
                  </a:solidFill>
                  <a:latin typeface="微软雅黑" panose="020B0503020204020204" pitchFamily="34" charset="-122"/>
                  <a:ea typeface="微软雅黑" panose="020B0503020204020204" pitchFamily="34" charset="-122"/>
                </a:rPr>
                <a:t>列（位置</a:t>
              </a:r>
              <a:r>
                <a:rPr lang="en-US" altLang="zh-CN" sz="2200" dirty="0">
                  <a:solidFill>
                    <a:srgbClr val="C00000"/>
                  </a:solidFill>
                  <a:latin typeface="微软雅黑" panose="020B0503020204020204" pitchFamily="34" charset="-122"/>
                  <a:ea typeface="微软雅黑" panose="020B0503020204020204" pitchFamily="34" charset="-122"/>
                </a:rPr>
                <a:t>7</a:t>
              </a:r>
              <a:r>
                <a:rPr lang="zh-CN" altLang="en-US" sz="2000" dirty="0">
                  <a:solidFill>
                    <a:srgbClr val="C00000"/>
                  </a:solidFill>
                  <a:latin typeface="微软雅黑" panose="020B0503020204020204" pitchFamily="34" charset="-122"/>
                  <a:ea typeface="微软雅黑" panose="020B0503020204020204" pitchFamily="34" charset="-122"/>
                </a:rPr>
                <a:t>）</a:t>
              </a:r>
            </a:p>
          </p:txBody>
        </p:sp>
      </p:grpSp>
      <p:grpSp>
        <p:nvGrpSpPr>
          <p:cNvPr id="18" name="组合 17"/>
          <p:cNvGrpSpPr/>
          <p:nvPr/>
        </p:nvGrpSpPr>
        <p:grpSpPr>
          <a:xfrm>
            <a:off x="7581850" y="2964312"/>
            <a:ext cx="1529946" cy="2208305"/>
            <a:chOff x="7581850" y="2964312"/>
            <a:chExt cx="1529946" cy="2208305"/>
          </a:xfrm>
        </p:grpSpPr>
        <p:grpSp>
          <p:nvGrpSpPr>
            <p:cNvPr id="122" name="组合 121"/>
            <p:cNvGrpSpPr/>
            <p:nvPr/>
          </p:nvGrpSpPr>
          <p:grpSpPr>
            <a:xfrm>
              <a:off x="7896408" y="2964312"/>
              <a:ext cx="1215388" cy="2208305"/>
              <a:chOff x="1892787" y="3671763"/>
              <a:chExt cx="1215388" cy="2208305"/>
            </a:xfrm>
          </p:grpSpPr>
          <p:sp>
            <p:nvSpPr>
              <p:cNvPr id="123" name="文本框 122"/>
              <p:cNvSpPr txBox="1"/>
              <p:nvPr/>
            </p:nvSpPr>
            <p:spPr>
              <a:xfrm>
                <a:off x="1892787" y="5233737"/>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zh-CN" altLang="en-US" dirty="0">
                    <a:latin typeface="微软雅黑" panose="020B0503020204020204" pitchFamily="34" charset="-122"/>
                    <a:ea typeface="微软雅黑" panose="020B0503020204020204" pitchFamily="34" charset="-122"/>
                  </a:rPr>
                  <a:t>有错误</a:t>
                </a:r>
              </a:p>
            </p:txBody>
          </p:sp>
          <p:cxnSp>
            <p:nvCxnSpPr>
              <p:cNvPr id="126" name="直接连接符 125"/>
              <p:cNvCxnSpPr>
                <a:endCxn id="123" idx="0"/>
              </p:cNvCxnSpPr>
              <p:nvPr/>
            </p:nvCxnSpPr>
            <p:spPr>
              <a:xfrm>
                <a:off x="2108058" y="3671763"/>
                <a:ext cx="392423" cy="15619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endCxn id="123" idx="0"/>
              </p:cNvCxnSpPr>
              <p:nvPr/>
            </p:nvCxnSpPr>
            <p:spPr>
              <a:xfrm>
                <a:off x="2089008" y="4532943"/>
                <a:ext cx="411473" cy="70079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9" name="直接连接符 128"/>
              <p:cNvCxnSpPr>
                <a:endCxn id="123" idx="0"/>
              </p:cNvCxnSpPr>
              <p:nvPr/>
            </p:nvCxnSpPr>
            <p:spPr>
              <a:xfrm flipH="1">
                <a:off x="2500481" y="4463363"/>
                <a:ext cx="539828" cy="770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143" name="直接连接符 142"/>
            <p:cNvCxnSpPr>
              <a:endCxn id="123" idx="0"/>
            </p:cNvCxnSpPr>
            <p:nvPr/>
          </p:nvCxnSpPr>
          <p:spPr>
            <a:xfrm>
              <a:off x="7581850" y="3786053"/>
              <a:ext cx="922252" cy="740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9923023" y="3408354"/>
            <a:ext cx="1534045" cy="1761446"/>
            <a:chOff x="9923023" y="3408354"/>
            <a:chExt cx="1534045" cy="1761446"/>
          </a:xfrm>
        </p:grpSpPr>
        <p:grpSp>
          <p:nvGrpSpPr>
            <p:cNvPr id="132" name="组合 131"/>
            <p:cNvGrpSpPr/>
            <p:nvPr/>
          </p:nvGrpSpPr>
          <p:grpSpPr>
            <a:xfrm>
              <a:off x="10241680" y="3411462"/>
              <a:ext cx="1215388" cy="1758338"/>
              <a:chOff x="1892787" y="4121730"/>
              <a:chExt cx="1215388" cy="1758338"/>
            </a:xfrm>
          </p:grpSpPr>
          <p:sp>
            <p:nvSpPr>
              <p:cNvPr id="133" name="文本框 132"/>
              <p:cNvSpPr txBox="1"/>
              <p:nvPr/>
            </p:nvSpPr>
            <p:spPr>
              <a:xfrm>
                <a:off x="1892787" y="5233737"/>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zh-CN" altLang="en-US" dirty="0">
                    <a:latin typeface="微软雅黑" panose="020B0503020204020204" pitchFamily="34" charset="-122"/>
                    <a:ea typeface="微软雅黑" panose="020B0503020204020204" pitchFamily="34" charset="-122"/>
                  </a:rPr>
                  <a:t>无错误</a:t>
                </a:r>
              </a:p>
            </p:txBody>
          </p:sp>
          <p:cxnSp>
            <p:nvCxnSpPr>
              <p:cNvPr id="134" name="直接连接符 133"/>
              <p:cNvCxnSpPr>
                <a:endCxn id="133" idx="0"/>
              </p:cNvCxnSpPr>
              <p:nvPr/>
            </p:nvCxnSpPr>
            <p:spPr>
              <a:xfrm>
                <a:off x="2120314" y="4121730"/>
                <a:ext cx="380167" cy="111200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5" name="直接连接符 134"/>
              <p:cNvCxnSpPr>
                <a:endCxn id="133" idx="0"/>
              </p:cNvCxnSpPr>
              <p:nvPr/>
            </p:nvCxnSpPr>
            <p:spPr>
              <a:xfrm>
                <a:off x="2089008" y="4532943"/>
                <a:ext cx="411473" cy="70079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6" name="直接连接符 135"/>
              <p:cNvCxnSpPr>
                <a:endCxn id="133" idx="0"/>
              </p:cNvCxnSpPr>
              <p:nvPr/>
            </p:nvCxnSpPr>
            <p:spPr>
              <a:xfrm flipH="1">
                <a:off x="2500481" y="4463363"/>
                <a:ext cx="539828" cy="770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139" name="直接连接符 138"/>
            <p:cNvCxnSpPr>
              <a:stCxn id="121" idx="2"/>
              <a:endCxn id="133" idx="0"/>
            </p:cNvCxnSpPr>
            <p:nvPr/>
          </p:nvCxnSpPr>
          <p:spPr>
            <a:xfrm>
              <a:off x="9970156" y="3408354"/>
              <a:ext cx="879218" cy="111511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4" name="直接连接符 143"/>
            <p:cNvCxnSpPr>
              <a:stCxn id="116" idx="1"/>
              <a:endCxn id="133" idx="0"/>
            </p:cNvCxnSpPr>
            <p:nvPr/>
          </p:nvCxnSpPr>
          <p:spPr>
            <a:xfrm>
              <a:off x="9923023" y="3804706"/>
              <a:ext cx="926351" cy="718763"/>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63" name="内容占位符 2"/>
          <p:cNvSpPr txBox="1">
            <a:spLocks/>
          </p:cNvSpPr>
          <p:nvPr/>
        </p:nvSpPr>
        <p:spPr>
          <a:xfrm>
            <a:off x="721895" y="2561509"/>
            <a:ext cx="6388200" cy="1151502"/>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r>
              <a:rPr kumimoji="1" lang="zh-CN" altLang="en-US" sz="2200" dirty="0"/>
              <a:t>例如：组</a:t>
            </a:r>
            <a:r>
              <a:rPr kumimoji="1" lang="en-US" altLang="zh-CN" sz="2200" dirty="0"/>
              <a:t>3</a:t>
            </a:r>
            <a:r>
              <a:rPr kumimoji="1" lang="zh-CN" altLang="en-US" sz="2200" dirty="0"/>
              <a:t>校验结果指明存在错误，组</a:t>
            </a:r>
            <a:r>
              <a:rPr kumimoji="1" lang="en-US" altLang="zh-CN" sz="2200" dirty="0"/>
              <a:t>4</a:t>
            </a:r>
            <a:r>
              <a:rPr kumimoji="1" lang="zh-CN" altLang="en-US" sz="2200" dirty="0"/>
              <a:t>校验结果指明无错误，</a:t>
            </a:r>
            <a:r>
              <a:rPr kumimoji="1" lang="zh-CN" altLang="en-US" sz="2200" dirty="0">
                <a:solidFill>
                  <a:srgbClr val="C00000"/>
                </a:solidFill>
              </a:rPr>
              <a:t>可定位错误位于第</a:t>
            </a:r>
            <a:r>
              <a:rPr kumimoji="1" lang="en-US" altLang="zh-CN" sz="2200" dirty="0">
                <a:solidFill>
                  <a:srgbClr val="C00000"/>
                </a:solidFill>
              </a:rPr>
              <a:t>2</a:t>
            </a:r>
            <a:r>
              <a:rPr kumimoji="1" lang="zh-CN" altLang="en-US" sz="2200" dirty="0">
                <a:solidFill>
                  <a:srgbClr val="C00000"/>
                </a:solidFill>
              </a:rPr>
              <a:t>行</a:t>
            </a:r>
            <a:endParaRPr kumimoji="1" lang="en-US" altLang="zh-CN" sz="2200" dirty="0"/>
          </a:p>
        </p:txBody>
      </p:sp>
      <p:sp>
        <p:nvSpPr>
          <p:cNvPr id="68" name="内容占位符 2"/>
          <p:cNvSpPr txBox="1">
            <a:spLocks/>
          </p:cNvSpPr>
          <p:nvPr/>
        </p:nvSpPr>
        <p:spPr>
          <a:xfrm>
            <a:off x="733621" y="4466523"/>
            <a:ext cx="3403299" cy="615987"/>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r>
              <a:rPr kumimoji="1" lang="zh-CN" altLang="en-US" sz="2200" dirty="0"/>
              <a:t>其他出错情况判断</a:t>
            </a:r>
            <a:endParaRPr kumimoji="1" lang="en-US" altLang="zh-CN" sz="2200" dirty="0"/>
          </a:p>
        </p:txBody>
      </p:sp>
    </p:spTree>
    <p:extLst>
      <p:ext uri="{BB962C8B-B14F-4D97-AF65-F5344CB8AC3E}">
        <p14:creationId xmlns:p14="http://schemas.microsoft.com/office/powerpoint/2010/main" val="241512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8"/>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721894" y="1453663"/>
            <a:ext cx="10473643" cy="1055076"/>
          </a:xfrm>
        </p:spPr>
        <p:txBody>
          <a:bodyPr>
            <a:noAutofit/>
          </a:bodyPr>
          <a:lstStyle/>
          <a:p>
            <a:pPr>
              <a:lnSpc>
                <a:spcPts val="3000"/>
              </a:lnSpc>
              <a:spcBef>
                <a:spcPts val="1200"/>
              </a:spcBef>
            </a:pPr>
            <a:r>
              <a:rPr kumimoji="1" lang="zh-CN" altLang="en-US" sz="2600" dirty="0"/>
              <a:t>定位错误与纠正（续）</a:t>
            </a:r>
            <a:endParaRPr kumimoji="1" lang="en-US" altLang="zh-CN" sz="2600" dirty="0"/>
          </a:p>
          <a:p>
            <a:pPr lvl="1">
              <a:lnSpc>
                <a:spcPts val="3000"/>
              </a:lnSpc>
              <a:spcBef>
                <a:spcPts val="1200"/>
              </a:spcBef>
            </a:pPr>
            <a:r>
              <a:rPr kumimoji="1" lang="zh-CN" altLang="en-US" sz="2200" dirty="0"/>
              <a:t>总体的定位错误列表</a:t>
            </a:r>
            <a:endParaRPr kumimoji="1" lang="en-US" altLang="zh-CN" sz="2200" dirty="0"/>
          </a:p>
          <a:p>
            <a:pPr marL="457200" lvl="1" indent="0">
              <a:lnSpc>
                <a:spcPts val="3000"/>
              </a:lnSpc>
              <a:buNone/>
            </a:pPr>
            <a:endParaRPr kumimoji="1" lang="en-US" altLang="zh-CN"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58" name="表格 57"/>
          <p:cNvGraphicFramePr>
            <a:graphicFrameLocks noGrp="1"/>
          </p:cNvGraphicFramePr>
          <p:nvPr>
            <p:extLst>
              <p:ext uri="{D42A27DB-BD31-4B8C-83A1-F6EECF244321}">
                <p14:modId xmlns:p14="http://schemas.microsoft.com/office/powerpoint/2010/main" val="3586247748"/>
              </p:ext>
            </p:extLst>
          </p:nvPr>
        </p:nvGraphicFramePr>
        <p:xfrm>
          <a:off x="1307508" y="2656844"/>
          <a:ext cx="9126031" cy="2627270"/>
        </p:xfrm>
        <a:graphic>
          <a:graphicData uri="http://schemas.openxmlformats.org/drawingml/2006/table">
            <a:tbl>
              <a:tblPr firstRow="1" bandRow="1">
                <a:tableStyleId>{5C22544A-7EE6-4342-B048-85BDC9FD1C3A}</a:tableStyleId>
              </a:tblPr>
              <a:tblGrid>
                <a:gridCol w="1274671">
                  <a:extLst>
                    <a:ext uri="{9D8B030D-6E8A-4147-A177-3AD203B41FA5}">
                      <a16:colId xmlns:a16="http://schemas.microsoft.com/office/drawing/2014/main" val="1902036101"/>
                    </a:ext>
                  </a:extLst>
                </a:gridCol>
                <a:gridCol w="523424">
                  <a:extLst>
                    <a:ext uri="{9D8B030D-6E8A-4147-A177-3AD203B41FA5}">
                      <a16:colId xmlns:a16="http://schemas.microsoft.com/office/drawing/2014/main" val="1559130576"/>
                    </a:ext>
                  </a:extLst>
                </a:gridCol>
                <a:gridCol w="523424">
                  <a:extLst>
                    <a:ext uri="{9D8B030D-6E8A-4147-A177-3AD203B41FA5}">
                      <a16:colId xmlns:a16="http://schemas.microsoft.com/office/drawing/2014/main" val="3004369747"/>
                    </a:ext>
                  </a:extLst>
                </a:gridCol>
                <a:gridCol w="523424">
                  <a:extLst>
                    <a:ext uri="{9D8B030D-6E8A-4147-A177-3AD203B41FA5}">
                      <a16:colId xmlns:a16="http://schemas.microsoft.com/office/drawing/2014/main" val="4047528689"/>
                    </a:ext>
                  </a:extLst>
                </a:gridCol>
                <a:gridCol w="523424">
                  <a:extLst>
                    <a:ext uri="{9D8B030D-6E8A-4147-A177-3AD203B41FA5}">
                      <a16:colId xmlns:a16="http://schemas.microsoft.com/office/drawing/2014/main" val="1274628466"/>
                    </a:ext>
                  </a:extLst>
                </a:gridCol>
                <a:gridCol w="523424">
                  <a:extLst>
                    <a:ext uri="{9D8B030D-6E8A-4147-A177-3AD203B41FA5}">
                      <a16:colId xmlns:a16="http://schemas.microsoft.com/office/drawing/2014/main" val="993839259"/>
                    </a:ext>
                  </a:extLst>
                </a:gridCol>
                <a:gridCol w="523424">
                  <a:extLst>
                    <a:ext uri="{9D8B030D-6E8A-4147-A177-3AD203B41FA5}">
                      <a16:colId xmlns:a16="http://schemas.microsoft.com/office/drawing/2014/main" val="1627099323"/>
                    </a:ext>
                  </a:extLst>
                </a:gridCol>
                <a:gridCol w="523424">
                  <a:extLst>
                    <a:ext uri="{9D8B030D-6E8A-4147-A177-3AD203B41FA5}">
                      <a16:colId xmlns:a16="http://schemas.microsoft.com/office/drawing/2014/main" val="430151849"/>
                    </a:ext>
                  </a:extLst>
                </a:gridCol>
                <a:gridCol w="523424">
                  <a:extLst>
                    <a:ext uri="{9D8B030D-6E8A-4147-A177-3AD203B41FA5}">
                      <a16:colId xmlns:a16="http://schemas.microsoft.com/office/drawing/2014/main" val="1531679931"/>
                    </a:ext>
                  </a:extLst>
                </a:gridCol>
                <a:gridCol w="523424">
                  <a:extLst>
                    <a:ext uri="{9D8B030D-6E8A-4147-A177-3AD203B41FA5}">
                      <a16:colId xmlns:a16="http://schemas.microsoft.com/office/drawing/2014/main" val="363720370"/>
                    </a:ext>
                  </a:extLst>
                </a:gridCol>
                <a:gridCol w="523424">
                  <a:extLst>
                    <a:ext uri="{9D8B030D-6E8A-4147-A177-3AD203B41FA5}">
                      <a16:colId xmlns:a16="http://schemas.microsoft.com/office/drawing/2014/main" val="1738521477"/>
                    </a:ext>
                  </a:extLst>
                </a:gridCol>
                <a:gridCol w="523424">
                  <a:extLst>
                    <a:ext uri="{9D8B030D-6E8A-4147-A177-3AD203B41FA5}">
                      <a16:colId xmlns:a16="http://schemas.microsoft.com/office/drawing/2014/main" val="579245530"/>
                    </a:ext>
                  </a:extLst>
                </a:gridCol>
                <a:gridCol w="523424">
                  <a:extLst>
                    <a:ext uri="{9D8B030D-6E8A-4147-A177-3AD203B41FA5}">
                      <a16:colId xmlns:a16="http://schemas.microsoft.com/office/drawing/2014/main" val="364452719"/>
                    </a:ext>
                  </a:extLst>
                </a:gridCol>
                <a:gridCol w="523424">
                  <a:extLst>
                    <a:ext uri="{9D8B030D-6E8A-4147-A177-3AD203B41FA5}">
                      <a16:colId xmlns:a16="http://schemas.microsoft.com/office/drawing/2014/main" val="1148415329"/>
                    </a:ext>
                  </a:extLst>
                </a:gridCol>
                <a:gridCol w="523424">
                  <a:extLst>
                    <a:ext uri="{9D8B030D-6E8A-4147-A177-3AD203B41FA5}">
                      <a16:colId xmlns:a16="http://schemas.microsoft.com/office/drawing/2014/main" val="566988405"/>
                    </a:ext>
                  </a:extLst>
                </a:gridCol>
                <a:gridCol w="523424">
                  <a:extLst>
                    <a:ext uri="{9D8B030D-6E8A-4147-A177-3AD203B41FA5}">
                      <a16:colId xmlns:a16="http://schemas.microsoft.com/office/drawing/2014/main" val="3201494842"/>
                    </a:ext>
                  </a:extLst>
                </a:gridCol>
              </a:tblGrid>
              <a:tr h="525454">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出错位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2</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3</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4</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5</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6</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7</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8</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9</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12</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13</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14</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15</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525454">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525454">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2</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525454">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3</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962773"/>
                  </a:ext>
                </a:extLst>
              </a:tr>
              <a:tr h="525454">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4</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47633554"/>
                  </a:ext>
                </a:extLst>
              </a:tr>
            </a:tbl>
          </a:graphicData>
        </a:graphic>
      </p:graphicFrame>
    </p:spTree>
    <p:extLst>
      <p:ext uri="{BB962C8B-B14F-4D97-AF65-F5344CB8AC3E}">
        <p14:creationId xmlns:p14="http://schemas.microsoft.com/office/powerpoint/2010/main" val="18951846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838200" y="1383632"/>
            <a:ext cx="10515600" cy="4872789"/>
          </a:xfrm>
        </p:spPr>
        <p:txBody>
          <a:bodyPr>
            <a:noAutofit/>
          </a:bodyPr>
          <a:lstStyle/>
          <a:p>
            <a:pPr>
              <a:lnSpc>
                <a:spcPts val="3300"/>
              </a:lnSpc>
            </a:pPr>
            <a:r>
              <a:rPr lang="zh-CN" altLang="en-US" sz="2600" dirty="0">
                <a:sym typeface="Symbol" panose="05050102010706020507" pitchFamily="18" charset="2"/>
              </a:rPr>
              <a:t>海明码纠正的实现过程</a:t>
            </a:r>
          </a:p>
          <a:p>
            <a:pPr lvl="1">
              <a:lnSpc>
                <a:spcPts val="3300"/>
              </a:lnSpc>
            </a:pPr>
            <a:r>
              <a:rPr lang="zh-CN" altLang="en-US" sz="2200" dirty="0"/>
              <a:t>每个码字到来前，接收方计数器清零</a:t>
            </a:r>
          </a:p>
          <a:p>
            <a:pPr lvl="1">
              <a:lnSpc>
                <a:spcPts val="3300"/>
              </a:lnSpc>
            </a:pPr>
            <a:r>
              <a:rPr lang="zh-CN" altLang="en-US" sz="2200" dirty="0"/>
              <a:t>接收方检查每个校验位</a:t>
            </a:r>
            <a:r>
              <a:rPr lang="en-US" altLang="zh-CN" sz="2200" dirty="0"/>
              <a:t>k (k = 1, 2, 4 …)</a:t>
            </a:r>
            <a:r>
              <a:rPr lang="zh-CN" altLang="en-US" sz="2200" dirty="0"/>
              <a:t>的奇偶值是否正确（每组运算）</a:t>
            </a:r>
          </a:p>
          <a:p>
            <a:pPr lvl="1">
              <a:lnSpc>
                <a:spcPts val="3300"/>
              </a:lnSpc>
            </a:pPr>
            <a:r>
              <a:rPr lang="zh-CN" altLang="en-US" sz="2200" dirty="0"/>
              <a:t>若 </a:t>
            </a:r>
            <a:r>
              <a:rPr lang="en-US" altLang="zh-CN" sz="2200" dirty="0" err="1"/>
              <a:t>pk</a:t>
            </a:r>
            <a:r>
              <a:rPr lang="en-US" altLang="zh-CN" sz="2200" dirty="0"/>
              <a:t> </a:t>
            </a:r>
            <a:r>
              <a:rPr lang="zh-CN" altLang="en-US" sz="2200" dirty="0"/>
              <a:t>奇偶值不对，计数器加 </a:t>
            </a:r>
            <a:r>
              <a:rPr lang="en-US" altLang="zh-CN" sz="2200" dirty="0"/>
              <a:t>k</a:t>
            </a:r>
          </a:p>
          <a:p>
            <a:pPr lvl="1">
              <a:lnSpc>
                <a:spcPts val="3300"/>
              </a:lnSpc>
            </a:pPr>
            <a:r>
              <a:rPr lang="zh-CN" altLang="en-US" sz="2200" dirty="0"/>
              <a:t>所有校验位检查完后，若计数器值为</a:t>
            </a:r>
            <a:r>
              <a:rPr lang="en-US" altLang="zh-CN" sz="2200" dirty="0"/>
              <a:t>0</a:t>
            </a:r>
            <a:r>
              <a:rPr lang="zh-CN" altLang="en-US" sz="2200" dirty="0"/>
              <a:t>，则码字有效；若计数器值为 </a:t>
            </a:r>
            <a:r>
              <a:rPr lang="en-US" altLang="zh-CN" sz="2200" dirty="0"/>
              <a:t>j</a:t>
            </a:r>
            <a:r>
              <a:rPr lang="zh-CN" altLang="en-US" sz="2200" dirty="0"/>
              <a:t>，则第 </a:t>
            </a:r>
            <a:r>
              <a:rPr lang="en-US" altLang="zh-CN" sz="2200" dirty="0"/>
              <a:t>j </a:t>
            </a:r>
            <a:r>
              <a:rPr lang="zh-CN" altLang="en-US" sz="2200" dirty="0"/>
              <a:t>位出错。例：若校验位</a:t>
            </a:r>
            <a:r>
              <a:rPr lang="en-US" altLang="zh-CN" sz="2200" dirty="0"/>
              <a:t>p1</a:t>
            </a:r>
            <a:r>
              <a:rPr lang="zh-CN" altLang="en-US" sz="2200" dirty="0"/>
              <a:t>、</a:t>
            </a:r>
            <a:r>
              <a:rPr lang="en-US" altLang="zh-CN" sz="2200" dirty="0"/>
              <a:t>p2</a:t>
            </a:r>
            <a:r>
              <a:rPr lang="zh-CN" altLang="en-US" sz="2200" dirty="0"/>
              <a:t>、</a:t>
            </a:r>
            <a:r>
              <a:rPr lang="en-US" altLang="zh-CN" sz="2200" dirty="0"/>
              <a:t>p8</a:t>
            </a:r>
            <a:r>
              <a:rPr lang="zh-CN" altLang="en-US" sz="2200" dirty="0"/>
              <a:t>出错，则第</a:t>
            </a:r>
            <a:r>
              <a:rPr lang="en-US" altLang="zh-CN" sz="2200" dirty="0"/>
              <a:t>11</a:t>
            </a:r>
            <a:r>
              <a:rPr lang="zh-CN" altLang="en-US" sz="2200" dirty="0"/>
              <a:t>位变反</a:t>
            </a:r>
          </a:p>
          <a:p>
            <a:pPr>
              <a:lnSpc>
                <a:spcPts val="3300"/>
              </a:lnSpc>
              <a:spcBef>
                <a:spcPts val="1200"/>
              </a:spcBef>
            </a:pPr>
            <a:r>
              <a:rPr lang="zh-CN" altLang="en-US" sz="2600" dirty="0"/>
              <a:t>使用海明码纠正突发错误</a:t>
            </a:r>
          </a:p>
          <a:p>
            <a:pPr lvl="1">
              <a:lnSpc>
                <a:spcPts val="3300"/>
              </a:lnSpc>
            </a:pPr>
            <a:r>
              <a:rPr lang="zh-CN" altLang="en-US" sz="2200" dirty="0"/>
              <a:t>可采用</a:t>
            </a:r>
            <a:r>
              <a:rPr lang="en-US" altLang="zh-CN" sz="2200" dirty="0"/>
              <a:t>k</a:t>
            </a:r>
            <a:r>
              <a:rPr lang="zh-CN" altLang="en-US" sz="2200" dirty="0"/>
              <a:t>个码字（</a:t>
            </a:r>
            <a:r>
              <a:rPr lang="en-US" altLang="zh-CN" sz="2200" dirty="0"/>
              <a:t>n = m + r</a:t>
            </a:r>
            <a:r>
              <a:rPr lang="zh-CN" altLang="en-US" sz="2200" dirty="0"/>
              <a:t>）</a:t>
            </a:r>
            <a:r>
              <a:rPr lang="zh-CN" altLang="zh-CN" sz="2200" dirty="0"/>
              <a:t>组成</a:t>
            </a:r>
            <a:r>
              <a:rPr lang="zh-CN" altLang="en-US" sz="2200" dirty="0"/>
              <a:t> </a:t>
            </a:r>
            <a:r>
              <a:rPr lang="en-US" altLang="zh-CN" sz="2200" dirty="0"/>
              <a:t>k </a:t>
            </a:r>
            <a:r>
              <a:rPr lang="en-US" altLang="zh-CN" sz="2200" dirty="0">
                <a:sym typeface="Symbol" panose="05050102010706020507" pitchFamily="18" charset="2"/>
              </a:rPr>
              <a:t> n </a:t>
            </a:r>
            <a:r>
              <a:rPr lang="zh-CN" altLang="en-US" sz="2200" dirty="0">
                <a:sym typeface="Symbol" panose="05050102010706020507" pitchFamily="18" charset="2"/>
              </a:rPr>
              <a:t>矩阵，按列发送，接收方恢复成</a:t>
            </a:r>
            <a:r>
              <a:rPr lang="zh-CN" altLang="en-US" sz="2200" dirty="0"/>
              <a:t> </a:t>
            </a:r>
            <a:r>
              <a:rPr lang="en-US" altLang="zh-CN" sz="2200" dirty="0"/>
              <a:t>k </a:t>
            </a:r>
            <a:r>
              <a:rPr lang="en-US" altLang="zh-CN" sz="2200" dirty="0">
                <a:sym typeface="Symbol" panose="05050102010706020507" pitchFamily="18" charset="2"/>
              </a:rPr>
              <a:t> n </a:t>
            </a:r>
            <a:r>
              <a:rPr lang="zh-CN" altLang="en-US" sz="2200" dirty="0">
                <a:sym typeface="Symbol" panose="05050102010706020507" pitchFamily="18" charset="2"/>
              </a:rPr>
              <a:t>矩阵</a:t>
            </a:r>
          </a:p>
          <a:p>
            <a:pPr lvl="1">
              <a:lnSpc>
                <a:spcPts val="3300"/>
              </a:lnSpc>
            </a:pPr>
            <a:r>
              <a:rPr lang="en-US" altLang="zh-CN" sz="2200" dirty="0" err="1">
                <a:sym typeface="Symbol" panose="05050102010706020507" pitchFamily="18" charset="2"/>
              </a:rPr>
              <a:t>kr</a:t>
            </a:r>
            <a:r>
              <a:rPr lang="zh-CN" altLang="zh-CN" sz="2200" dirty="0">
                <a:sym typeface="Symbol" panose="05050102010706020507" pitchFamily="18" charset="2"/>
              </a:rPr>
              <a:t>个校验位，</a:t>
            </a:r>
            <a:r>
              <a:rPr lang="en-US" altLang="zh-CN" sz="2200" dirty="0">
                <a:sym typeface="Symbol" panose="05050102010706020507" pitchFamily="18" charset="2"/>
              </a:rPr>
              <a:t>km</a:t>
            </a:r>
            <a:r>
              <a:rPr lang="zh-CN" altLang="zh-CN" sz="2200" dirty="0">
                <a:sym typeface="Symbol" panose="05050102010706020507" pitchFamily="18" charset="2"/>
              </a:rPr>
              <a:t>个数据位，可纠正最多为</a:t>
            </a:r>
            <a:r>
              <a:rPr lang="en-US" altLang="zh-CN" sz="2200" dirty="0">
                <a:sym typeface="Symbol" panose="05050102010706020507" pitchFamily="18" charset="2"/>
              </a:rPr>
              <a:t>k</a:t>
            </a:r>
            <a:r>
              <a:rPr lang="zh-CN" altLang="zh-CN" sz="2200" dirty="0">
                <a:sym typeface="Symbol" panose="05050102010706020507" pitchFamily="18" charset="2"/>
              </a:rPr>
              <a:t>个的突发性连续比特错</a:t>
            </a:r>
            <a:endParaRPr lang="zh-CN" altLang="en-US"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6" name="文本框 5">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Tree>
    <p:extLst>
      <p:ext uri="{BB962C8B-B14F-4D97-AF65-F5344CB8AC3E}">
        <p14:creationId xmlns:p14="http://schemas.microsoft.com/office/powerpoint/2010/main" val="7035304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lang="zh-CN" altLang="en-US" sz="2400" dirty="0">
              <a:latin typeface="微软雅黑" panose="020B0503020204020204" pitchFamily="34" charset="-122"/>
              <a:ea typeface="微软雅黑" panose="020B0503020204020204" pitchFamily="34" charset="-122"/>
            </a:endParaRPr>
          </a:p>
          <a:p>
            <a:pPr marL="0" indent="0">
              <a:lnSpc>
                <a:spcPct val="130000"/>
              </a:lnSpc>
              <a:buNone/>
            </a:pPr>
            <a:r>
              <a:rPr kumimoji="1" lang="en-US" altLang="zh-CN" dirty="0">
                <a:solidFill>
                  <a:srgbClr val="C00000"/>
                </a:solidFill>
              </a:rPr>
              <a:t>3.5 </a:t>
            </a:r>
            <a:r>
              <a:rPr kumimoji="1" lang="zh-CN" altLang="zh-CN" dirty="0">
                <a:solidFill>
                  <a:srgbClr val="C00000"/>
                </a:solidFill>
              </a:rPr>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631543" y="3048001"/>
            <a:ext cx="4768770" cy="1219200"/>
          </a:xfrm>
          <a:prstGeom prst="wedgeRectCallout">
            <a:avLst>
              <a:gd name="adj1" fmla="val -74949"/>
              <a:gd name="adj2" fmla="val 5408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1200"/>
              </a:spcBef>
              <a:buFontTx/>
              <a:buAutoNum type="arabicPeriod"/>
            </a:pPr>
            <a:r>
              <a:rPr lang="zh-CN" altLang="en-US" sz="2400" dirty="0">
                <a:solidFill>
                  <a:srgbClr val="C00000"/>
                </a:solidFill>
                <a:latin typeface="微软雅黑" panose="020B0503020204020204" pitchFamily="34" charset="-122"/>
                <a:ea typeface="微软雅黑" panose="020B0503020204020204" pitchFamily="34" charset="-122"/>
              </a:rPr>
              <a:t>点到点链路层协议</a:t>
            </a:r>
            <a:r>
              <a:rPr lang="en-US" altLang="zh-CN" sz="2400" dirty="0">
                <a:solidFill>
                  <a:srgbClr val="C00000"/>
                </a:solidFill>
                <a:latin typeface="微软雅黑" panose="020B0503020204020204" pitchFamily="34" charset="-122"/>
                <a:ea typeface="微软雅黑" panose="020B0503020204020204" pitchFamily="34" charset="-122"/>
              </a:rPr>
              <a:t>PPP</a:t>
            </a:r>
          </a:p>
          <a:p>
            <a:pPr marL="457200" indent="-457200">
              <a:spcBef>
                <a:spcPts val="1200"/>
              </a:spcBef>
              <a:buFontTx/>
              <a:buAutoNum type="arabicPeriod"/>
            </a:pPr>
            <a:r>
              <a:rPr lang="en-US" altLang="zh-CN" sz="2400" dirty="0" err="1">
                <a:solidFill>
                  <a:schemeClr val="tx1"/>
                </a:solidFill>
                <a:latin typeface="微软雅黑" panose="020B0503020204020204" pitchFamily="34" charset="-122"/>
                <a:ea typeface="微软雅黑" panose="020B0503020204020204" pitchFamily="34" charset="-122"/>
              </a:rPr>
              <a:t>PPPoE</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200594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协议简介</a:t>
            </a:r>
          </a:p>
        </p:txBody>
      </p:sp>
      <p:sp>
        <p:nvSpPr>
          <p:cNvPr id="3" name="内容占位符 2"/>
          <p:cNvSpPr>
            <a:spLocks noGrp="1"/>
          </p:cNvSpPr>
          <p:nvPr>
            <p:ph idx="1"/>
          </p:nvPr>
        </p:nvSpPr>
        <p:spPr>
          <a:xfrm>
            <a:off x="838200" y="1397000"/>
            <a:ext cx="10515600" cy="4446064"/>
          </a:xfrm>
        </p:spPr>
        <p:txBody>
          <a:bodyPr>
            <a:normAutofit/>
          </a:bodyPr>
          <a:lstStyle/>
          <a:p>
            <a:pPr>
              <a:lnSpc>
                <a:spcPct val="150000"/>
              </a:lnSpc>
            </a:pPr>
            <a:r>
              <a:rPr lang="en-US" altLang="zh-CN" dirty="0"/>
              <a:t>PPP (Point-to-Point Protocol)</a:t>
            </a:r>
            <a:r>
              <a:rPr lang="zh-CN" altLang="en-US" dirty="0"/>
              <a:t>协议由</a:t>
            </a:r>
            <a:r>
              <a:rPr lang="en-US" altLang="zh-CN" dirty="0"/>
              <a:t>IETF</a:t>
            </a:r>
            <a:r>
              <a:rPr lang="zh-CN" altLang="en-US" dirty="0"/>
              <a:t>制定，</a:t>
            </a:r>
            <a:r>
              <a:rPr lang="en-US" altLang="zh-CN" dirty="0"/>
              <a:t>1994</a:t>
            </a:r>
            <a:r>
              <a:rPr lang="zh-CN" altLang="en-US" dirty="0"/>
              <a:t>年成为正式标准（</a:t>
            </a:r>
            <a:r>
              <a:rPr lang="en-US" altLang="zh-CN" dirty="0"/>
              <a:t>RFC1661</a:t>
            </a:r>
            <a:r>
              <a:rPr lang="zh-CN" altLang="en-US" dirty="0"/>
              <a:t>）</a:t>
            </a:r>
            <a:endParaRPr lang="en-US" altLang="zh-CN" dirty="0"/>
          </a:p>
          <a:p>
            <a:pPr>
              <a:lnSpc>
                <a:spcPct val="150000"/>
              </a:lnSpc>
            </a:pPr>
            <a:r>
              <a:rPr lang="en-US" altLang="zh-CN" dirty="0"/>
              <a:t>PPP</a:t>
            </a:r>
            <a:r>
              <a:rPr lang="zh-CN" altLang="en-US" dirty="0"/>
              <a:t>协议是目前使用最多的</a:t>
            </a:r>
            <a:r>
              <a:rPr lang="zh-CN" altLang="en-US" dirty="0">
                <a:solidFill>
                  <a:srgbClr val="7030A0"/>
                </a:solidFill>
              </a:rPr>
              <a:t>数据链路层协议</a:t>
            </a:r>
            <a:r>
              <a:rPr lang="zh-CN" altLang="en-US" dirty="0"/>
              <a:t>之一</a:t>
            </a:r>
            <a:endParaRPr lang="en-US" altLang="zh-CN" dirty="0"/>
          </a:p>
          <a:p>
            <a:pPr>
              <a:lnSpc>
                <a:spcPct val="150000"/>
              </a:lnSpc>
            </a:pPr>
            <a:r>
              <a:rPr lang="zh-CN" altLang="en-US" dirty="0"/>
              <a:t>能够在不同的链路上运行</a:t>
            </a:r>
            <a:endParaRPr lang="en-US" altLang="zh-CN" dirty="0"/>
          </a:p>
          <a:p>
            <a:pPr>
              <a:lnSpc>
                <a:spcPct val="150000"/>
              </a:lnSpc>
            </a:pPr>
            <a:r>
              <a:rPr lang="zh-CN" altLang="en-US" dirty="0"/>
              <a:t>能够承载不同的网络层分组</a:t>
            </a:r>
            <a:endParaRPr lang="en-US" altLang="zh-CN" dirty="0"/>
          </a:p>
          <a:p>
            <a:pPr>
              <a:lnSpc>
                <a:spcPct val="150000"/>
              </a:lnSpc>
            </a:pPr>
            <a:r>
              <a:rPr lang="zh-CN" altLang="en-US" dirty="0"/>
              <a:t>特点：简单、灵活</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
        <p:nvSpPr>
          <p:cNvPr id="5" name="文本框 4">
            <a:extLst>
              <a:ext uri="{FF2B5EF4-FFF2-40B4-BE49-F238E27FC236}">
                <a16:creationId xmlns:a16="http://schemas.microsoft.com/office/drawing/2014/main" id="{16FE74B6-800A-4EDF-B552-9D9F98E299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7494173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协议实现的功能</a:t>
            </a:r>
          </a:p>
        </p:txBody>
      </p:sp>
      <p:sp>
        <p:nvSpPr>
          <p:cNvPr id="3" name="内容占位符 2"/>
          <p:cNvSpPr>
            <a:spLocks noGrp="1"/>
          </p:cNvSpPr>
          <p:nvPr>
            <p:ph idx="1"/>
          </p:nvPr>
        </p:nvSpPr>
        <p:spPr>
          <a:xfrm>
            <a:off x="838200" y="1397000"/>
            <a:ext cx="10515600" cy="4565389"/>
          </a:xfrm>
        </p:spPr>
        <p:txBody>
          <a:bodyPr>
            <a:normAutofit lnSpcReduction="10000"/>
          </a:bodyPr>
          <a:lstStyle/>
          <a:p>
            <a:pPr>
              <a:lnSpc>
                <a:spcPct val="150000"/>
              </a:lnSpc>
            </a:pPr>
            <a:r>
              <a:rPr lang="zh-CN" altLang="en-US" sz="2600" dirty="0"/>
              <a:t>利用帧定界符封装成帧</a:t>
            </a:r>
          </a:p>
          <a:p>
            <a:pPr>
              <a:lnSpc>
                <a:spcPct val="150000"/>
              </a:lnSpc>
            </a:pPr>
            <a:r>
              <a:rPr lang="zh-CN" altLang="en-US" sz="2600" dirty="0"/>
              <a:t>填充技术实现透明数据传输：字节填充、零比特填充</a:t>
            </a:r>
          </a:p>
          <a:p>
            <a:pPr>
              <a:lnSpc>
                <a:spcPct val="150000"/>
              </a:lnSpc>
            </a:pPr>
            <a:r>
              <a:rPr lang="zh-CN" altLang="en-US" sz="2600" dirty="0"/>
              <a:t>帧的差错检测</a:t>
            </a:r>
          </a:p>
          <a:p>
            <a:pPr>
              <a:lnSpc>
                <a:spcPct val="150000"/>
              </a:lnSpc>
            </a:pPr>
            <a:r>
              <a:rPr lang="zh-CN" altLang="en-US" sz="2600" dirty="0"/>
              <a:t>实时监测链路工作状态</a:t>
            </a:r>
          </a:p>
          <a:p>
            <a:pPr>
              <a:lnSpc>
                <a:spcPct val="150000"/>
              </a:lnSpc>
            </a:pPr>
            <a:r>
              <a:rPr lang="zh-CN" altLang="en-US" sz="2600" dirty="0"/>
              <a:t>设置链路最大传输单元（</a:t>
            </a:r>
            <a:r>
              <a:rPr lang="en-US" altLang="zh-CN" sz="2600" dirty="0"/>
              <a:t>MTU</a:t>
            </a:r>
            <a:r>
              <a:rPr lang="zh-CN" altLang="en-US" sz="2600" dirty="0"/>
              <a:t>）</a:t>
            </a:r>
          </a:p>
          <a:p>
            <a:pPr>
              <a:lnSpc>
                <a:spcPct val="150000"/>
              </a:lnSpc>
            </a:pPr>
            <a:r>
              <a:rPr lang="zh-CN" altLang="en-US" sz="2600" dirty="0"/>
              <a:t>网络层地址协商机制</a:t>
            </a:r>
          </a:p>
          <a:p>
            <a:pPr>
              <a:lnSpc>
                <a:spcPct val="150000"/>
              </a:lnSpc>
            </a:pPr>
            <a:r>
              <a:rPr lang="zh-CN" altLang="en-US" sz="2600" dirty="0"/>
              <a:t>数据压缩协商机制</a:t>
            </a:r>
            <a:endParaRPr lang="en-US" altLang="zh-CN" sz="26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
        <p:nvSpPr>
          <p:cNvPr id="5" name="文本框 4">
            <a:extLst>
              <a:ext uri="{FF2B5EF4-FFF2-40B4-BE49-F238E27FC236}">
                <a16:creationId xmlns:a16="http://schemas.microsoft.com/office/drawing/2014/main" id="{16FE74B6-800A-4EDF-B552-9D9F98E299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42710572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协议未实现的功能</a:t>
            </a:r>
          </a:p>
        </p:txBody>
      </p:sp>
      <p:sp>
        <p:nvSpPr>
          <p:cNvPr id="3" name="内容占位符 2"/>
          <p:cNvSpPr>
            <a:spLocks noGrp="1"/>
          </p:cNvSpPr>
          <p:nvPr>
            <p:ph idx="1"/>
          </p:nvPr>
        </p:nvSpPr>
        <p:spPr>
          <a:xfrm>
            <a:off x="838200" y="1397000"/>
            <a:ext cx="10515600" cy="4959350"/>
          </a:xfrm>
        </p:spPr>
        <p:txBody>
          <a:bodyPr>
            <a:normAutofit fontScale="77500" lnSpcReduction="20000"/>
          </a:bodyPr>
          <a:lstStyle/>
          <a:p>
            <a:pPr>
              <a:lnSpc>
                <a:spcPct val="150000"/>
              </a:lnSpc>
            </a:pPr>
            <a:r>
              <a:rPr lang="zh-CN" altLang="en-US" dirty="0"/>
              <a:t>帧数据的纠错功能</a:t>
            </a:r>
          </a:p>
          <a:p>
            <a:pPr lvl="1">
              <a:lnSpc>
                <a:spcPct val="150000"/>
              </a:lnSpc>
            </a:pPr>
            <a:r>
              <a:rPr lang="zh-CN" altLang="en-US" dirty="0"/>
              <a:t>数据链路层的</a:t>
            </a:r>
            <a:r>
              <a:rPr lang="en-US" altLang="zh-CN" dirty="0"/>
              <a:t>PPP</a:t>
            </a:r>
            <a:r>
              <a:rPr lang="zh-CN" altLang="en-US" dirty="0"/>
              <a:t>协议只进行检错，</a:t>
            </a:r>
            <a:r>
              <a:rPr lang="en-US" altLang="zh-CN" dirty="0"/>
              <a:t>PPP</a:t>
            </a:r>
            <a:r>
              <a:rPr lang="zh-CN" altLang="en-US" dirty="0"/>
              <a:t>协议是不可靠传输协议</a:t>
            </a:r>
          </a:p>
          <a:p>
            <a:pPr>
              <a:lnSpc>
                <a:spcPct val="150000"/>
              </a:lnSpc>
            </a:pPr>
            <a:r>
              <a:rPr lang="zh-CN" altLang="en-US" dirty="0"/>
              <a:t>流量控制功能</a:t>
            </a:r>
          </a:p>
          <a:p>
            <a:pPr lvl="1">
              <a:lnSpc>
                <a:spcPct val="150000"/>
              </a:lnSpc>
            </a:pPr>
            <a:r>
              <a:rPr lang="en-US" altLang="zh-CN" dirty="0"/>
              <a:t>PPP</a:t>
            </a:r>
            <a:r>
              <a:rPr lang="zh-CN" altLang="en-US" dirty="0"/>
              <a:t>协议未实现点到点的流量控制</a:t>
            </a:r>
          </a:p>
          <a:p>
            <a:pPr>
              <a:lnSpc>
                <a:spcPct val="150000"/>
              </a:lnSpc>
            </a:pPr>
            <a:r>
              <a:rPr lang="zh-CN" altLang="en-US" dirty="0"/>
              <a:t>可靠传输功能</a:t>
            </a:r>
          </a:p>
          <a:p>
            <a:pPr lvl="1">
              <a:lnSpc>
                <a:spcPct val="150000"/>
              </a:lnSpc>
            </a:pPr>
            <a:r>
              <a:rPr lang="en-US" altLang="zh-CN" dirty="0"/>
              <a:t>PPP</a:t>
            </a:r>
            <a:r>
              <a:rPr lang="zh-CN" altLang="en-US" dirty="0"/>
              <a:t>为不可靠协议，不使用帧的序号。不可靠网络中可能使用有序号的工作方式。</a:t>
            </a:r>
          </a:p>
          <a:p>
            <a:pPr>
              <a:lnSpc>
                <a:spcPct val="150000"/>
              </a:lnSpc>
            </a:pPr>
            <a:r>
              <a:rPr lang="zh-CN" altLang="en-US" dirty="0"/>
              <a:t>多点连接功能</a:t>
            </a:r>
          </a:p>
          <a:p>
            <a:pPr lvl="1">
              <a:lnSpc>
                <a:spcPct val="150000"/>
              </a:lnSpc>
            </a:pPr>
            <a:r>
              <a:rPr lang="en-US" altLang="zh-CN" dirty="0"/>
              <a:t>PPP</a:t>
            </a:r>
            <a:r>
              <a:rPr lang="zh-CN" altLang="en-US" dirty="0"/>
              <a:t>协议不支持多点线路，只支持点对点的链路通信。</a:t>
            </a:r>
          </a:p>
          <a:p>
            <a:pPr>
              <a:lnSpc>
                <a:spcPct val="150000"/>
              </a:lnSpc>
            </a:pPr>
            <a:r>
              <a:rPr lang="zh-CN" altLang="en-US" dirty="0"/>
              <a:t>单工和半双工链路 </a:t>
            </a:r>
          </a:p>
          <a:p>
            <a:pPr lvl="1">
              <a:lnSpc>
                <a:spcPct val="150000"/>
              </a:lnSpc>
            </a:pPr>
            <a:r>
              <a:rPr lang="en-US" altLang="zh-CN" dirty="0"/>
              <a:t>PPP</a:t>
            </a:r>
            <a:r>
              <a:rPr lang="zh-CN" altLang="en-US" dirty="0"/>
              <a:t>协议支持全双工链路</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sp>
        <p:nvSpPr>
          <p:cNvPr id="5" name="文本框 4">
            <a:extLst>
              <a:ext uri="{FF2B5EF4-FFF2-40B4-BE49-F238E27FC236}">
                <a16:creationId xmlns:a16="http://schemas.microsoft.com/office/drawing/2014/main" id="{16FE74B6-800A-4EDF-B552-9D9F98E299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4024788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协议的构成</a:t>
            </a:r>
          </a:p>
        </p:txBody>
      </p:sp>
      <p:sp>
        <p:nvSpPr>
          <p:cNvPr id="3" name="内容占位符 2"/>
          <p:cNvSpPr>
            <a:spLocks noGrp="1"/>
          </p:cNvSpPr>
          <p:nvPr>
            <p:ph idx="1"/>
          </p:nvPr>
        </p:nvSpPr>
        <p:spPr>
          <a:xfrm>
            <a:off x="838200" y="1397000"/>
            <a:ext cx="10756900" cy="4959350"/>
          </a:xfrm>
        </p:spPr>
        <p:txBody>
          <a:bodyPr>
            <a:normAutofit fontScale="92500" lnSpcReduction="20000"/>
          </a:bodyPr>
          <a:lstStyle/>
          <a:p>
            <a:pPr>
              <a:lnSpc>
                <a:spcPct val="150000"/>
              </a:lnSpc>
            </a:pPr>
            <a:r>
              <a:rPr lang="zh-CN" altLang="en-US" dirty="0"/>
              <a:t>封装 </a:t>
            </a:r>
            <a:r>
              <a:rPr lang="en-US" altLang="zh-CN" dirty="0"/>
              <a:t>(Encapsulation)</a:t>
            </a:r>
          </a:p>
          <a:p>
            <a:pPr lvl="1">
              <a:lnSpc>
                <a:spcPct val="150000"/>
              </a:lnSpc>
            </a:pPr>
            <a:r>
              <a:rPr lang="zh-CN" altLang="en-US" dirty="0"/>
              <a:t>提供在同一链路上支持不同的网络层协议</a:t>
            </a:r>
          </a:p>
          <a:p>
            <a:pPr lvl="1">
              <a:lnSpc>
                <a:spcPct val="150000"/>
              </a:lnSpc>
            </a:pPr>
            <a:r>
              <a:rPr lang="en-US" altLang="zh-CN" dirty="0"/>
              <a:t>PPP</a:t>
            </a:r>
            <a:r>
              <a:rPr lang="zh-CN" altLang="en-US" dirty="0"/>
              <a:t>既支持异步链路（无奇偶检验的</a:t>
            </a:r>
            <a:r>
              <a:rPr lang="en-US" altLang="zh-CN" dirty="0"/>
              <a:t>8</a:t>
            </a:r>
            <a:r>
              <a:rPr lang="zh-CN" altLang="en-US" dirty="0"/>
              <a:t>比特数据），也支持面向比特的同步链路</a:t>
            </a:r>
          </a:p>
          <a:p>
            <a:pPr lvl="1">
              <a:lnSpc>
                <a:spcPct val="150000"/>
              </a:lnSpc>
            </a:pPr>
            <a:r>
              <a:rPr lang="en-US" altLang="zh-CN" dirty="0"/>
              <a:t>IP</a:t>
            </a:r>
            <a:r>
              <a:rPr lang="zh-CN" altLang="en-US" dirty="0"/>
              <a:t>数据包在</a:t>
            </a:r>
            <a:r>
              <a:rPr lang="en-US" altLang="zh-CN" dirty="0"/>
              <a:t>PPP</a:t>
            </a:r>
            <a:r>
              <a:rPr lang="zh-CN" altLang="en-US" dirty="0"/>
              <a:t>帧中是其信息部分，其长度受到</a:t>
            </a:r>
            <a:r>
              <a:rPr lang="en-US" altLang="zh-CN" dirty="0"/>
              <a:t>MTU</a:t>
            </a:r>
            <a:r>
              <a:rPr lang="zh-CN" altLang="en-US" dirty="0"/>
              <a:t>的限制</a:t>
            </a:r>
          </a:p>
          <a:p>
            <a:pPr>
              <a:lnSpc>
                <a:spcPct val="150000"/>
              </a:lnSpc>
            </a:pPr>
            <a:r>
              <a:rPr lang="zh-CN" altLang="en-US" dirty="0"/>
              <a:t>链路控制协议 </a:t>
            </a:r>
            <a:r>
              <a:rPr lang="en-US" altLang="zh-CN" dirty="0"/>
              <a:t>LCP (Link Control Protocol)</a:t>
            </a:r>
            <a:r>
              <a:rPr lang="zh-CN" altLang="en-US" dirty="0"/>
              <a:t>。</a:t>
            </a:r>
          </a:p>
          <a:p>
            <a:pPr lvl="1">
              <a:lnSpc>
                <a:spcPct val="150000"/>
              </a:lnSpc>
            </a:pPr>
            <a:r>
              <a:rPr lang="zh-CN" altLang="en-US" dirty="0"/>
              <a:t>用来建立、配置和测试数据链路的链路控制协议，通信双方可协商一些选项</a:t>
            </a:r>
          </a:p>
          <a:p>
            <a:pPr>
              <a:lnSpc>
                <a:spcPct val="150000"/>
              </a:lnSpc>
            </a:pPr>
            <a:r>
              <a:rPr lang="zh-CN" altLang="en-US" dirty="0"/>
              <a:t>网络控制协议 </a:t>
            </a:r>
            <a:r>
              <a:rPr lang="en-US" altLang="zh-CN" dirty="0"/>
              <a:t>NCP (Network Control Protocol)</a:t>
            </a:r>
            <a:r>
              <a:rPr lang="zh-CN" altLang="en-US" dirty="0"/>
              <a:t>。</a:t>
            </a:r>
          </a:p>
          <a:p>
            <a:pPr lvl="1">
              <a:lnSpc>
                <a:spcPct val="150000"/>
              </a:lnSpc>
            </a:pPr>
            <a:r>
              <a:rPr lang="zh-CN" altLang="en-US" dirty="0"/>
              <a:t>其中每个协议支持一种不同的网络层协议，如</a:t>
            </a:r>
            <a:r>
              <a:rPr lang="en-US" altLang="zh-CN" dirty="0"/>
              <a:t>IP</a:t>
            </a:r>
            <a:r>
              <a:rPr lang="zh-CN" altLang="en-US" dirty="0"/>
              <a:t>、</a:t>
            </a:r>
            <a:r>
              <a:rPr lang="en-US" altLang="zh-CN" dirty="0"/>
              <a:t>OSI</a:t>
            </a:r>
            <a:r>
              <a:rPr lang="zh-CN" altLang="en-US" dirty="0"/>
              <a:t>的网络层、</a:t>
            </a:r>
            <a:r>
              <a:rPr lang="en-US" altLang="zh-CN" dirty="0" err="1"/>
              <a:t>DECnet</a:t>
            </a:r>
            <a:r>
              <a:rPr lang="zh-CN" altLang="en-US" dirty="0"/>
              <a:t>、</a:t>
            </a:r>
            <a:r>
              <a:rPr lang="en-US" altLang="zh-CN" dirty="0"/>
              <a:t>AppleTalk</a:t>
            </a:r>
            <a:r>
              <a:rPr lang="zh-CN" altLang="en-US" dirty="0"/>
              <a:t>等</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sp>
        <p:nvSpPr>
          <p:cNvPr id="5" name="文本框 4">
            <a:extLst>
              <a:ext uri="{FF2B5EF4-FFF2-40B4-BE49-F238E27FC236}">
                <a16:creationId xmlns:a16="http://schemas.microsoft.com/office/drawing/2014/main" id="{16FE74B6-800A-4EDF-B552-9D9F98E299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6871713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微软雅黑" panose="020B0503020204020204" pitchFamily="34" charset="-122"/>
                <a:ea typeface="微软雅黑" panose="020B0503020204020204" pitchFamily="34" charset="-122"/>
              </a:rPr>
              <a:t>PPP</a:t>
            </a:r>
            <a:r>
              <a:rPr lang="zh-CN" altLang="en-US" dirty="0">
                <a:latin typeface="微软雅黑" panose="020B0503020204020204" pitchFamily="34" charset="-122"/>
                <a:ea typeface="微软雅黑" panose="020B0503020204020204" pitchFamily="34" charset="-122"/>
              </a:rPr>
              <a:t>协议的帧格式</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latin typeface="微软雅黑" panose="020B0503020204020204" pitchFamily="34" charset="-122"/>
                <a:ea typeface="微软雅黑" panose="020B0503020204020204" pitchFamily="34" charset="-122"/>
              </a:rPr>
              <a:t>46</a:t>
            </a:fld>
            <a:endParaRPr kumimoji="1" lang="zh-CN" altLang="en-US" dirty="0">
              <a:latin typeface="微软雅黑" panose="020B0503020204020204" pitchFamily="34" charset="-122"/>
              <a:ea typeface="微软雅黑" panose="020B0503020204020204" pitchFamily="34" charset="-122"/>
            </a:endParaRPr>
          </a:p>
        </p:txBody>
      </p:sp>
      <p:sp>
        <p:nvSpPr>
          <p:cNvPr id="52" name="Rectangle 4"/>
          <p:cNvSpPr>
            <a:spLocks noChangeArrowheads="1"/>
          </p:cNvSpPr>
          <p:nvPr/>
        </p:nvSpPr>
        <p:spPr bwMode="auto">
          <a:xfrm>
            <a:off x="4773445" y="2116838"/>
            <a:ext cx="2898775" cy="465137"/>
          </a:xfrm>
          <a:prstGeom prst="rect">
            <a:avLst/>
          </a:prstGeom>
          <a:solidFill>
            <a:schemeClr val="accent6">
              <a:lumMod val="20000"/>
              <a:lumOff val="80000"/>
            </a:schemeClr>
          </a:solidFill>
          <a:ln w="9525">
            <a:solidFill>
              <a:schemeClr val="accent1"/>
            </a:solidFill>
            <a:miter lim="800000"/>
            <a:headEnd/>
            <a:tailEnd/>
          </a:ln>
          <a:effectLst>
            <a:outerShdw dist="35921" dir="2700000" algn="ctr" rotWithShape="0">
              <a:schemeClr val="bg2"/>
            </a:outerShdw>
          </a:effectLst>
        </p:spPr>
        <p:txBody>
          <a:bodyPr wrap="none" anchor="ctr"/>
          <a:lstStyle/>
          <a:p>
            <a:pPr algn="ctr"/>
            <a:r>
              <a:rPr kumimoji="1" lang="en-US" altLang="zh-CN" sz="2000">
                <a:latin typeface="微软雅黑" panose="020B0503020204020204" pitchFamily="34" charset="-122"/>
                <a:ea typeface="微软雅黑" panose="020B0503020204020204" pitchFamily="34" charset="-122"/>
              </a:rPr>
              <a:t>IP </a:t>
            </a:r>
            <a:r>
              <a:rPr kumimoji="1" lang="zh-CN" altLang="en-US" sz="2000">
                <a:latin typeface="微软雅黑" panose="020B0503020204020204" pitchFamily="34" charset="-122"/>
                <a:ea typeface="微软雅黑" panose="020B0503020204020204" pitchFamily="34" charset="-122"/>
              </a:rPr>
              <a:t>数据报</a:t>
            </a:r>
          </a:p>
        </p:txBody>
      </p:sp>
      <p:sp>
        <p:nvSpPr>
          <p:cNvPr id="53" name="Text Box 5"/>
          <p:cNvSpPr txBox="1">
            <a:spLocks noChangeArrowheads="1"/>
          </p:cNvSpPr>
          <p:nvPr/>
        </p:nvSpPr>
        <p:spPr bwMode="auto">
          <a:xfrm>
            <a:off x="2146132"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1</a:t>
            </a:r>
          </a:p>
        </p:txBody>
      </p:sp>
      <p:sp>
        <p:nvSpPr>
          <p:cNvPr id="54" name="Text Box 6"/>
          <p:cNvSpPr txBox="1">
            <a:spLocks noChangeArrowheads="1"/>
          </p:cNvSpPr>
          <p:nvPr/>
        </p:nvSpPr>
        <p:spPr bwMode="auto">
          <a:xfrm>
            <a:off x="4140032"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2</a:t>
            </a:r>
          </a:p>
        </p:txBody>
      </p:sp>
      <p:sp>
        <p:nvSpPr>
          <p:cNvPr id="55" name="Text Box 7"/>
          <p:cNvSpPr txBox="1">
            <a:spLocks noChangeArrowheads="1"/>
          </p:cNvSpPr>
          <p:nvPr/>
        </p:nvSpPr>
        <p:spPr bwMode="auto">
          <a:xfrm>
            <a:off x="2690645"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1</a:t>
            </a:r>
          </a:p>
        </p:txBody>
      </p:sp>
      <p:sp>
        <p:nvSpPr>
          <p:cNvPr id="56" name="Text Box 8"/>
          <p:cNvSpPr txBox="1">
            <a:spLocks noChangeArrowheads="1"/>
          </p:cNvSpPr>
          <p:nvPr/>
        </p:nvSpPr>
        <p:spPr bwMode="auto">
          <a:xfrm>
            <a:off x="8939045"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1</a:t>
            </a:r>
          </a:p>
        </p:txBody>
      </p:sp>
      <p:sp>
        <p:nvSpPr>
          <p:cNvPr id="57" name="Text Box 9"/>
          <p:cNvSpPr txBox="1">
            <a:spLocks noChangeArrowheads="1"/>
          </p:cNvSpPr>
          <p:nvPr/>
        </p:nvSpPr>
        <p:spPr bwMode="auto">
          <a:xfrm>
            <a:off x="1331745" y="3551938"/>
            <a:ext cx="69215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字节</a:t>
            </a:r>
          </a:p>
        </p:txBody>
      </p:sp>
      <p:sp>
        <p:nvSpPr>
          <p:cNvPr id="58" name="Text Box 10"/>
          <p:cNvSpPr txBox="1">
            <a:spLocks noChangeArrowheads="1"/>
          </p:cNvSpPr>
          <p:nvPr/>
        </p:nvSpPr>
        <p:spPr bwMode="auto">
          <a:xfrm>
            <a:off x="3233570"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1</a:t>
            </a:r>
          </a:p>
        </p:txBody>
      </p:sp>
      <p:sp>
        <p:nvSpPr>
          <p:cNvPr id="59" name="Text Box 11"/>
          <p:cNvSpPr txBox="1">
            <a:spLocks noChangeArrowheads="1"/>
          </p:cNvSpPr>
          <p:nvPr/>
        </p:nvSpPr>
        <p:spPr bwMode="auto">
          <a:xfrm>
            <a:off x="8034170"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2</a:t>
            </a:r>
          </a:p>
        </p:txBody>
      </p:sp>
      <p:sp>
        <p:nvSpPr>
          <p:cNvPr id="60" name="Line 12"/>
          <p:cNvSpPr>
            <a:spLocks noChangeShapeType="1"/>
          </p:cNvSpPr>
          <p:nvPr/>
        </p:nvSpPr>
        <p:spPr bwMode="auto">
          <a:xfrm>
            <a:off x="4773445" y="2104138"/>
            <a:ext cx="17462" cy="9239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1" name="Line 13"/>
          <p:cNvSpPr>
            <a:spLocks noChangeShapeType="1"/>
          </p:cNvSpPr>
          <p:nvPr/>
        </p:nvSpPr>
        <p:spPr bwMode="auto">
          <a:xfrm>
            <a:off x="7672220" y="2104138"/>
            <a:ext cx="0" cy="889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2" name="Text Box 14"/>
          <p:cNvSpPr txBox="1">
            <a:spLocks noChangeArrowheads="1"/>
          </p:cNvSpPr>
          <p:nvPr/>
        </p:nvSpPr>
        <p:spPr bwMode="auto">
          <a:xfrm>
            <a:off x="5135395" y="3551938"/>
            <a:ext cx="22557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不超过 </a:t>
            </a:r>
            <a:r>
              <a:rPr kumimoji="1" lang="en-US" altLang="zh-CN" sz="2000">
                <a:latin typeface="微软雅黑" panose="020B0503020204020204" pitchFamily="34" charset="-122"/>
                <a:ea typeface="微软雅黑" panose="020B0503020204020204" pitchFamily="34" charset="-122"/>
              </a:rPr>
              <a:t>1500 </a:t>
            </a:r>
            <a:r>
              <a:rPr kumimoji="1" lang="zh-CN" altLang="en-US" sz="2000">
                <a:latin typeface="微软雅黑" panose="020B0503020204020204" pitchFamily="34" charset="-122"/>
                <a:ea typeface="微软雅黑" panose="020B0503020204020204" pitchFamily="34" charset="-122"/>
              </a:rPr>
              <a:t>字节</a:t>
            </a:r>
          </a:p>
        </p:txBody>
      </p:sp>
      <p:sp>
        <p:nvSpPr>
          <p:cNvPr id="63" name="Line 15"/>
          <p:cNvSpPr>
            <a:spLocks noChangeShapeType="1"/>
          </p:cNvSpPr>
          <p:nvPr/>
        </p:nvSpPr>
        <p:spPr bwMode="auto">
          <a:xfrm>
            <a:off x="2071520" y="4101213"/>
            <a:ext cx="733583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4" name="Text Box 16"/>
          <p:cNvSpPr txBox="1">
            <a:spLocks noChangeArrowheads="1"/>
          </p:cNvSpPr>
          <p:nvPr/>
        </p:nvSpPr>
        <p:spPr bwMode="auto">
          <a:xfrm>
            <a:off x="5097295" y="3878963"/>
            <a:ext cx="1017587"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PPP </a:t>
            </a:r>
            <a:r>
              <a:rPr kumimoji="1" lang="zh-CN" altLang="en-US" sz="2000">
                <a:latin typeface="微软雅黑" panose="020B0503020204020204" pitchFamily="34" charset="-122"/>
                <a:ea typeface="微软雅黑" panose="020B0503020204020204" pitchFamily="34" charset="-122"/>
              </a:rPr>
              <a:t>帧</a:t>
            </a:r>
          </a:p>
        </p:txBody>
      </p:sp>
      <p:sp>
        <p:nvSpPr>
          <p:cNvPr id="65" name="Text Box 17"/>
          <p:cNvSpPr txBox="1">
            <a:spLocks noChangeArrowheads="1"/>
          </p:cNvSpPr>
          <p:nvPr/>
        </p:nvSpPr>
        <p:spPr bwMode="auto">
          <a:xfrm>
            <a:off x="1125370" y="2366075"/>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先发送</a:t>
            </a:r>
          </a:p>
        </p:txBody>
      </p:sp>
      <p:sp>
        <p:nvSpPr>
          <p:cNvPr id="66" name="Rectangle 18"/>
          <p:cNvSpPr>
            <a:spLocks noChangeArrowheads="1"/>
          </p:cNvSpPr>
          <p:nvPr/>
        </p:nvSpPr>
        <p:spPr bwMode="auto">
          <a:xfrm>
            <a:off x="2047708" y="2951863"/>
            <a:ext cx="7335837" cy="566737"/>
          </a:xfrm>
          <a:prstGeom prst="rect">
            <a:avLst/>
          </a:prstGeom>
          <a:solidFill>
            <a:srgbClr val="F4D0FF"/>
          </a:solidFill>
          <a:ln w="9525">
            <a:solidFill>
              <a:schemeClr val="accent1"/>
            </a:solidFill>
            <a:miter lim="800000"/>
            <a:headEnd/>
            <a:tailEnd/>
          </a:ln>
          <a:effectLst>
            <a:outerShdw dist="35921" dir="2700000" algn="ctr" rotWithShape="0">
              <a:schemeClr val="bg2"/>
            </a:outerShdw>
          </a:effectLst>
        </p:spPr>
        <p:txBody>
          <a:bodyPr wrap="none" anchor="ctr"/>
          <a:lstStyle/>
          <a:p>
            <a:pPr algn="ctr"/>
            <a:endParaRPr kumimoji="1" lang="zh-CN" altLang="zh-CN" sz="2000">
              <a:latin typeface="微软雅黑" panose="020B0503020204020204" pitchFamily="34" charset="-122"/>
              <a:ea typeface="微软雅黑" panose="020B0503020204020204" pitchFamily="34" charset="-122"/>
            </a:endParaRPr>
          </a:p>
        </p:txBody>
      </p:sp>
      <p:sp>
        <p:nvSpPr>
          <p:cNvPr id="67" name="Line 19"/>
          <p:cNvSpPr>
            <a:spLocks noChangeShapeType="1"/>
          </p:cNvSpPr>
          <p:nvPr/>
        </p:nvSpPr>
        <p:spPr bwMode="auto">
          <a:xfrm>
            <a:off x="2600157" y="2951863"/>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8" name="Line 20"/>
          <p:cNvSpPr>
            <a:spLocks noChangeShapeType="1"/>
          </p:cNvSpPr>
          <p:nvPr/>
        </p:nvSpPr>
        <p:spPr bwMode="auto">
          <a:xfrm>
            <a:off x="8758070" y="2962975"/>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9" name="Text Box 21"/>
          <p:cNvSpPr txBox="1">
            <a:spLocks noChangeArrowheads="1"/>
          </p:cNvSpPr>
          <p:nvPr/>
        </p:nvSpPr>
        <p:spPr bwMode="auto">
          <a:xfrm>
            <a:off x="2052470" y="3155063"/>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7E</a:t>
            </a:r>
          </a:p>
        </p:txBody>
      </p:sp>
      <p:sp>
        <p:nvSpPr>
          <p:cNvPr id="70" name="Line 22"/>
          <p:cNvSpPr>
            <a:spLocks noChangeShapeType="1"/>
          </p:cNvSpPr>
          <p:nvPr/>
        </p:nvSpPr>
        <p:spPr bwMode="auto">
          <a:xfrm>
            <a:off x="3143082" y="2962975"/>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1" name="Line 23"/>
          <p:cNvSpPr>
            <a:spLocks noChangeShapeType="1"/>
          </p:cNvSpPr>
          <p:nvPr/>
        </p:nvSpPr>
        <p:spPr bwMode="auto">
          <a:xfrm>
            <a:off x="3686007" y="2951863"/>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2" name="Text Box 24"/>
          <p:cNvSpPr txBox="1">
            <a:spLocks noChangeArrowheads="1"/>
          </p:cNvSpPr>
          <p:nvPr/>
        </p:nvSpPr>
        <p:spPr bwMode="auto">
          <a:xfrm>
            <a:off x="2595395" y="3155063"/>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FF</a:t>
            </a:r>
          </a:p>
        </p:txBody>
      </p:sp>
      <p:sp>
        <p:nvSpPr>
          <p:cNvPr id="73" name="Text Box 25"/>
          <p:cNvSpPr txBox="1">
            <a:spLocks noChangeArrowheads="1"/>
          </p:cNvSpPr>
          <p:nvPr/>
        </p:nvSpPr>
        <p:spPr bwMode="auto">
          <a:xfrm>
            <a:off x="3131970" y="3155063"/>
            <a:ext cx="50206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03</a:t>
            </a:r>
          </a:p>
        </p:txBody>
      </p:sp>
      <p:sp>
        <p:nvSpPr>
          <p:cNvPr id="74" name="Text Box 26"/>
          <p:cNvSpPr txBox="1">
            <a:spLocks noChangeArrowheads="1"/>
          </p:cNvSpPr>
          <p:nvPr/>
        </p:nvSpPr>
        <p:spPr bwMode="auto">
          <a:xfrm>
            <a:off x="2128670" y="291852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rPr>
              <a:t>F</a:t>
            </a:r>
          </a:p>
        </p:txBody>
      </p:sp>
      <p:sp>
        <p:nvSpPr>
          <p:cNvPr id="75" name="Text Box 27"/>
          <p:cNvSpPr txBox="1">
            <a:spLocks noChangeArrowheads="1"/>
          </p:cNvSpPr>
          <p:nvPr/>
        </p:nvSpPr>
        <p:spPr bwMode="auto">
          <a:xfrm>
            <a:off x="2636670" y="2916938"/>
            <a:ext cx="377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A</a:t>
            </a:r>
          </a:p>
        </p:txBody>
      </p:sp>
      <p:sp>
        <p:nvSpPr>
          <p:cNvPr id="76" name="Text Box 28"/>
          <p:cNvSpPr txBox="1">
            <a:spLocks noChangeArrowheads="1"/>
          </p:cNvSpPr>
          <p:nvPr/>
        </p:nvSpPr>
        <p:spPr bwMode="auto">
          <a:xfrm>
            <a:off x="3146257" y="291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C</a:t>
            </a:r>
          </a:p>
        </p:txBody>
      </p:sp>
      <p:sp>
        <p:nvSpPr>
          <p:cNvPr id="77" name="Text Box 29"/>
          <p:cNvSpPr txBox="1">
            <a:spLocks noChangeArrowheads="1"/>
          </p:cNvSpPr>
          <p:nvPr/>
        </p:nvSpPr>
        <p:spPr bwMode="auto">
          <a:xfrm>
            <a:off x="7872245" y="3016950"/>
            <a:ext cx="654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FCS</a:t>
            </a:r>
          </a:p>
        </p:txBody>
      </p:sp>
      <p:sp>
        <p:nvSpPr>
          <p:cNvPr id="78" name="Text Box 30"/>
          <p:cNvSpPr txBox="1">
            <a:spLocks noChangeArrowheads="1"/>
          </p:cNvSpPr>
          <p:nvPr/>
        </p:nvSpPr>
        <p:spPr bwMode="auto">
          <a:xfrm>
            <a:off x="8875545" y="293916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F</a:t>
            </a:r>
          </a:p>
        </p:txBody>
      </p:sp>
      <p:sp>
        <p:nvSpPr>
          <p:cNvPr id="79" name="Text Box 31"/>
          <p:cNvSpPr txBox="1">
            <a:spLocks noChangeArrowheads="1"/>
          </p:cNvSpPr>
          <p:nvPr/>
        </p:nvSpPr>
        <p:spPr bwMode="auto">
          <a:xfrm>
            <a:off x="8815220" y="3155063"/>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7E</a:t>
            </a:r>
          </a:p>
        </p:txBody>
      </p:sp>
      <p:sp>
        <p:nvSpPr>
          <p:cNvPr id="80" name="Rectangle 32"/>
          <p:cNvSpPr>
            <a:spLocks noChangeArrowheads="1"/>
          </p:cNvSpPr>
          <p:nvPr/>
        </p:nvSpPr>
        <p:spPr bwMode="auto">
          <a:xfrm>
            <a:off x="4773445" y="2962974"/>
            <a:ext cx="2898775" cy="548176"/>
          </a:xfrm>
          <a:prstGeom prst="rect">
            <a:avLst/>
          </a:prstGeom>
          <a:solidFill>
            <a:schemeClr val="accent6">
              <a:lumMod val="20000"/>
              <a:lumOff val="80000"/>
            </a:schemeClr>
          </a:solidFill>
          <a:ln>
            <a:noFill/>
          </a:ln>
          <a:effectLs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1" name="Text Box 33"/>
          <p:cNvSpPr txBox="1">
            <a:spLocks noChangeArrowheads="1"/>
          </p:cNvSpPr>
          <p:nvPr/>
        </p:nvSpPr>
        <p:spPr bwMode="auto">
          <a:xfrm>
            <a:off x="3833645" y="3001075"/>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协议</a:t>
            </a:r>
          </a:p>
        </p:txBody>
      </p:sp>
      <p:sp>
        <p:nvSpPr>
          <p:cNvPr id="82" name="Text Box 34"/>
          <p:cNvSpPr txBox="1">
            <a:spLocks noChangeArrowheads="1"/>
          </p:cNvSpPr>
          <p:nvPr/>
        </p:nvSpPr>
        <p:spPr bwMode="auto">
          <a:xfrm>
            <a:off x="5135395" y="3024888"/>
            <a:ext cx="2114681" cy="400110"/>
          </a:xfrm>
          <a:prstGeom prst="rect">
            <a:avLst/>
          </a:prstGeom>
          <a:solidFill>
            <a:schemeClr val="accent6">
              <a:lumMod val="20000"/>
              <a:lumOff val="80000"/>
            </a:schemeClr>
          </a:solidFill>
          <a:ln w="9525">
            <a:noFill/>
            <a:miter lim="800000"/>
            <a:headEnd/>
            <a:tailEnd/>
          </a:ln>
          <a:effectLs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rPr>
              <a:t>信    息    部    分</a:t>
            </a:r>
          </a:p>
        </p:txBody>
      </p:sp>
      <p:sp>
        <p:nvSpPr>
          <p:cNvPr id="83" name="AutoShape 35"/>
          <p:cNvSpPr>
            <a:spLocks/>
          </p:cNvSpPr>
          <p:nvPr/>
        </p:nvSpPr>
        <p:spPr bwMode="auto">
          <a:xfrm rot="5400000">
            <a:off x="3326438" y="1504857"/>
            <a:ext cx="176213" cy="2717800"/>
          </a:xfrm>
          <a:prstGeom prst="leftBrace">
            <a:avLst>
              <a:gd name="adj1" fmla="val 128528"/>
              <a:gd name="adj2" fmla="val 50069"/>
            </a:avLst>
          </a:prstGeom>
          <a:noFill/>
          <a:ln w="952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4" name="AutoShape 36"/>
          <p:cNvSpPr>
            <a:spLocks/>
          </p:cNvSpPr>
          <p:nvPr/>
        </p:nvSpPr>
        <p:spPr bwMode="auto">
          <a:xfrm rot="5400000">
            <a:off x="8450888" y="2011270"/>
            <a:ext cx="161925" cy="1719262"/>
          </a:xfrm>
          <a:prstGeom prst="leftBrace">
            <a:avLst>
              <a:gd name="adj1" fmla="val 8848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5" name="Text Box 37"/>
          <p:cNvSpPr txBox="1">
            <a:spLocks noChangeArrowheads="1"/>
          </p:cNvSpPr>
          <p:nvPr/>
        </p:nvSpPr>
        <p:spPr bwMode="auto">
          <a:xfrm>
            <a:off x="3052595" y="2447038"/>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首部</a:t>
            </a:r>
          </a:p>
        </p:txBody>
      </p:sp>
      <p:sp>
        <p:nvSpPr>
          <p:cNvPr id="86" name="Text Box 38"/>
          <p:cNvSpPr txBox="1">
            <a:spLocks noChangeArrowheads="1"/>
          </p:cNvSpPr>
          <p:nvPr/>
        </p:nvSpPr>
        <p:spPr bwMode="auto">
          <a:xfrm>
            <a:off x="8177045" y="2447038"/>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尾部</a:t>
            </a:r>
          </a:p>
        </p:txBody>
      </p:sp>
      <p:sp>
        <p:nvSpPr>
          <p:cNvPr id="87" name="Line 39"/>
          <p:cNvSpPr>
            <a:spLocks noChangeShapeType="1"/>
          </p:cNvSpPr>
          <p:nvPr/>
        </p:nvSpPr>
        <p:spPr bwMode="auto">
          <a:xfrm>
            <a:off x="2055645" y="2383538"/>
            <a:ext cx="0" cy="48577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88" name="Line 40"/>
          <p:cNvSpPr>
            <a:spLocks noChangeShapeType="1"/>
          </p:cNvSpPr>
          <p:nvPr/>
        </p:nvSpPr>
        <p:spPr bwMode="auto">
          <a:xfrm>
            <a:off x="7672220" y="2923288"/>
            <a:ext cx="0" cy="595312"/>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9" name="Line 41"/>
          <p:cNvSpPr>
            <a:spLocks noChangeShapeType="1"/>
          </p:cNvSpPr>
          <p:nvPr/>
        </p:nvSpPr>
        <p:spPr bwMode="auto">
          <a:xfrm>
            <a:off x="4773445" y="2962975"/>
            <a:ext cx="0" cy="555625"/>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90" name="AutoShape 42"/>
          <p:cNvSpPr>
            <a:spLocks noChangeArrowheads="1"/>
          </p:cNvSpPr>
          <p:nvPr/>
        </p:nvSpPr>
        <p:spPr bwMode="auto">
          <a:xfrm>
            <a:off x="6041857" y="2520063"/>
            <a:ext cx="271463" cy="566737"/>
          </a:xfrm>
          <a:prstGeom prst="downArrow">
            <a:avLst>
              <a:gd name="adj1" fmla="val 50000"/>
              <a:gd name="adj2" fmla="val 78289"/>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latin typeface="微软雅黑" panose="020B0503020204020204" pitchFamily="34" charset="-122"/>
              <a:ea typeface="微软雅黑" panose="020B0503020204020204" pitchFamily="34" charset="-122"/>
            </a:endParaRPr>
          </a:p>
        </p:txBody>
      </p:sp>
      <p:sp>
        <p:nvSpPr>
          <p:cNvPr id="91" name="AutoShape 43"/>
          <p:cNvSpPr>
            <a:spLocks noChangeArrowheads="1"/>
          </p:cNvSpPr>
          <p:nvPr/>
        </p:nvSpPr>
        <p:spPr bwMode="auto">
          <a:xfrm>
            <a:off x="2482887" y="1536715"/>
            <a:ext cx="1800225" cy="358775"/>
          </a:xfrm>
          <a:prstGeom prst="wedgeRoundRectCallout">
            <a:avLst>
              <a:gd name="adj1" fmla="val 3968"/>
              <a:gd name="adj2" fmla="val 284954"/>
              <a:gd name="adj3" fmla="val 16667"/>
            </a:avLst>
          </a:prstGeom>
          <a:solidFill>
            <a:schemeClr val="accent2">
              <a:lumMod val="20000"/>
              <a:lumOff val="80000"/>
            </a:schemeClr>
          </a:solidFill>
          <a:ln w="9525">
            <a:solidFill>
              <a:schemeClr val="tx1"/>
            </a:solidFill>
            <a:miter lim="800000"/>
            <a:headEnd/>
            <a:tailEnd/>
          </a:ln>
          <a:effectLst/>
          <a:extLst/>
        </p:spPr>
        <p:txBody>
          <a:bodyPr/>
          <a:lstStyle/>
          <a:p>
            <a:pPr algn="ctr"/>
            <a:r>
              <a:rPr lang="zh-CN" altLang="en-US" dirty="0">
                <a:latin typeface="微软雅黑" panose="020B0503020204020204" pitchFamily="34" charset="-122"/>
                <a:ea typeface="微软雅黑" panose="020B0503020204020204" pitchFamily="34" charset="-122"/>
              </a:rPr>
              <a:t>首部四个字段</a:t>
            </a:r>
          </a:p>
        </p:txBody>
      </p:sp>
      <p:sp>
        <p:nvSpPr>
          <p:cNvPr id="92" name="AutoShape 44"/>
          <p:cNvSpPr>
            <a:spLocks noChangeArrowheads="1"/>
          </p:cNvSpPr>
          <p:nvPr/>
        </p:nvSpPr>
        <p:spPr bwMode="auto">
          <a:xfrm>
            <a:off x="7583320" y="1585025"/>
            <a:ext cx="1800225" cy="358775"/>
          </a:xfrm>
          <a:prstGeom prst="wedgeRoundRectCallout">
            <a:avLst>
              <a:gd name="adj1" fmla="val 3968"/>
              <a:gd name="adj2" fmla="val 284954"/>
              <a:gd name="adj3" fmla="val 16667"/>
            </a:avLst>
          </a:prstGeom>
          <a:solidFill>
            <a:schemeClr val="accent2">
              <a:lumMod val="20000"/>
              <a:lumOff val="80000"/>
            </a:schemeClr>
          </a:solidFill>
          <a:ln w="9525">
            <a:solidFill>
              <a:schemeClr val="tx1"/>
            </a:solidFill>
            <a:miter lim="800000"/>
            <a:headEnd/>
            <a:tailEnd/>
          </a:ln>
          <a:effectLst/>
          <a:extLst/>
        </p:spPr>
        <p:txBody>
          <a:bodyPr/>
          <a:lstStyle/>
          <a:p>
            <a:pPr algn="ctr"/>
            <a:r>
              <a:rPr lang="zh-CN" altLang="en-US" dirty="0">
                <a:latin typeface="微软雅黑" panose="020B0503020204020204" pitchFamily="34" charset="-122"/>
                <a:ea typeface="微软雅黑" panose="020B0503020204020204" pitchFamily="34" charset="-122"/>
              </a:rPr>
              <a:t>尾部两个字段</a:t>
            </a:r>
          </a:p>
        </p:txBody>
      </p:sp>
      <p:sp>
        <p:nvSpPr>
          <p:cNvPr id="94" name="AutoShape 47"/>
          <p:cNvSpPr>
            <a:spLocks noChangeArrowheads="1"/>
          </p:cNvSpPr>
          <p:nvPr/>
        </p:nvSpPr>
        <p:spPr bwMode="auto">
          <a:xfrm>
            <a:off x="9110727" y="1435542"/>
            <a:ext cx="2641147" cy="906633"/>
          </a:xfrm>
          <a:prstGeom prst="wedgeRoundRectCallout">
            <a:avLst>
              <a:gd name="adj1" fmla="val -46794"/>
              <a:gd name="adj2" fmla="val 121848"/>
              <a:gd name="adj3" fmla="val 16667"/>
            </a:avLst>
          </a:prstGeom>
          <a:solidFill>
            <a:schemeClr val="accent2">
              <a:lumMod val="20000"/>
              <a:lumOff val="80000"/>
            </a:schemeClr>
          </a:solidFill>
          <a:ln w="9525">
            <a:solidFill>
              <a:schemeClr val="tx1"/>
            </a:solidFill>
            <a:miter lim="800000"/>
            <a:headEnd/>
            <a:tailEnd/>
          </a:ln>
          <a:effectLst/>
          <a:extLst/>
        </p:spPr>
        <p:txBody>
          <a:bodyPr/>
          <a:lstStyle/>
          <a:p>
            <a:pPr algn="ctr"/>
            <a:r>
              <a:rPr lang="zh-CN" altLang="en-US" dirty="0">
                <a:latin typeface="微软雅黑" panose="020B0503020204020204" pitchFamily="34" charset="-122"/>
                <a:ea typeface="微软雅黑" panose="020B0503020204020204" pitchFamily="34" charset="-122"/>
              </a:rPr>
              <a:t>标志字段</a:t>
            </a:r>
            <a:r>
              <a:rPr lang="en-US" altLang="zh-CN" dirty="0">
                <a:latin typeface="微软雅黑" panose="020B0503020204020204" pitchFamily="34" charset="-122"/>
                <a:ea typeface="微软雅黑" panose="020B0503020204020204" pitchFamily="34" charset="-122"/>
              </a:rPr>
              <a:t>F(Flag)01111110 PPP</a:t>
            </a:r>
            <a:r>
              <a:rPr lang="zh-CN" altLang="en-US" dirty="0">
                <a:latin typeface="微软雅黑" panose="020B0503020204020204" pitchFamily="34" charset="-122"/>
                <a:ea typeface="微软雅黑" panose="020B0503020204020204" pitchFamily="34" charset="-122"/>
              </a:rPr>
              <a:t>帧的定界符</a:t>
            </a:r>
          </a:p>
        </p:txBody>
      </p:sp>
      <p:sp>
        <p:nvSpPr>
          <p:cNvPr id="95" name="AutoShape 49"/>
          <p:cNvSpPr>
            <a:spLocks noChangeArrowheads="1"/>
          </p:cNvSpPr>
          <p:nvPr/>
        </p:nvSpPr>
        <p:spPr bwMode="auto">
          <a:xfrm>
            <a:off x="885657" y="4393313"/>
            <a:ext cx="1800225" cy="358775"/>
          </a:xfrm>
          <a:prstGeom prst="wedgeRoundRectCallout">
            <a:avLst>
              <a:gd name="adj1" fmla="val 58819"/>
              <a:gd name="adj2" fmla="val -300884"/>
              <a:gd name="adj3" fmla="val 16667"/>
            </a:avLst>
          </a:prstGeom>
          <a:solidFill>
            <a:schemeClr val="accent2">
              <a:lumMod val="20000"/>
              <a:lumOff val="80000"/>
            </a:schemeClr>
          </a:solidFill>
          <a:ln w="9525">
            <a:solidFill>
              <a:schemeClr val="tx1"/>
            </a:solidFill>
            <a:miter lim="800000"/>
            <a:headEnd/>
            <a:tailEnd/>
          </a:ln>
          <a:effectLst/>
          <a:extLst/>
        </p:spPr>
        <p:txBody>
          <a:bodyPr/>
          <a:lstStyle/>
          <a:p>
            <a:pPr algn="ctr"/>
            <a:r>
              <a:rPr lang="zh-CN" altLang="en-US">
                <a:latin typeface="微软雅黑" panose="020B0503020204020204" pitchFamily="34" charset="-122"/>
                <a:ea typeface="微软雅黑" panose="020B0503020204020204" pitchFamily="34" charset="-122"/>
              </a:rPr>
              <a:t>地址字段</a:t>
            </a:r>
            <a:r>
              <a:rPr lang="en-US" altLang="zh-CN">
                <a:latin typeface="微软雅黑" panose="020B0503020204020204" pitchFamily="34" charset="-122"/>
                <a:ea typeface="微软雅黑" panose="020B0503020204020204" pitchFamily="34" charset="-122"/>
              </a:rPr>
              <a:t>A</a:t>
            </a:r>
          </a:p>
        </p:txBody>
      </p:sp>
      <p:sp>
        <p:nvSpPr>
          <p:cNvPr id="96" name="AutoShape 51"/>
          <p:cNvSpPr>
            <a:spLocks noChangeArrowheads="1"/>
          </p:cNvSpPr>
          <p:nvPr/>
        </p:nvSpPr>
        <p:spPr bwMode="auto">
          <a:xfrm>
            <a:off x="2830345" y="4393313"/>
            <a:ext cx="1800225" cy="358775"/>
          </a:xfrm>
          <a:prstGeom prst="wedgeRoundRectCallout">
            <a:avLst>
              <a:gd name="adj1" fmla="val -21431"/>
              <a:gd name="adj2" fmla="val -306194"/>
              <a:gd name="adj3" fmla="val 16667"/>
            </a:avLst>
          </a:prstGeom>
          <a:solidFill>
            <a:schemeClr val="accent2">
              <a:lumMod val="20000"/>
              <a:lumOff val="80000"/>
            </a:schemeClr>
          </a:solidFill>
          <a:ln w="9525">
            <a:solidFill>
              <a:schemeClr val="tx1"/>
            </a:solidFill>
            <a:miter lim="800000"/>
            <a:headEnd/>
            <a:tailEnd/>
          </a:ln>
          <a:effectLst/>
          <a:extLst/>
        </p:spPr>
        <p:txBody>
          <a:bodyPr/>
          <a:lstStyle/>
          <a:p>
            <a:pPr algn="ctr"/>
            <a:r>
              <a:rPr lang="zh-CN" altLang="en-US">
                <a:latin typeface="微软雅黑" panose="020B0503020204020204" pitchFamily="34" charset="-122"/>
                <a:ea typeface="微软雅黑" panose="020B0503020204020204" pitchFamily="34" charset="-122"/>
              </a:rPr>
              <a:t>控制字段</a:t>
            </a:r>
            <a:r>
              <a:rPr lang="en-US" altLang="zh-CN">
                <a:latin typeface="微软雅黑" panose="020B0503020204020204" pitchFamily="34" charset="-122"/>
                <a:ea typeface="微软雅黑" panose="020B0503020204020204" pitchFamily="34" charset="-122"/>
              </a:rPr>
              <a:t>C</a:t>
            </a:r>
          </a:p>
        </p:txBody>
      </p:sp>
      <p:sp>
        <p:nvSpPr>
          <p:cNvPr id="97" name="Text Box 52"/>
          <p:cNvSpPr txBox="1">
            <a:spLocks noChangeArrowheads="1"/>
          </p:cNvSpPr>
          <p:nvPr/>
        </p:nvSpPr>
        <p:spPr bwMode="auto">
          <a:xfrm>
            <a:off x="2447536" y="4736210"/>
            <a:ext cx="28082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a:latin typeface="微软雅黑" panose="020B0503020204020204" pitchFamily="34" charset="-122"/>
                <a:ea typeface="微软雅黑" panose="020B0503020204020204" pitchFamily="34" charset="-122"/>
              </a:rPr>
              <a:t>没有携带</a:t>
            </a:r>
            <a:r>
              <a:rPr lang="en-US" altLang="zh-CN" dirty="0">
                <a:latin typeface="微软雅黑" panose="020B0503020204020204" pitchFamily="34" charset="-122"/>
                <a:ea typeface="微软雅黑" panose="020B0503020204020204" pitchFamily="34" charset="-122"/>
              </a:rPr>
              <a:t>PPP</a:t>
            </a:r>
            <a:r>
              <a:rPr lang="zh-CN" altLang="en-US" dirty="0">
                <a:latin typeface="微软雅黑" panose="020B0503020204020204" pitchFamily="34" charset="-122"/>
                <a:ea typeface="微软雅黑" panose="020B0503020204020204" pitchFamily="34" charset="-122"/>
              </a:rPr>
              <a:t>帧的信息</a:t>
            </a:r>
          </a:p>
        </p:txBody>
      </p:sp>
      <p:sp>
        <p:nvSpPr>
          <p:cNvPr id="98" name="AutoShape 54"/>
          <p:cNvSpPr>
            <a:spLocks noChangeArrowheads="1"/>
          </p:cNvSpPr>
          <p:nvPr/>
        </p:nvSpPr>
        <p:spPr bwMode="auto">
          <a:xfrm>
            <a:off x="7654757" y="4320288"/>
            <a:ext cx="1800225" cy="649287"/>
          </a:xfrm>
          <a:prstGeom prst="wedgeRoundRectCallout">
            <a:avLst>
              <a:gd name="adj1" fmla="val -21431"/>
              <a:gd name="adj2" fmla="val -191565"/>
              <a:gd name="adj3" fmla="val 16667"/>
            </a:avLst>
          </a:prstGeom>
          <a:solidFill>
            <a:schemeClr val="accent2">
              <a:lumMod val="20000"/>
              <a:lumOff val="80000"/>
            </a:schemeClr>
          </a:solidFill>
          <a:ln w="9525">
            <a:solidFill>
              <a:schemeClr val="tx1"/>
            </a:solidFill>
            <a:miter lim="800000"/>
            <a:headEnd/>
            <a:tailEnd/>
          </a:ln>
          <a:effectLst/>
          <a:extLst/>
        </p:spPr>
        <p:txBody>
          <a:bodyPr/>
          <a:lstStyle/>
          <a:p>
            <a:pPr algn="ctr"/>
            <a:r>
              <a:rPr lang="en-US" altLang="zh-CN" dirty="0">
                <a:latin typeface="微软雅黑" panose="020B0503020204020204" pitchFamily="34" charset="-122"/>
                <a:ea typeface="微软雅黑" panose="020B0503020204020204" pitchFamily="34" charset="-122"/>
              </a:rPr>
              <a:t>CRC</a:t>
            </a:r>
            <a:r>
              <a:rPr lang="zh-CN" altLang="en-US" dirty="0">
                <a:latin typeface="微软雅黑" panose="020B0503020204020204" pitchFamily="34" charset="-122"/>
                <a:ea typeface="微软雅黑" panose="020B0503020204020204" pitchFamily="34" charset="-122"/>
              </a:rPr>
              <a:t>的帧检验序列</a:t>
            </a:r>
          </a:p>
        </p:txBody>
      </p:sp>
      <p:sp>
        <p:nvSpPr>
          <p:cNvPr id="50" name="文本框 49">
            <a:extLst>
              <a:ext uri="{FF2B5EF4-FFF2-40B4-BE49-F238E27FC236}">
                <a16:creationId xmlns:a16="http://schemas.microsoft.com/office/drawing/2014/main" id="{CD38F441-ECFB-4CDB-BDA7-57C4A60FAB2C}"/>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
        <p:nvSpPr>
          <p:cNvPr id="93" name="AutoShape 54"/>
          <p:cNvSpPr>
            <a:spLocks noChangeArrowheads="1"/>
          </p:cNvSpPr>
          <p:nvPr/>
        </p:nvSpPr>
        <p:spPr bwMode="auto">
          <a:xfrm>
            <a:off x="4762337" y="4513892"/>
            <a:ext cx="3760249" cy="1324411"/>
          </a:xfrm>
          <a:prstGeom prst="wedgeRoundRectCallout">
            <a:avLst>
              <a:gd name="adj1" fmla="val -65444"/>
              <a:gd name="adj2" fmla="val -122103"/>
              <a:gd name="adj3" fmla="val 16667"/>
            </a:avLst>
          </a:prstGeom>
          <a:solidFill>
            <a:schemeClr val="accent2">
              <a:lumMod val="20000"/>
              <a:lumOff val="80000"/>
            </a:schemeClr>
          </a:solidFill>
          <a:ln w="9525">
            <a:solidFill>
              <a:schemeClr val="tx1"/>
            </a:solidFill>
            <a:miter lim="800000"/>
            <a:headEnd/>
            <a:tailEnd/>
          </a:ln>
          <a:effectLst/>
          <a:extLst/>
        </p:spPr>
        <p:txBody>
          <a:bodyPr/>
          <a:lstStyle/>
          <a:p>
            <a:pPr>
              <a:lnSpc>
                <a:spcPts val="2300"/>
              </a:lnSpc>
            </a:pPr>
            <a:r>
              <a:rPr lang="zh-CN" altLang="en-US" dirty="0">
                <a:latin typeface="微软雅黑" panose="020B0503020204020204" pitchFamily="34" charset="-122"/>
                <a:ea typeface="微软雅黑" panose="020B0503020204020204" pitchFamily="34" charset="-122"/>
              </a:rPr>
              <a:t>协议字段：标识信息部分的类型</a:t>
            </a:r>
            <a:endParaRPr lang="en-US" altLang="zh-CN" dirty="0">
              <a:latin typeface="微软雅黑" panose="020B0503020204020204" pitchFamily="34" charset="-122"/>
              <a:ea typeface="微软雅黑" panose="020B0503020204020204" pitchFamily="34" charset="-122"/>
            </a:endParaRPr>
          </a:p>
          <a:p>
            <a:pPr marL="263525" lvl="1" indent="-263525">
              <a:lnSpc>
                <a:spcPts val="23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0x0021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数据报</a:t>
            </a:r>
            <a:endParaRPr lang="en-US" altLang="zh-CN" dirty="0">
              <a:latin typeface="微软雅黑" panose="020B0503020204020204" pitchFamily="34" charset="-122"/>
              <a:ea typeface="微软雅黑" panose="020B0503020204020204" pitchFamily="34" charset="-122"/>
            </a:endParaRPr>
          </a:p>
          <a:p>
            <a:pPr marL="263525" lvl="1" indent="-263525">
              <a:lnSpc>
                <a:spcPts val="23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0x8021</a:t>
            </a:r>
            <a:r>
              <a:rPr lang="zh-CN" altLang="en-US" dirty="0">
                <a:latin typeface="微软雅黑" panose="020B0503020204020204" pitchFamily="34" charset="-122"/>
                <a:ea typeface="微软雅黑" panose="020B0503020204020204" pitchFamily="34" charset="-122"/>
              </a:rPr>
              <a:t>：网络控制数据 </a:t>
            </a:r>
            <a:r>
              <a:rPr lang="en-US" altLang="zh-CN" dirty="0">
                <a:latin typeface="微软雅黑" panose="020B0503020204020204" pitchFamily="34" charset="-122"/>
                <a:ea typeface="微软雅黑" panose="020B0503020204020204" pitchFamily="34" charset="-122"/>
              </a:rPr>
              <a:t>NCP</a:t>
            </a:r>
          </a:p>
          <a:p>
            <a:pPr marL="263525" lvl="1" indent="-263525">
              <a:lnSpc>
                <a:spcPts val="23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0xC021</a:t>
            </a:r>
            <a:r>
              <a:rPr lang="zh-CN" altLang="en-US" dirty="0">
                <a:latin typeface="微软雅黑" panose="020B0503020204020204" pitchFamily="34" charset="-122"/>
                <a:ea typeface="微软雅黑" panose="020B0503020204020204" pitchFamily="34" charset="-122"/>
              </a:rPr>
              <a:t>：链路控制数据 </a:t>
            </a:r>
            <a:r>
              <a:rPr lang="en-US" altLang="zh-CN" dirty="0">
                <a:latin typeface="微软雅黑" panose="020B0503020204020204" pitchFamily="34" charset="-122"/>
                <a:ea typeface="微软雅黑" panose="020B0503020204020204" pitchFamily="34" charset="-122"/>
              </a:rPr>
              <a:t>LCP</a:t>
            </a:r>
          </a:p>
        </p:txBody>
      </p:sp>
    </p:spTree>
    <p:extLst>
      <p:ext uri="{BB962C8B-B14F-4D97-AF65-F5344CB8AC3E}">
        <p14:creationId xmlns:p14="http://schemas.microsoft.com/office/powerpoint/2010/main" val="292686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up)">
                                      <p:cBhvr>
                                        <p:cTn id="7" dur="500"/>
                                        <p:tgtEl>
                                          <p:spTgt spid="91"/>
                                        </p:tgtEl>
                                      </p:cBhvr>
                                    </p:animEffect>
                                  </p:childTnLst>
                                  <p:subTnLst>
                                    <p:set>
                                      <p:cBhvr override="childStyle">
                                        <p:cTn dur="1" fill="hold" display="0" masterRel="nextClick" afterEffect="1"/>
                                        <p:tgtEl>
                                          <p:spTgt spid="9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2"/>
                                        </p:tgtEl>
                                        <p:attrNameLst>
                                          <p:attrName>style.visibility</p:attrName>
                                        </p:attrNameLst>
                                      </p:cBhvr>
                                      <p:to>
                                        <p:strVal val="visible"/>
                                      </p:to>
                                    </p:set>
                                    <p:animEffect transition="in" filter="wipe(up)">
                                      <p:cBhvr>
                                        <p:cTn id="12" dur="500"/>
                                        <p:tgtEl>
                                          <p:spTgt spid="92"/>
                                        </p:tgtEl>
                                      </p:cBhvr>
                                    </p:animEffect>
                                  </p:childTnLst>
                                  <p:subTnLst>
                                    <p:set>
                                      <p:cBhvr override="childStyle">
                                        <p:cTn dur="1" fill="hold" display="0" masterRel="nextClick" afterEffect="1"/>
                                        <p:tgtEl>
                                          <p:spTgt spid="9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4"/>
                                        </p:tgtEl>
                                        <p:attrNameLst>
                                          <p:attrName>style.visibility</p:attrName>
                                        </p:attrNameLst>
                                      </p:cBhvr>
                                      <p:to>
                                        <p:strVal val="visible"/>
                                      </p:to>
                                    </p:set>
                                    <p:animEffect transition="in" filter="wipe(up)">
                                      <p:cBhvr>
                                        <p:cTn id="17" dur="500"/>
                                        <p:tgtEl>
                                          <p:spTgt spid="94"/>
                                        </p:tgtEl>
                                      </p:cBhvr>
                                    </p:animEffect>
                                  </p:childTnLst>
                                  <p:subTnLst>
                                    <p:set>
                                      <p:cBhvr override="childStyle">
                                        <p:cTn dur="1" fill="hold" display="0" masterRel="nextClick" afterEffect="1"/>
                                        <p:tgtEl>
                                          <p:spTgt spid="9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5"/>
                                        </p:tgtEl>
                                        <p:attrNameLst>
                                          <p:attrName>style.visibility</p:attrName>
                                        </p:attrNameLst>
                                      </p:cBhvr>
                                      <p:to>
                                        <p:strVal val="visible"/>
                                      </p:to>
                                    </p:set>
                                    <p:animEffect transition="in" filter="wipe(up)">
                                      <p:cBhvr>
                                        <p:cTn id="22" dur="500"/>
                                        <p:tgtEl>
                                          <p:spTgt spid="95"/>
                                        </p:tgtEl>
                                      </p:cBhvr>
                                    </p:animEffect>
                                  </p:childTnLst>
                                  <p:subTnLst>
                                    <p:set>
                                      <p:cBhvr override="childStyle">
                                        <p:cTn dur="1" fill="hold" display="0" masterRel="nextClick" afterEffect="1"/>
                                        <p:tgtEl>
                                          <p:spTgt spid="95"/>
                                        </p:tgtEl>
                                        <p:attrNameLst>
                                          <p:attrName>style.visibility</p:attrName>
                                        </p:attrNameLst>
                                      </p:cBhvr>
                                      <p:to>
                                        <p:strVal val="hidden"/>
                                      </p:to>
                                    </p:set>
                                  </p:subTnLst>
                                </p:cTn>
                              </p:par>
                              <p:par>
                                <p:cTn id="23" presetID="22" presetClass="entr" presetSubtype="1"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animEffect transition="in" filter="wipe(up)">
                                      <p:cBhvr>
                                        <p:cTn id="25" dur="500"/>
                                        <p:tgtEl>
                                          <p:spTgt spid="96"/>
                                        </p:tgtEl>
                                      </p:cBhvr>
                                    </p:animEffect>
                                  </p:childTnLst>
                                  <p:subTnLst>
                                    <p:set>
                                      <p:cBhvr override="childStyle">
                                        <p:cTn dur="1" fill="hold" display="0" masterRel="nextClick" afterEffect="1"/>
                                        <p:tgtEl>
                                          <p:spTgt spid="96"/>
                                        </p:tgtEl>
                                        <p:attrNameLst>
                                          <p:attrName>style.visibility</p:attrName>
                                        </p:attrNameLst>
                                      </p:cBhvr>
                                      <p:to>
                                        <p:strVal val="hidden"/>
                                      </p:to>
                                    </p:set>
                                  </p:subTnLst>
                                </p:cTn>
                              </p:par>
                              <p:par>
                                <p:cTn id="26" presetID="22" presetClass="entr" presetSubtype="8" fill="hold" grpId="0" nodeType="withEffect">
                                  <p:stCondLst>
                                    <p:cond delay="0"/>
                                  </p:stCondLst>
                                  <p:childTnLst>
                                    <p:set>
                                      <p:cBhvr>
                                        <p:cTn id="27" dur="1" fill="hold">
                                          <p:stCondLst>
                                            <p:cond delay="0"/>
                                          </p:stCondLst>
                                        </p:cTn>
                                        <p:tgtEl>
                                          <p:spTgt spid="97"/>
                                        </p:tgtEl>
                                        <p:attrNameLst>
                                          <p:attrName>style.visibility</p:attrName>
                                        </p:attrNameLst>
                                      </p:cBhvr>
                                      <p:to>
                                        <p:strVal val="visible"/>
                                      </p:to>
                                    </p:set>
                                    <p:animEffect transition="in" filter="wipe(left)">
                                      <p:cBhvr>
                                        <p:cTn id="28" dur="500"/>
                                        <p:tgtEl>
                                          <p:spTgt spid="97"/>
                                        </p:tgtEl>
                                      </p:cBhvr>
                                    </p:animEffect>
                                  </p:childTnLst>
                                  <p:subTnLst>
                                    <p:set>
                                      <p:cBhvr override="childStyle">
                                        <p:cTn dur="1" fill="hold" display="0" masterRel="nextClick" afterEffect="1"/>
                                        <p:tgtEl>
                                          <p:spTgt spid="97"/>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wipe(up)">
                                      <p:cBhvr>
                                        <p:cTn id="33" dur="500"/>
                                        <p:tgtEl>
                                          <p:spTgt spid="52"/>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90"/>
                                        </p:tgtEl>
                                        <p:attrNameLst>
                                          <p:attrName>style.visibility</p:attrName>
                                        </p:attrNameLst>
                                      </p:cBhvr>
                                      <p:to>
                                        <p:strVal val="visible"/>
                                      </p:to>
                                    </p:set>
                                    <p:animEffect transition="in" filter="wipe(up)">
                                      <p:cBhvr>
                                        <p:cTn id="36" dur="500"/>
                                        <p:tgtEl>
                                          <p:spTgt spid="90"/>
                                        </p:tgtEl>
                                      </p:cBhvr>
                                    </p:animEffect>
                                  </p:childTnLst>
                                </p:cTn>
                              </p:par>
                              <p:par>
                                <p:cTn id="37" presetID="1" presetClass="entr" presetSubtype="0" fill="hold" nodeType="withEffect">
                                  <p:stCondLst>
                                    <p:cond delay="0"/>
                                  </p:stCondLst>
                                  <p:childTnLst>
                                    <p:set>
                                      <p:cBhvr>
                                        <p:cTn id="38"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98"/>
                                        </p:tgtEl>
                                        <p:attrNameLst>
                                          <p:attrName>style.visibility</p:attrName>
                                        </p:attrNameLst>
                                      </p:cBhvr>
                                      <p:to>
                                        <p:strVal val="visible"/>
                                      </p:to>
                                    </p:set>
                                    <p:animEffect transition="in" filter="wipe(up)">
                                      <p:cBhvr>
                                        <p:cTn id="43" dur="500"/>
                                        <p:tgtEl>
                                          <p:spTgt spid="98"/>
                                        </p:tgtEl>
                                      </p:cBhvr>
                                    </p:animEffect>
                                  </p:childTnLst>
                                  <p:subTnLst>
                                    <p:set>
                                      <p:cBhvr override="childStyle">
                                        <p:cTn dur="1" fill="hold" display="0" masterRel="nextClick" afterEffect="1"/>
                                        <p:tgtEl>
                                          <p:spTgt spid="98"/>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93"/>
                                        </p:tgtEl>
                                        <p:attrNameLst>
                                          <p:attrName>style.visibility</p:attrName>
                                        </p:attrNameLst>
                                      </p:cBhvr>
                                      <p:to>
                                        <p:strVal val="visible"/>
                                      </p:to>
                                    </p:set>
                                    <p:animEffect transition="in" filter="wipe(up)">
                                      <p:cBhvr>
                                        <p:cTn id="48" dur="500"/>
                                        <p:tgtEl>
                                          <p:spTgt spid="93"/>
                                        </p:tgtEl>
                                      </p:cBhvr>
                                    </p:animEffect>
                                  </p:childTnLst>
                                  <p:subTnLst>
                                    <p:set>
                                      <p:cBhvr override="childStyle">
                                        <p:cTn dur="1" fill="hold" display="0" masterRel="nextClick" afterEffect="1"/>
                                        <p:tgtEl>
                                          <p:spTgt spid="9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90" grpId="0" animBg="1"/>
      <p:bldP spid="91" grpId="0" animBg="1"/>
      <p:bldP spid="92" grpId="0" animBg="1"/>
      <p:bldP spid="94" grpId="0" animBg="1"/>
      <p:bldP spid="95" grpId="0" animBg="1"/>
      <p:bldP spid="96" grpId="0" animBg="1"/>
      <p:bldP spid="97" grpId="0"/>
      <p:bldP spid="98" grpId="0" animBg="1"/>
      <p:bldP spid="9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838200" y="1358900"/>
            <a:ext cx="10515600" cy="4738552"/>
          </a:xfrm>
        </p:spPr>
        <p:txBody>
          <a:bodyPr/>
          <a:lstStyle/>
          <a:p>
            <a:pPr>
              <a:lnSpc>
                <a:spcPct val="150000"/>
              </a:lnSpc>
            </a:pPr>
            <a:r>
              <a:rPr lang="en-US" altLang="zh-CN" dirty="0"/>
              <a:t>PPP</a:t>
            </a:r>
            <a:r>
              <a:rPr lang="zh-CN" altLang="en-US" dirty="0"/>
              <a:t>协议中的透明传输</a:t>
            </a:r>
            <a:endParaRPr lang="en-US" altLang="zh-CN" dirty="0"/>
          </a:p>
          <a:p>
            <a:pPr lvl="1">
              <a:lnSpc>
                <a:spcPct val="150000"/>
              </a:lnSpc>
            </a:pPr>
            <a:r>
              <a:rPr lang="zh-CN" altLang="en-US" dirty="0"/>
              <a:t>当 </a:t>
            </a:r>
            <a:r>
              <a:rPr lang="en-US" altLang="zh-CN" dirty="0"/>
              <a:t>PPP </a:t>
            </a:r>
            <a:r>
              <a:rPr lang="zh-CN" altLang="en-US" dirty="0"/>
              <a:t>用在异步传输时，使用一种特殊的字符填充法</a:t>
            </a:r>
          </a:p>
          <a:p>
            <a:pPr lvl="1">
              <a:lnSpc>
                <a:spcPct val="150000"/>
              </a:lnSpc>
            </a:pPr>
            <a:r>
              <a:rPr lang="zh-CN" altLang="en-US" dirty="0"/>
              <a:t>当 </a:t>
            </a:r>
            <a:r>
              <a:rPr lang="en-US" altLang="zh-CN" dirty="0"/>
              <a:t>PPP </a:t>
            </a:r>
            <a:r>
              <a:rPr lang="zh-CN" altLang="en-US" dirty="0"/>
              <a:t>用在同步传输链路时，协议规定采用硬件来完成比特填充（与 </a:t>
            </a:r>
            <a:r>
              <a:rPr lang="en-US" altLang="zh-CN" dirty="0" err="1"/>
              <a:t>HDLC</a:t>
            </a:r>
            <a:r>
              <a:rPr lang="en-US" altLang="zh-CN" dirty="0"/>
              <a:t> </a:t>
            </a:r>
            <a:r>
              <a:rPr lang="zh-CN" altLang="en-US" dirty="0"/>
              <a:t>的做法类似）</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
        <p:nvSpPr>
          <p:cNvPr id="5" name="文本框 4">
            <a:extLst>
              <a:ext uri="{FF2B5EF4-FFF2-40B4-BE49-F238E27FC236}">
                <a16:creationId xmlns:a16="http://schemas.microsoft.com/office/drawing/2014/main" id="{0C865441-5D2A-4924-8184-C588AE1EA25F}"/>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7831274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838200" y="1333500"/>
            <a:ext cx="10579100" cy="4763952"/>
          </a:xfrm>
        </p:spPr>
        <p:txBody>
          <a:bodyPr>
            <a:noAutofit/>
          </a:bodyPr>
          <a:lstStyle/>
          <a:p>
            <a:pPr>
              <a:lnSpc>
                <a:spcPct val="150000"/>
              </a:lnSpc>
              <a:spcBef>
                <a:spcPts val="0"/>
              </a:spcBef>
            </a:pPr>
            <a:r>
              <a:rPr lang="zh-CN" altLang="en-US" dirty="0"/>
              <a:t>字节填充</a:t>
            </a:r>
          </a:p>
          <a:p>
            <a:pPr lvl="1">
              <a:lnSpc>
                <a:spcPct val="150000"/>
              </a:lnSpc>
              <a:spcBef>
                <a:spcPts val="0"/>
              </a:spcBef>
            </a:pPr>
            <a:r>
              <a:rPr lang="zh-CN" altLang="en-US" dirty="0"/>
              <a:t>避免在信息字段中出现和</a:t>
            </a:r>
            <a:r>
              <a:rPr kumimoji="1" lang="zh-CN" altLang="en-US" dirty="0">
                <a:solidFill>
                  <a:srgbClr val="C00000"/>
                </a:solidFill>
              </a:rPr>
              <a:t>标志字段</a:t>
            </a:r>
            <a:r>
              <a:rPr lang="zh-CN" altLang="en-US" dirty="0"/>
              <a:t>一样的比特组合（</a:t>
            </a:r>
            <a:r>
              <a:rPr lang="en-US" altLang="zh-CN" dirty="0"/>
              <a:t>0X7E</a:t>
            </a:r>
            <a:r>
              <a:rPr lang="zh-CN" altLang="en-US" dirty="0"/>
              <a:t>）</a:t>
            </a:r>
          </a:p>
          <a:p>
            <a:pPr lvl="1">
              <a:lnSpc>
                <a:spcPct val="150000"/>
              </a:lnSpc>
              <a:spcBef>
                <a:spcPts val="0"/>
              </a:spcBef>
            </a:pPr>
            <a:r>
              <a:rPr lang="zh-CN" altLang="en-US" dirty="0"/>
              <a:t>当</a:t>
            </a:r>
            <a:r>
              <a:rPr lang="en-US" altLang="zh-CN" dirty="0"/>
              <a:t>PPP</a:t>
            </a:r>
            <a:r>
              <a:rPr lang="zh-CN" altLang="en-US" dirty="0"/>
              <a:t>使用异步传输时，定义</a:t>
            </a:r>
            <a:r>
              <a:rPr kumimoji="1" lang="zh-CN" altLang="en-US" dirty="0">
                <a:solidFill>
                  <a:srgbClr val="C00000"/>
                </a:solidFill>
              </a:rPr>
              <a:t>转义字符</a:t>
            </a:r>
            <a:r>
              <a:rPr lang="en-US" altLang="zh-CN" dirty="0" err="1"/>
              <a:t>0X7D</a:t>
            </a:r>
            <a:r>
              <a:rPr lang="zh-CN" altLang="en-US" dirty="0"/>
              <a:t>，并使用字节填充</a:t>
            </a:r>
          </a:p>
          <a:p>
            <a:pPr lvl="2">
              <a:lnSpc>
                <a:spcPct val="150000"/>
              </a:lnSpc>
              <a:spcBef>
                <a:spcPts val="0"/>
              </a:spcBef>
              <a:buFont typeface="Microsoft YaHei" panose="020B0503020204020204" pitchFamily="34" charset="-122"/>
              <a:buChar char="－"/>
            </a:pPr>
            <a:r>
              <a:rPr lang="zh-CN" altLang="en-US" dirty="0"/>
              <a:t>将信息字段中出现的</a:t>
            </a:r>
            <a:r>
              <a:rPr lang="en-US" altLang="zh-CN" dirty="0"/>
              <a:t>0x7E </a:t>
            </a:r>
            <a:r>
              <a:rPr lang="zh-CN" altLang="en-US" dirty="0"/>
              <a:t>字节转变成为</a:t>
            </a:r>
            <a:r>
              <a:rPr lang="en-US" altLang="zh-CN" dirty="0"/>
              <a:t>2</a:t>
            </a:r>
            <a:r>
              <a:rPr lang="zh-CN" altLang="en-US" dirty="0"/>
              <a:t>字节序列</a:t>
            </a:r>
            <a:r>
              <a:rPr lang="en-US" altLang="zh-CN" dirty="0"/>
              <a:t>(0x7D, 0x5E)</a:t>
            </a:r>
            <a:r>
              <a:rPr lang="zh-CN" altLang="en-US" dirty="0"/>
              <a:t> </a:t>
            </a:r>
          </a:p>
          <a:p>
            <a:pPr lvl="2">
              <a:lnSpc>
                <a:spcPct val="150000"/>
              </a:lnSpc>
              <a:spcBef>
                <a:spcPts val="0"/>
              </a:spcBef>
              <a:buFont typeface="Microsoft YaHei" panose="020B0503020204020204" pitchFamily="34" charset="-122"/>
              <a:buChar char="－"/>
            </a:pPr>
            <a:r>
              <a:rPr lang="zh-CN" altLang="en-US" dirty="0"/>
              <a:t>若信息字段中出现一个</a:t>
            </a:r>
            <a:r>
              <a:rPr lang="en-US" altLang="zh-CN" dirty="0"/>
              <a:t>0x7D </a:t>
            </a:r>
            <a:r>
              <a:rPr lang="zh-CN" altLang="en-US" dirty="0"/>
              <a:t>字节</a:t>
            </a:r>
            <a:r>
              <a:rPr lang="en-US" altLang="zh-CN" dirty="0"/>
              <a:t>, </a:t>
            </a:r>
            <a:r>
              <a:rPr lang="zh-CN" altLang="en-US" dirty="0"/>
              <a:t>则将其转变成为</a:t>
            </a:r>
            <a:r>
              <a:rPr lang="en-US" altLang="zh-CN" dirty="0"/>
              <a:t>2</a:t>
            </a:r>
            <a:r>
              <a:rPr lang="zh-CN" altLang="en-US" dirty="0"/>
              <a:t>字节序列</a:t>
            </a:r>
            <a:r>
              <a:rPr lang="en-US" altLang="zh-CN" dirty="0"/>
              <a:t>(0x7D, 0x5D)</a:t>
            </a:r>
            <a:endParaRPr lang="zh-CN" altLang="en-US" dirty="0"/>
          </a:p>
          <a:p>
            <a:pPr marL="1165225" lvl="2" indent="-250825">
              <a:lnSpc>
                <a:spcPct val="150000"/>
              </a:lnSpc>
              <a:spcBef>
                <a:spcPts val="0"/>
              </a:spcBef>
              <a:buFont typeface="Microsoft YaHei" panose="020B0503020204020204" pitchFamily="34" charset="-122"/>
              <a:buChar char="－"/>
            </a:pPr>
            <a:r>
              <a:rPr lang="zh-CN" altLang="en-US" dirty="0"/>
              <a:t>若信息字段中出现 </a:t>
            </a:r>
            <a:r>
              <a:rPr lang="en-US" altLang="zh-CN" dirty="0"/>
              <a:t>ASCII </a:t>
            </a:r>
            <a:r>
              <a:rPr lang="zh-CN" altLang="en-US" dirty="0"/>
              <a:t>码的控制字符（即数值小于 </a:t>
            </a:r>
            <a:r>
              <a:rPr lang="en-US" altLang="zh-CN" dirty="0" err="1"/>
              <a:t>0x20</a:t>
            </a:r>
            <a:r>
              <a:rPr lang="en-US" altLang="zh-CN" dirty="0"/>
              <a:t> </a:t>
            </a:r>
            <a:r>
              <a:rPr lang="zh-CN" altLang="en-US" dirty="0"/>
              <a:t>的字符），则在该字符前面要加入一个 </a:t>
            </a:r>
            <a:r>
              <a:rPr lang="en-US" altLang="zh-CN" dirty="0" err="1"/>
              <a:t>0x7D</a:t>
            </a:r>
            <a:r>
              <a:rPr lang="en-US" altLang="zh-CN" dirty="0"/>
              <a:t> </a:t>
            </a:r>
            <a:r>
              <a:rPr lang="zh-CN" altLang="en-US" dirty="0"/>
              <a:t>字节，同时将该字符的编码加以改变</a:t>
            </a:r>
          </a:p>
          <a:p>
            <a:pPr lvl="1">
              <a:lnSpc>
                <a:spcPct val="150000"/>
              </a:lnSpc>
              <a:spcBef>
                <a:spcPts val="0"/>
              </a:spcBef>
            </a:pPr>
            <a:r>
              <a:rPr lang="zh-CN" altLang="en-US" dirty="0"/>
              <a:t>在发送端进行了字节填充，链路上传递的信息字节数超过原来的信息字节数。接收端进行字节填充相反的工作，恢复为原来的信息</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sp>
        <p:nvSpPr>
          <p:cNvPr id="5" name="文本框 4">
            <a:extLst>
              <a:ext uri="{FF2B5EF4-FFF2-40B4-BE49-F238E27FC236}">
                <a16:creationId xmlns:a16="http://schemas.microsoft.com/office/drawing/2014/main" id="{C9271F71-0AFD-4A3C-81DF-3F61419FCA65}"/>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9348326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709245" y="1473200"/>
            <a:ext cx="10779369" cy="4586152"/>
          </a:xfrm>
        </p:spPr>
        <p:txBody>
          <a:bodyPr>
            <a:normAutofit/>
          </a:bodyPr>
          <a:lstStyle/>
          <a:p>
            <a:r>
              <a:rPr lang="zh-CN" altLang="en-US" dirty="0"/>
              <a:t>字节填充</a:t>
            </a:r>
          </a:p>
          <a:p>
            <a:pPr lvl="1">
              <a:lnSpc>
                <a:spcPts val="3000"/>
              </a:lnSpc>
            </a:pPr>
            <a:r>
              <a:rPr lang="en-US" altLang="zh-CN" sz="2000" dirty="0" err="1"/>
              <a:t>0x7e</a:t>
            </a:r>
            <a:r>
              <a:rPr lang="en-US" altLang="zh-CN" sz="2000" dirty="0"/>
              <a:t> </a:t>
            </a:r>
            <a:r>
              <a:rPr lang="zh-CN" altLang="en-US" sz="2000" dirty="0"/>
              <a:t>字节填充后编码为</a:t>
            </a:r>
            <a:r>
              <a:rPr lang="en-US" altLang="zh-CN" sz="2000" dirty="0"/>
              <a:t> 0x7d, 0x5e.    (Flag Sequence)</a:t>
            </a:r>
            <a:r>
              <a:rPr lang="zh-CN" altLang="en-US" sz="2000" dirty="0"/>
              <a:t>帧序列</a:t>
            </a:r>
          </a:p>
          <a:p>
            <a:pPr lvl="1">
              <a:lnSpc>
                <a:spcPts val="3000"/>
              </a:lnSpc>
            </a:pPr>
            <a:r>
              <a:rPr lang="en-US" altLang="zh-CN" sz="2000" dirty="0" err="1"/>
              <a:t>0x7d</a:t>
            </a:r>
            <a:r>
              <a:rPr lang="en-US" altLang="zh-CN" sz="2000" dirty="0"/>
              <a:t> </a:t>
            </a:r>
            <a:r>
              <a:rPr lang="zh-CN" altLang="en-US" sz="2000" dirty="0"/>
              <a:t>字节填充后编码为 </a:t>
            </a:r>
            <a:r>
              <a:rPr lang="en-US" altLang="zh-CN" sz="2000" dirty="0"/>
              <a:t>0x7d, 0x5d.    (Control Escape)</a:t>
            </a:r>
            <a:r>
              <a:rPr lang="zh-CN" altLang="en-US" sz="2000" dirty="0"/>
              <a:t>控制转义符</a:t>
            </a:r>
          </a:p>
          <a:p>
            <a:pPr lvl="1">
              <a:lnSpc>
                <a:spcPts val="3000"/>
              </a:lnSpc>
            </a:pPr>
            <a:r>
              <a:rPr lang="en-US" altLang="zh-CN" sz="2000" dirty="0" err="1"/>
              <a:t>0x03</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0x23</a:t>
            </a:r>
            <a:r>
              <a:rPr lang="en-US" altLang="zh-CN" sz="2000" dirty="0"/>
              <a:t>.    (</a:t>
            </a:r>
            <a:r>
              <a:rPr lang="en-US" altLang="zh-CN" sz="2000" dirty="0" err="1"/>
              <a:t>ETX</a:t>
            </a:r>
            <a:r>
              <a:rPr lang="en-US" altLang="zh-CN" sz="2000" dirty="0"/>
              <a:t>)</a:t>
            </a:r>
            <a:r>
              <a:rPr lang="zh-CN" altLang="en-US" sz="2000" dirty="0"/>
              <a:t>文本结束符</a:t>
            </a:r>
          </a:p>
          <a:p>
            <a:pPr lvl="1">
              <a:lnSpc>
                <a:spcPts val="3000"/>
              </a:lnSpc>
            </a:pPr>
            <a:r>
              <a:rPr lang="en-US" altLang="zh-CN" sz="2000" dirty="0" err="1"/>
              <a:t>0x11</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0x31</a:t>
            </a:r>
            <a:r>
              <a:rPr lang="en-US" altLang="zh-CN" sz="2000" dirty="0"/>
              <a:t>.    (</a:t>
            </a:r>
            <a:r>
              <a:rPr lang="en-US" altLang="zh-CN" sz="2000" dirty="0" err="1"/>
              <a:t>XON</a:t>
            </a:r>
            <a:r>
              <a:rPr lang="en-US" altLang="zh-CN" sz="2000" dirty="0"/>
              <a:t>)</a:t>
            </a:r>
            <a:r>
              <a:rPr lang="zh-CN" altLang="en-US" sz="2000" dirty="0"/>
              <a:t>重新传输</a:t>
            </a:r>
          </a:p>
          <a:p>
            <a:pPr lvl="1">
              <a:lnSpc>
                <a:spcPts val="3000"/>
              </a:lnSpc>
            </a:pPr>
            <a:r>
              <a:rPr lang="en-US" altLang="zh-CN" sz="2000" dirty="0" err="1"/>
              <a:t>0x13</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0x33</a:t>
            </a:r>
            <a:r>
              <a:rPr lang="en-US" altLang="zh-CN" sz="2000" dirty="0"/>
              <a:t>.    (</a:t>
            </a:r>
            <a:r>
              <a:rPr lang="en-US" altLang="zh-CN" sz="2000" dirty="0" err="1"/>
              <a:t>XOFF</a:t>
            </a:r>
            <a:r>
              <a:rPr lang="en-US" altLang="zh-CN" sz="2000" dirty="0"/>
              <a:t>)</a:t>
            </a:r>
            <a:r>
              <a:rPr lang="zh-CN" altLang="en-US" sz="2000" dirty="0"/>
              <a:t>传输暂停</a:t>
            </a:r>
          </a:p>
          <a:p>
            <a:pPr lvl="1">
              <a:lnSpc>
                <a:spcPts val="3000"/>
              </a:lnSpc>
            </a:pPr>
            <a:r>
              <a:rPr lang="en-US" altLang="zh-CN" sz="2000" dirty="0" err="1"/>
              <a:t>0x91</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0xb1</a:t>
            </a:r>
            <a:r>
              <a:rPr lang="en-US" altLang="zh-CN" sz="2000" dirty="0"/>
              <a:t>.    (</a:t>
            </a:r>
            <a:r>
              <a:rPr lang="en-US" altLang="zh-CN" sz="2000" dirty="0" err="1"/>
              <a:t>XON</a:t>
            </a:r>
            <a:r>
              <a:rPr lang="en-US" altLang="zh-CN" sz="2000" dirty="0"/>
              <a:t> with parity set)</a:t>
            </a:r>
            <a:r>
              <a:rPr lang="zh-CN" altLang="en-US" sz="2000" dirty="0"/>
              <a:t>带奇偶校验集合的</a:t>
            </a:r>
            <a:r>
              <a:rPr lang="en-US" altLang="zh-CN" sz="2000" dirty="0" err="1"/>
              <a:t>XON</a:t>
            </a:r>
            <a:endParaRPr lang="en-US" altLang="zh-CN" sz="2000" dirty="0"/>
          </a:p>
          <a:p>
            <a:pPr lvl="1">
              <a:lnSpc>
                <a:spcPts val="3000"/>
              </a:lnSpc>
            </a:pPr>
            <a:r>
              <a:rPr lang="en-US" altLang="zh-CN" sz="2000" dirty="0" err="1"/>
              <a:t>0x93</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0xb3</a:t>
            </a:r>
            <a:r>
              <a:rPr lang="en-US" altLang="zh-CN" sz="2000" dirty="0"/>
              <a:t>.    (</a:t>
            </a:r>
            <a:r>
              <a:rPr lang="en-US" altLang="zh-CN" sz="2000" dirty="0" err="1"/>
              <a:t>XOFF</a:t>
            </a:r>
            <a:r>
              <a:rPr lang="en-US" altLang="zh-CN" sz="2000" dirty="0"/>
              <a:t> with parity set)</a:t>
            </a:r>
            <a:r>
              <a:rPr lang="zh-CN" altLang="en-US" sz="2000" dirty="0"/>
              <a:t>带奇偶校验集合的</a:t>
            </a:r>
            <a:r>
              <a:rPr lang="en-US" altLang="zh-CN" sz="2000" dirty="0" err="1"/>
              <a:t>XOFF</a:t>
            </a:r>
            <a:endParaRPr lang="zh-CN" altLang="en-US"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sp>
        <p:nvSpPr>
          <p:cNvPr id="5" name="文本框 4">
            <a:extLst>
              <a:ext uri="{FF2B5EF4-FFF2-40B4-BE49-F238E27FC236}">
                <a16:creationId xmlns:a16="http://schemas.microsoft.com/office/drawing/2014/main" id="{96903219-2C83-42F6-BAD2-E4EB9AA7938B}"/>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3236548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838200" y="1511300"/>
            <a:ext cx="10515600" cy="4586152"/>
          </a:xfrm>
        </p:spPr>
        <p:txBody>
          <a:bodyPr/>
          <a:lstStyle/>
          <a:p>
            <a:pPr>
              <a:lnSpc>
                <a:spcPts val="3600"/>
              </a:lnSpc>
            </a:pPr>
            <a:r>
              <a:rPr lang="zh-CN" altLang="en-US" dirty="0"/>
              <a:t>零比特填充</a:t>
            </a:r>
            <a:endParaRPr lang="en-US" altLang="zh-CN" dirty="0"/>
          </a:p>
          <a:p>
            <a:pPr lvl="1">
              <a:lnSpc>
                <a:spcPts val="3600"/>
              </a:lnSpc>
            </a:pPr>
            <a:r>
              <a:rPr lang="en-US" altLang="zh-CN" dirty="0"/>
              <a:t>PPP</a:t>
            </a:r>
            <a:r>
              <a:rPr lang="zh-CN" altLang="en-US" dirty="0"/>
              <a:t>协议用在</a:t>
            </a:r>
            <a:r>
              <a:rPr lang="en-US" altLang="zh-CN" dirty="0" err="1"/>
              <a:t>SONET</a:t>
            </a:r>
            <a:r>
              <a:rPr lang="en-US" altLang="zh-CN" dirty="0"/>
              <a:t>/</a:t>
            </a:r>
            <a:r>
              <a:rPr lang="en-US" altLang="zh-CN" dirty="0" err="1"/>
              <a:t>SDH</a:t>
            </a:r>
            <a:r>
              <a:rPr lang="zh-CN" altLang="en-US" dirty="0"/>
              <a:t>链路时，使用</a:t>
            </a:r>
            <a:r>
              <a:rPr kumimoji="1" lang="zh-CN" altLang="en-US" dirty="0">
                <a:solidFill>
                  <a:srgbClr val="C00000"/>
                </a:solidFill>
              </a:rPr>
              <a:t>同步传输</a:t>
            </a:r>
            <a:r>
              <a:rPr lang="zh-CN" altLang="en-US" dirty="0"/>
              <a:t>（一连串的比特连续传送），不是异步传输（逐个字符地传送）</a:t>
            </a:r>
          </a:p>
          <a:p>
            <a:pPr lvl="2" indent="-330200">
              <a:lnSpc>
                <a:spcPts val="3600"/>
              </a:lnSpc>
              <a:buFont typeface="Microsoft YaHei" panose="020B0503020204020204" pitchFamily="34" charset="-122"/>
              <a:buChar char="−"/>
            </a:pPr>
            <a:r>
              <a:rPr lang="zh-CN" altLang="en-US" dirty="0"/>
              <a:t>采用比特填充方法来实现透明传输。</a:t>
            </a:r>
          </a:p>
          <a:p>
            <a:pPr lvl="2" indent="-330200">
              <a:lnSpc>
                <a:spcPts val="3600"/>
              </a:lnSpc>
              <a:buFont typeface="Microsoft YaHei" panose="020B0503020204020204" pitchFamily="34" charset="-122"/>
              <a:buChar char="−"/>
            </a:pPr>
            <a:r>
              <a:rPr lang="zh-CN" altLang="en-US" dirty="0"/>
              <a:t>信息字段中出现了和标志字段 </a:t>
            </a:r>
            <a:r>
              <a:rPr lang="en-US" altLang="zh-CN" dirty="0"/>
              <a:t>F </a:t>
            </a:r>
            <a:r>
              <a:rPr lang="zh-CN" altLang="en-US" dirty="0"/>
              <a:t>完全一样的 </a:t>
            </a:r>
            <a:r>
              <a:rPr lang="en-US" altLang="zh-CN" dirty="0"/>
              <a:t>8 </a:t>
            </a:r>
            <a:r>
              <a:rPr lang="zh-CN" altLang="en-US" dirty="0"/>
              <a:t>比特组合（</a:t>
            </a:r>
            <a:r>
              <a:rPr lang="en-US" altLang="zh-CN" dirty="0" err="1"/>
              <a:t>0x7E</a:t>
            </a:r>
            <a:r>
              <a:rPr lang="zh-CN" altLang="en-US" dirty="0"/>
              <a:t>）；</a:t>
            </a:r>
          </a:p>
          <a:p>
            <a:pPr lvl="2" indent="-330200">
              <a:lnSpc>
                <a:spcPts val="3600"/>
              </a:lnSpc>
              <a:buFont typeface="Microsoft YaHei" panose="020B0503020204020204" pitchFamily="34" charset="-122"/>
              <a:buChar char="−"/>
            </a:pPr>
            <a:r>
              <a:rPr lang="zh-CN" altLang="en-US" dirty="0"/>
              <a:t>发送端在 </a:t>
            </a:r>
            <a:r>
              <a:rPr lang="en-US" altLang="zh-CN" dirty="0"/>
              <a:t>5 </a:t>
            </a:r>
            <a:r>
              <a:rPr lang="zh-CN" altLang="en-US" dirty="0"/>
              <a:t>个连 </a:t>
            </a:r>
            <a:r>
              <a:rPr lang="en-US" altLang="zh-CN" dirty="0"/>
              <a:t>1 </a:t>
            </a:r>
            <a:r>
              <a:rPr lang="zh-CN" altLang="en-US" dirty="0"/>
              <a:t>之后填入 </a:t>
            </a:r>
            <a:r>
              <a:rPr lang="en-US" altLang="zh-CN" dirty="0"/>
              <a:t>0 </a:t>
            </a:r>
            <a:r>
              <a:rPr lang="zh-CN" altLang="en-US" dirty="0"/>
              <a:t>比特再发送出去；</a:t>
            </a:r>
            <a:endParaRPr lang="en-US" altLang="zh-CN" dirty="0"/>
          </a:p>
          <a:p>
            <a:pPr lvl="2" indent="-330200">
              <a:lnSpc>
                <a:spcPts val="3600"/>
              </a:lnSpc>
              <a:buFont typeface="Microsoft YaHei" panose="020B0503020204020204" pitchFamily="34" charset="-122"/>
              <a:buChar char="−"/>
            </a:pPr>
            <a:r>
              <a:rPr lang="zh-CN" altLang="en-US" dirty="0"/>
              <a:t>在接收端把 </a:t>
            </a:r>
            <a:r>
              <a:rPr lang="en-US" altLang="zh-CN" dirty="0"/>
              <a:t>5 </a:t>
            </a:r>
            <a:r>
              <a:rPr lang="zh-CN" altLang="en-US" dirty="0"/>
              <a:t>个连 </a:t>
            </a:r>
            <a:r>
              <a:rPr lang="en-US" altLang="zh-CN" dirty="0"/>
              <a:t>1</a:t>
            </a:r>
            <a:r>
              <a:rPr lang="zh-CN" altLang="en-US" dirty="0"/>
              <a:t>之后的 </a:t>
            </a:r>
            <a:r>
              <a:rPr lang="en-US" altLang="zh-CN" dirty="0"/>
              <a:t>0 </a:t>
            </a:r>
            <a:r>
              <a:rPr lang="zh-CN" altLang="en-US" dirty="0"/>
              <a:t>比特删除</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sp>
        <p:nvSpPr>
          <p:cNvPr id="5" name="文本框 4">
            <a:extLst>
              <a:ext uri="{FF2B5EF4-FFF2-40B4-BE49-F238E27FC236}">
                <a16:creationId xmlns:a16="http://schemas.microsoft.com/office/drawing/2014/main" id="{3807888F-193C-4BE6-9A2B-AAE23DB6B90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6149202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838200" y="1510758"/>
            <a:ext cx="10515600" cy="561242"/>
          </a:xfrm>
        </p:spPr>
        <p:txBody>
          <a:bodyPr/>
          <a:lstStyle/>
          <a:p>
            <a:r>
              <a:rPr lang="zh-CN" altLang="en-US" dirty="0"/>
              <a:t>零比特填充</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51</a:t>
            </a:fld>
            <a:endParaRPr kumimoji="1" lang="zh-CN" altLang="en-US" dirty="0"/>
          </a:p>
        </p:txBody>
      </p:sp>
      <p:sp>
        <p:nvSpPr>
          <p:cNvPr id="5" name="Rectangle 10"/>
          <p:cNvSpPr>
            <a:spLocks noChangeArrowheads="1"/>
          </p:cNvSpPr>
          <p:nvPr/>
        </p:nvSpPr>
        <p:spPr bwMode="auto">
          <a:xfrm>
            <a:off x="1219200" y="2265819"/>
            <a:ext cx="5029880" cy="3475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355600" indent="-355600" defTabSz="762000" eaLnBrk="0" hangingPunct="0">
              <a:buFont typeface="+mj-lt"/>
              <a:buAutoNum type="arabicPeriod"/>
            </a:pPr>
            <a:r>
              <a:rPr kumimoji="1" lang="zh-CN" altLang="en-US" sz="2000" dirty="0">
                <a:solidFill>
                  <a:srgbClr val="5B307E"/>
                </a:solidFill>
                <a:latin typeface="微软雅黑" panose="020B0503020204020204" pitchFamily="34" charset="-122"/>
                <a:ea typeface="微软雅黑" panose="020B0503020204020204" pitchFamily="34" charset="-122"/>
              </a:rPr>
              <a:t>信息字段中出现了和标志字段 </a:t>
            </a:r>
            <a:r>
              <a:rPr kumimoji="1" lang="en-US" altLang="zh-CN" sz="2000" dirty="0">
                <a:solidFill>
                  <a:srgbClr val="5B307E"/>
                </a:solidFill>
                <a:latin typeface="微软雅黑" panose="020B0503020204020204" pitchFamily="34" charset="-122"/>
                <a:ea typeface="微软雅黑" panose="020B0503020204020204" pitchFamily="34" charset="-122"/>
              </a:rPr>
              <a:t>F </a:t>
            </a:r>
            <a:r>
              <a:rPr kumimoji="1" lang="zh-CN" altLang="en-US" sz="2000" dirty="0">
                <a:solidFill>
                  <a:srgbClr val="5B307E"/>
                </a:solidFill>
                <a:latin typeface="微软雅黑" panose="020B0503020204020204" pitchFamily="34" charset="-122"/>
                <a:ea typeface="微软雅黑" panose="020B0503020204020204" pitchFamily="34" charset="-122"/>
              </a:rPr>
              <a:t>完全一样的 </a:t>
            </a:r>
            <a:r>
              <a:rPr kumimoji="1" lang="en-US" altLang="zh-CN" sz="2000" dirty="0">
                <a:solidFill>
                  <a:srgbClr val="5B307E"/>
                </a:solidFill>
                <a:latin typeface="微软雅黑" panose="020B0503020204020204" pitchFamily="34" charset="-122"/>
                <a:ea typeface="微软雅黑" panose="020B0503020204020204" pitchFamily="34" charset="-122"/>
              </a:rPr>
              <a:t>8 </a:t>
            </a:r>
            <a:r>
              <a:rPr kumimoji="1" lang="zh-CN" altLang="en-US" sz="2000" dirty="0">
                <a:solidFill>
                  <a:srgbClr val="5B307E"/>
                </a:solidFill>
                <a:latin typeface="微软雅黑" panose="020B0503020204020204" pitchFamily="34" charset="-122"/>
                <a:ea typeface="微软雅黑" panose="020B0503020204020204" pitchFamily="34" charset="-122"/>
              </a:rPr>
              <a:t>比特组合</a:t>
            </a: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r>
              <a:rPr kumimoji="1" lang="zh-CN" altLang="en-US" sz="2000" dirty="0">
                <a:solidFill>
                  <a:srgbClr val="5B307E"/>
                </a:solidFill>
                <a:latin typeface="微软雅黑" panose="020B0503020204020204" pitchFamily="34" charset="-122"/>
                <a:ea typeface="微软雅黑" panose="020B0503020204020204" pitchFamily="34" charset="-122"/>
              </a:rPr>
              <a:t>发送端在 </a:t>
            </a:r>
            <a:r>
              <a:rPr kumimoji="1" lang="en-US" altLang="zh-CN" sz="2000" dirty="0">
                <a:solidFill>
                  <a:srgbClr val="5B307E"/>
                </a:solidFill>
                <a:latin typeface="微软雅黑" panose="020B0503020204020204" pitchFamily="34" charset="-122"/>
                <a:ea typeface="微软雅黑" panose="020B0503020204020204" pitchFamily="34" charset="-122"/>
              </a:rPr>
              <a:t>5 </a:t>
            </a:r>
            <a:r>
              <a:rPr kumimoji="1" lang="zh-CN" altLang="en-US" sz="2000" dirty="0">
                <a:solidFill>
                  <a:srgbClr val="5B307E"/>
                </a:solidFill>
                <a:latin typeface="微软雅黑" panose="020B0503020204020204" pitchFamily="34" charset="-122"/>
                <a:ea typeface="微软雅黑" panose="020B0503020204020204" pitchFamily="34" charset="-122"/>
              </a:rPr>
              <a:t>个连 </a:t>
            </a:r>
            <a:r>
              <a:rPr kumimoji="1" lang="en-US" altLang="zh-CN" sz="2000" dirty="0">
                <a:solidFill>
                  <a:srgbClr val="5B307E"/>
                </a:solidFill>
                <a:latin typeface="微软雅黑" panose="020B0503020204020204" pitchFamily="34" charset="-122"/>
                <a:ea typeface="微软雅黑" panose="020B0503020204020204" pitchFamily="34" charset="-122"/>
              </a:rPr>
              <a:t>1 </a:t>
            </a:r>
            <a:r>
              <a:rPr kumimoji="1" lang="zh-CN" altLang="en-US" sz="2000" dirty="0">
                <a:solidFill>
                  <a:srgbClr val="5B307E"/>
                </a:solidFill>
                <a:latin typeface="微软雅黑" panose="020B0503020204020204" pitchFamily="34" charset="-122"/>
                <a:ea typeface="微软雅黑" panose="020B0503020204020204" pitchFamily="34" charset="-122"/>
              </a:rPr>
              <a:t>之后填入 </a:t>
            </a:r>
            <a:r>
              <a:rPr kumimoji="1" lang="en-US" altLang="zh-CN" sz="2000" dirty="0">
                <a:solidFill>
                  <a:srgbClr val="5B307E"/>
                </a:solidFill>
                <a:latin typeface="微软雅黑" panose="020B0503020204020204" pitchFamily="34" charset="-122"/>
                <a:ea typeface="微软雅黑" panose="020B0503020204020204" pitchFamily="34" charset="-122"/>
              </a:rPr>
              <a:t>0 </a:t>
            </a:r>
            <a:r>
              <a:rPr kumimoji="1" lang="zh-CN" altLang="en-US" sz="2000" dirty="0">
                <a:solidFill>
                  <a:srgbClr val="5B307E"/>
                </a:solidFill>
                <a:latin typeface="微软雅黑" panose="020B0503020204020204" pitchFamily="34" charset="-122"/>
                <a:ea typeface="微软雅黑" panose="020B0503020204020204" pitchFamily="34" charset="-122"/>
              </a:rPr>
              <a:t>比特再发送出去</a:t>
            </a: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zh-CN" altLang="en-US"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r>
              <a:rPr kumimoji="1" lang="zh-CN" altLang="en-US" sz="2000" dirty="0">
                <a:solidFill>
                  <a:srgbClr val="5B307E"/>
                </a:solidFill>
                <a:latin typeface="微软雅黑" panose="020B0503020204020204" pitchFamily="34" charset="-122"/>
                <a:ea typeface="微软雅黑" panose="020B0503020204020204" pitchFamily="34" charset="-122"/>
              </a:rPr>
              <a:t>在接收端把 </a:t>
            </a:r>
            <a:r>
              <a:rPr kumimoji="1" lang="en-US" altLang="zh-CN" sz="2000" dirty="0">
                <a:solidFill>
                  <a:srgbClr val="5B307E"/>
                </a:solidFill>
                <a:latin typeface="微软雅黑" panose="020B0503020204020204" pitchFamily="34" charset="-122"/>
                <a:ea typeface="微软雅黑" panose="020B0503020204020204" pitchFamily="34" charset="-122"/>
              </a:rPr>
              <a:t>5 </a:t>
            </a:r>
            <a:r>
              <a:rPr kumimoji="1" lang="zh-CN" altLang="en-US" sz="2000" dirty="0">
                <a:solidFill>
                  <a:srgbClr val="5B307E"/>
                </a:solidFill>
                <a:latin typeface="微软雅黑" panose="020B0503020204020204" pitchFamily="34" charset="-122"/>
                <a:ea typeface="微软雅黑" panose="020B0503020204020204" pitchFamily="34" charset="-122"/>
              </a:rPr>
              <a:t>个连 </a:t>
            </a:r>
            <a:r>
              <a:rPr kumimoji="1" lang="en-US" altLang="zh-CN" sz="2000" dirty="0">
                <a:solidFill>
                  <a:srgbClr val="5B307E"/>
                </a:solidFill>
                <a:latin typeface="微软雅黑" panose="020B0503020204020204" pitchFamily="34" charset="-122"/>
                <a:ea typeface="微软雅黑" panose="020B0503020204020204" pitchFamily="34" charset="-122"/>
              </a:rPr>
              <a:t>1</a:t>
            </a:r>
            <a:r>
              <a:rPr kumimoji="1" lang="zh-CN" altLang="en-US" sz="2000" dirty="0">
                <a:solidFill>
                  <a:srgbClr val="5B307E"/>
                </a:solidFill>
                <a:latin typeface="微软雅黑" panose="020B0503020204020204" pitchFamily="34" charset="-122"/>
                <a:ea typeface="微软雅黑" panose="020B0503020204020204" pitchFamily="34" charset="-122"/>
              </a:rPr>
              <a:t>之后的 </a:t>
            </a:r>
            <a:r>
              <a:rPr kumimoji="1" lang="en-US" altLang="zh-CN" sz="2000" dirty="0">
                <a:solidFill>
                  <a:srgbClr val="5B307E"/>
                </a:solidFill>
                <a:latin typeface="微软雅黑" panose="020B0503020204020204" pitchFamily="34" charset="-122"/>
                <a:ea typeface="微软雅黑" panose="020B0503020204020204" pitchFamily="34" charset="-122"/>
              </a:rPr>
              <a:t>0 </a:t>
            </a:r>
            <a:r>
              <a:rPr kumimoji="1" lang="zh-CN" altLang="en-US" sz="2000" dirty="0">
                <a:solidFill>
                  <a:srgbClr val="5B307E"/>
                </a:solidFill>
                <a:latin typeface="微软雅黑" panose="020B0503020204020204" pitchFamily="34" charset="-122"/>
                <a:ea typeface="微软雅黑" panose="020B0503020204020204" pitchFamily="34" charset="-122"/>
              </a:rPr>
              <a:t>比特删除</a:t>
            </a:r>
          </a:p>
        </p:txBody>
      </p:sp>
      <p:sp>
        <p:nvSpPr>
          <p:cNvPr id="8" name="AutoShape 25"/>
          <p:cNvSpPr>
            <a:spLocks noChangeArrowheads="1"/>
          </p:cNvSpPr>
          <p:nvPr/>
        </p:nvSpPr>
        <p:spPr bwMode="auto">
          <a:xfrm>
            <a:off x="7178721" y="5427210"/>
            <a:ext cx="2444250" cy="431800"/>
          </a:xfrm>
          <a:prstGeom prst="roundRect">
            <a:avLst>
              <a:gd name="adj" fmla="val 16667"/>
            </a:avLst>
          </a:prstGeom>
          <a:noFill/>
          <a:ln w="19050">
            <a:solidFill>
              <a:srgbClr val="FF0000"/>
            </a:solidFill>
            <a:prstDash val="dash"/>
          </a:ln>
          <a:effectLs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9" name="AutoShape 26"/>
          <p:cNvSpPr>
            <a:spLocks noChangeArrowheads="1"/>
          </p:cNvSpPr>
          <p:nvPr/>
        </p:nvSpPr>
        <p:spPr bwMode="auto">
          <a:xfrm>
            <a:off x="8594723" y="5457372"/>
            <a:ext cx="215900" cy="350838"/>
          </a:xfrm>
          <a:prstGeom prst="roundRect">
            <a:avLst>
              <a:gd name="adj" fmla="val 16667"/>
            </a:avLst>
          </a:prstGeom>
          <a:solidFill>
            <a:schemeClr val="accent6">
              <a:lumMod val="60000"/>
              <a:lumOff val="40000"/>
            </a:schemeClr>
          </a:solidFill>
          <a:ln>
            <a:noFill/>
          </a:ln>
          <a:effectLs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0" name="Rectangle 27"/>
          <p:cNvSpPr>
            <a:spLocks noChangeArrowheads="1"/>
          </p:cNvSpPr>
          <p:nvPr/>
        </p:nvSpPr>
        <p:spPr bwMode="auto">
          <a:xfrm>
            <a:off x="6336620" y="5393872"/>
            <a:ext cx="499656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dirty="0">
                <a:solidFill>
                  <a:srgbClr val="5B307E"/>
                </a:solidFill>
                <a:latin typeface="微软雅黑" panose="020B0503020204020204" pitchFamily="34" charset="-122"/>
                <a:ea typeface="微软雅黑" panose="020B0503020204020204" pitchFamily="34" charset="-122"/>
              </a:rPr>
              <a:t>0 1 0 0 1 1 1 1 </a:t>
            </a:r>
            <a:r>
              <a:rPr kumimoji="1" lang="en-US" altLang="zh-CN" sz="2400" dirty="0">
                <a:solidFill>
                  <a:srgbClr val="00B050"/>
                </a:solidFill>
                <a:latin typeface="微软雅黑" panose="020B0503020204020204" pitchFamily="34" charset="-122"/>
                <a:ea typeface="微软雅黑" panose="020B0503020204020204" pitchFamily="34" charset="-122"/>
              </a:rPr>
              <a:t>1</a:t>
            </a:r>
            <a:r>
              <a:rPr kumimoji="1" lang="en-US" altLang="zh-CN" sz="2400" dirty="0">
                <a:solidFill>
                  <a:srgbClr val="5B307E"/>
                </a:solidFill>
                <a:latin typeface="微软雅黑" panose="020B0503020204020204" pitchFamily="34" charset="-122"/>
                <a:ea typeface="微软雅黑" panose="020B0503020204020204" pitchFamily="34" charset="-122"/>
              </a:rPr>
              <a:t> 0 1 0 0 0 1 0 1 0</a:t>
            </a:r>
          </a:p>
        </p:txBody>
      </p:sp>
      <p:sp>
        <p:nvSpPr>
          <p:cNvPr id="11" name="AutoShape 28"/>
          <p:cNvSpPr>
            <a:spLocks noChangeArrowheads="1"/>
          </p:cNvSpPr>
          <p:nvPr/>
        </p:nvSpPr>
        <p:spPr bwMode="auto">
          <a:xfrm>
            <a:off x="7124699" y="3809547"/>
            <a:ext cx="2438401" cy="431800"/>
          </a:xfrm>
          <a:prstGeom prst="roundRect">
            <a:avLst>
              <a:gd name="adj" fmla="val 16667"/>
            </a:avLst>
          </a:prstGeom>
          <a:noFill/>
          <a:ln w="19050">
            <a:solidFill>
              <a:srgbClr val="FF0000"/>
            </a:solidFill>
            <a:prstDash val="dash"/>
          </a:ln>
          <a:effectLs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2" name="AutoShape 29"/>
          <p:cNvSpPr>
            <a:spLocks noChangeArrowheads="1"/>
          </p:cNvSpPr>
          <p:nvPr/>
        </p:nvSpPr>
        <p:spPr bwMode="auto">
          <a:xfrm>
            <a:off x="7055757" y="2153785"/>
            <a:ext cx="2186214" cy="431800"/>
          </a:xfrm>
          <a:prstGeom prst="roundRect">
            <a:avLst>
              <a:gd name="adj" fmla="val 16667"/>
            </a:avLst>
          </a:prstGeom>
          <a:noFill/>
          <a:ln w="19050">
            <a:solidFill>
              <a:srgbClr val="FF0000"/>
            </a:solidFill>
            <a:prstDash val="dash"/>
          </a:ln>
          <a:effectLs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3" name="Rectangle 30"/>
          <p:cNvSpPr>
            <a:spLocks noChangeArrowheads="1"/>
          </p:cNvSpPr>
          <p:nvPr/>
        </p:nvSpPr>
        <p:spPr bwMode="auto">
          <a:xfrm>
            <a:off x="6241370" y="2153785"/>
            <a:ext cx="472405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dirty="0">
                <a:solidFill>
                  <a:srgbClr val="5B307E"/>
                </a:solidFill>
                <a:latin typeface="微软雅黑" panose="020B0503020204020204" pitchFamily="34" charset="-122"/>
                <a:ea typeface="微软雅黑" panose="020B0503020204020204" pitchFamily="34" charset="-122"/>
              </a:rPr>
              <a:t>0 1 0 0 1 1 1 1 1 1 0 0 0 1 0 1 0</a:t>
            </a:r>
          </a:p>
        </p:txBody>
      </p:sp>
      <p:sp>
        <p:nvSpPr>
          <p:cNvPr id="14" name="AutoShape 31"/>
          <p:cNvSpPr>
            <a:spLocks noChangeArrowheads="1"/>
          </p:cNvSpPr>
          <p:nvPr/>
        </p:nvSpPr>
        <p:spPr bwMode="auto">
          <a:xfrm>
            <a:off x="8531450" y="3841297"/>
            <a:ext cx="242887" cy="371475"/>
          </a:xfrm>
          <a:prstGeom prst="roundRect">
            <a:avLst>
              <a:gd name="adj" fmla="val 16667"/>
            </a:avLst>
          </a:prstGeom>
          <a:solidFill>
            <a:schemeClr val="accent2">
              <a:lumMod val="40000"/>
              <a:lumOff val="60000"/>
            </a:schemeClr>
          </a:solidFill>
          <a:ln>
            <a:noFill/>
          </a:ln>
          <a:effectLs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5" name="Rectangle 32"/>
          <p:cNvSpPr>
            <a:spLocks noChangeArrowheads="1"/>
          </p:cNvSpPr>
          <p:nvPr/>
        </p:nvSpPr>
        <p:spPr bwMode="auto">
          <a:xfrm>
            <a:off x="6276295" y="3804785"/>
            <a:ext cx="499656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dirty="0">
                <a:solidFill>
                  <a:srgbClr val="5B307E"/>
                </a:solidFill>
                <a:latin typeface="微软雅黑" panose="020B0503020204020204" pitchFamily="34" charset="-122"/>
                <a:ea typeface="微软雅黑" panose="020B0503020204020204" pitchFamily="34" charset="-122"/>
              </a:rPr>
              <a:t>0 1 0 0 1 1 1 1 </a:t>
            </a:r>
            <a:r>
              <a:rPr kumimoji="1" lang="en-US" altLang="zh-CN" sz="2400" dirty="0">
                <a:solidFill>
                  <a:srgbClr val="FF0000"/>
                </a:solidFill>
                <a:latin typeface="微软雅黑" panose="020B0503020204020204" pitchFamily="34" charset="-122"/>
                <a:ea typeface="微软雅黑" panose="020B0503020204020204" pitchFamily="34" charset="-122"/>
              </a:rPr>
              <a:t>1</a:t>
            </a:r>
            <a:r>
              <a:rPr kumimoji="1" lang="en-US" altLang="zh-CN" sz="2400" dirty="0">
                <a:solidFill>
                  <a:srgbClr val="5B307E"/>
                </a:solidFill>
                <a:latin typeface="微软雅黑" panose="020B0503020204020204" pitchFamily="34" charset="-122"/>
                <a:ea typeface="微软雅黑" panose="020B0503020204020204" pitchFamily="34" charset="-122"/>
              </a:rPr>
              <a:t> 0 1 0 0 0 1 0 1 0</a:t>
            </a:r>
          </a:p>
        </p:txBody>
      </p:sp>
      <p:sp>
        <p:nvSpPr>
          <p:cNvPr id="16" name="Rectangle 33"/>
          <p:cNvSpPr>
            <a:spLocks noChangeArrowheads="1"/>
          </p:cNvSpPr>
          <p:nvPr/>
        </p:nvSpPr>
        <p:spPr bwMode="auto">
          <a:xfrm>
            <a:off x="6631621" y="2883588"/>
            <a:ext cx="303448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dirty="0">
                <a:solidFill>
                  <a:srgbClr val="FF0000"/>
                </a:solidFill>
                <a:latin typeface="微软雅黑" panose="020B0503020204020204" pitchFamily="34" charset="-122"/>
                <a:ea typeface="微软雅黑" panose="020B0503020204020204" pitchFamily="34" charset="-122"/>
              </a:rPr>
              <a:t>会被误认为是标志字段 </a:t>
            </a:r>
            <a:r>
              <a:rPr kumimoji="1" lang="en-US" altLang="zh-CN" sz="2000" dirty="0">
                <a:solidFill>
                  <a:srgbClr val="FF0000"/>
                </a:solidFill>
                <a:latin typeface="微软雅黑" panose="020B0503020204020204" pitchFamily="34" charset="-122"/>
                <a:ea typeface="微软雅黑" panose="020B0503020204020204" pitchFamily="34" charset="-122"/>
              </a:rPr>
              <a:t>F </a:t>
            </a:r>
          </a:p>
        </p:txBody>
      </p:sp>
      <p:sp>
        <p:nvSpPr>
          <p:cNvPr id="17" name="AutoShape 34"/>
          <p:cNvSpPr>
            <a:spLocks noChangeArrowheads="1"/>
          </p:cNvSpPr>
          <p:nvPr/>
        </p:nvSpPr>
        <p:spPr bwMode="auto">
          <a:xfrm rot="-5400000">
            <a:off x="8488815" y="4288972"/>
            <a:ext cx="327025" cy="155575"/>
          </a:xfrm>
          <a:prstGeom prst="rightArrow">
            <a:avLst>
              <a:gd name="adj1" fmla="val 50000"/>
              <a:gd name="adj2" fmla="val 105112"/>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8" name="Rectangle 35"/>
          <p:cNvSpPr>
            <a:spLocks noChangeArrowheads="1"/>
          </p:cNvSpPr>
          <p:nvPr/>
        </p:nvSpPr>
        <p:spPr bwMode="auto">
          <a:xfrm>
            <a:off x="7509555" y="4508047"/>
            <a:ext cx="227947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dirty="0">
                <a:solidFill>
                  <a:srgbClr val="FF0000"/>
                </a:solidFill>
                <a:latin typeface="微软雅黑" panose="020B0503020204020204" pitchFamily="34" charset="-122"/>
                <a:ea typeface="微软雅黑" panose="020B0503020204020204" pitchFamily="34" charset="-122"/>
              </a:rPr>
              <a:t>发送端填入 </a:t>
            </a:r>
            <a:r>
              <a:rPr kumimoji="1" lang="en-US" altLang="zh-CN" sz="2000" dirty="0">
                <a:solidFill>
                  <a:srgbClr val="FF0000"/>
                </a:solidFill>
                <a:latin typeface="微软雅黑" panose="020B0503020204020204" pitchFamily="34" charset="-122"/>
                <a:ea typeface="微软雅黑" panose="020B0503020204020204" pitchFamily="34" charset="-122"/>
              </a:rPr>
              <a:t>0 </a:t>
            </a:r>
            <a:r>
              <a:rPr kumimoji="1" lang="zh-CN" altLang="en-US" sz="2000" dirty="0">
                <a:solidFill>
                  <a:srgbClr val="FF0000"/>
                </a:solidFill>
                <a:latin typeface="微软雅黑" panose="020B0503020204020204" pitchFamily="34" charset="-122"/>
                <a:ea typeface="微软雅黑" panose="020B0503020204020204" pitchFamily="34" charset="-122"/>
              </a:rPr>
              <a:t>比特</a:t>
            </a:r>
          </a:p>
        </p:txBody>
      </p:sp>
      <p:sp>
        <p:nvSpPr>
          <p:cNvPr id="19" name="AutoShape 36"/>
          <p:cNvSpPr>
            <a:spLocks noChangeArrowheads="1"/>
          </p:cNvSpPr>
          <p:nvPr/>
        </p:nvSpPr>
        <p:spPr bwMode="auto">
          <a:xfrm rot="5400000" flipV="1">
            <a:off x="8523058" y="5879875"/>
            <a:ext cx="365125" cy="155575"/>
          </a:xfrm>
          <a:prstGeom prst="rightArrow">
            <a:avLst>
              <a:gd name="adj1" fmla="val 50000"/>
              <a:gd name="adj2" fmla="val 117358"/>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20" name="Rectangle 37"/>
          <p:cNvSpPr>
            <a:spLocks noChangeArrowheads="1"/>
          </p:cNvSpPr>
          <p:nvPr/>
        </p:nvSpPr>
        <p:spPr bwMode="auto">
          <a:xfrm>
            <a:off x="7188194" y="6163810"/>
            <a:ext cx="304891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dirty="0">
                <a:solidFill>
                  <a:srgbClr val="FF0000"/>
                </a:solidFill>
                <a:latin typeface="微软雅黑" panose="020B0503020204020204" pitchFamily="34" charset="-122"/>
                <a:ea typeface="微软雅黑" panose="020B0503020204020204" pitchFamily="34" charset="-122"/>
              </a:rPr>
              <a:t>接收端删除填入的 </a:t>
            </a:r>
            <a:r>
              <a:rPr kumimoji="1" lang="en-US" altLang="zh-CN" sz="2000" dirty="0">
                <a:solidFill>
                  <a:srgbClr val="FF0000"/>
                </a:solidFill>
                <a:latin typeface="微软雅黑" panose="020B0503020204020204" pitchFamily="34" charset="-122"/>
                <a:ea typeface="微软雅黑" panose="020B0503020204020204" pitchFamily="34" charset="-122"/>
              </a:rPr>
              <a:t>0 </a:t>
            </a:r>
            <a:r>
              <a:rPr kumimoji="1" lang="zh-CN" altLang="en-US" sz="2000" dirty="0">
                <a:solidFill>
                  <a:srgbClr val="FF0000"/>
                </a:solidFill>
                <a:latin typeface="微软雅黑" panose="020B0503020204020204" pitchFamily="34" charset="-122"/>
                <a:ea typeface="微软雅黑" panose="020B0503020204020204" pitchFamily="34" charset="-122"/>
              </a:rPr>
              <a:t>比特</a:t>
            </a:r>
          </a:p>
        </p:txBody>
      </p:sp>
      <p:sp>
        <p:nvSpPr>
          <p:cNvPr id="21" name="AutoShape 38"/>
          <p:cNvSpPr>
            <a:spLocks/>
          </p:cNvSpPr>
          <p:nvPr/>
        </p:nvSpPr>
        <p:spPr bwMode="auto">
          <a:xfrm rot="-5400000">
            <a:off x="8000433" y="1631384"/>
            <a:ext cx="296862" cy="2186214"/>
          </a:xfrm>
          <a:prstGeom prst="leftBrace">
            <a:avLst>
              <a:gd name="adj1" fmla="val 54590"/>
              <a:gd name="adj2" fmla="val 50000"/>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81709A11-946E-43BE-89E5-5D40A47A30B5}"/>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6596894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358358"/>
            <a:ext cx="10515600" cy="4586694"/>
          </a:xfrm>
        </p:spPr>
        <p:txBody>
          <a:bodyPr>
            <a:normAutofit/>
          </a:bodyPr>
          <a:lstStyle/>
          <a:p>
            <a:pPr>
              <a:lnSpc>
                <a:spcPct val="200000"/>
              </a:lnSpc>
            </a:pPr>
            <a:r>
              <a:rPr lang="zh-CN" altLang="en-US" sz="2400" dirty="0"/>
              <a:t>在点对点链路上建立通信，通信双方通过</a:t>
            </a:r>
            <a:r>
              <a:rPr lang="en-US" altLang="zh-CN" sz="2400" dirty="0"/>
              <a:t>LCP</a:t>
            </a:r>
            <a:r>
              <a:rPr lang="zh-CN" altLang="en-US" sz="2400" dirty="0"/>
              <a:t>报文进行配置和测试链路</a:t>
            </a:r>
            <a:endParaRPr lang="en-US" altLang="zh-CN" sz="2400" dirty="0"/>
          </a:p>
          <a:p>
            <a:pPr>
              <a:lnSpc>
                <a:spcPct val="200000"/>
              </a:lnSpc>
            </a:pPr>
            <a:r>
              <a:rPr lang="zh-CN" altLang="en-US" sz="2400" dirty="0"/>
              <a:t>对等实体进行身份认证（可选）</a:t>
            </a:r>
            <a:endParaRPr lang="en-US" altLang="zh-CN" sz="2400" dirty="0"/>
          </a:p>
          <a:p>
            <a:pPr>
              <a:lnSpc>
                <a:spcPct val="200000"/>
              </a:lnSpc>
            </a:pPr>
            <a:r>
              <a:rPr lang="en-US" altLang="zh-CN" sz="2400" dirty="0"/>
              <a:t>PPP</a:t>
            </a:r>
            <a:r>
              <a:rPr lang="zh-CN" altLang="en-US" sz="2400" dirty="0"/>
              <a:t>协议必须发送</a:t>
            </a:r>
            <a:r>
              <a:rPr lang="en-US" altLang="zh-CN" sz="2400" dirty="0"/>
              <a:t>NCP</a:t>
            </a:r>
            <a:r>
              <a:rPr lang="zh-CN" altLang="en-US" sz="2400" dirty="0"/>
              <a:t>报文来选择和配置一个或多个网络层协议</a:t>
            </a:r>
            <a:endParaRPr lang="en-US" altLang="zh-CN" sz="2400" dirty="0"/>
          </a:p>
          <a:p>
            <a:pPr>
              <a:lnSpc>
                <a:spcPct val="200000"/>
              </a:lnSpc>
            </a:pPr>
            <a:r>
              <a:rPr lang="zh-CN" altLang="en-US" sz="2400" dirty="0"/>
              <a:t>双方网络层协议可以通过</a:t>
            </a:r>
            <a:r>
              <a:rPr lang="en-US" altLang="zh-CN" sz="2400" dirty="0"/>
              <a:t>PPP</a:t>
            </a:r>
            <a:r>
              <a:rPr lang="zh-CN" altLang="en-US" sz="2400" dirty="0"/>
              <a:t>链路发送数据报，并持续通信</a:t>
            </a:r>
            <a:endParaRPr lang="en-US" altLang="zh-CN" sz="2400" dirty="0"/>
          </a:p>
          <a:p>
            <a:pPr>
              <a:lnSpc>
                <a:spcPct val="200000"/>
              </a:lnSpc>
            </a:pPr>
            <a:r>
              <a:rPr lang="en-US" altLang="zh-CN" sz="2400" dirty="0"/>
              <a:t>LCP</a:t>
            </a:r>
            <a:r>
              <a:rPr lang="zh-CN" altLang="en-US" sz="2400" dirty="0"/>
              <a:t>或</a:t>
            </a:r>
            <a:r>
              <a:rPr lang="en-US" altLang="zh-CN" sz="2400" dirty="0"/>
              <a:t>NCP</a:t>
            </a:r>
            <a:r>
              <a:rPr lang="zh-CN" altLang="en-US" sz="2400" dirty="0"/>
              <a:t>数据报显式关闭链路，或者异常事件导致关闭链路</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sp>
        <p:nvSpPr>
          <p:cNvPr id="5" name="文本框 4">
            <a:extLst>
              <a:ext uri="{FF2B5EF4-FFF2-40B4-BE49-F238E27FC236}">
                <a16:creationId xmlns:a16="http://schemas.microsoft.com/office/drawing/2014/main" id="{9165B74D-7256-4F6E-80AA-D71D3E06A045}"/>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7816452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744415" y="1324111"/>
            <a:ext cx="10462846" cy="5054165"/>
          </a:xfrm>
        </p:spPr>
        <p:txBody>
          <a:bodyPr>
            <a:normAutofit/>
          </a:bodyPr>
          <a:lstStyle/>
          <a:p>
            <a:pPr>
              <a:lnSpc>
                <a:spcPts val="2800"/>
              </a:lnSpc>
            </a:pPr>
            <a:r>
              <a:rPr lang="zh-CN" altLang="en-US" sz="2400" dirty="0"/>
              <a:t>状态转换图</a:t>
            </a:r>
            <a:r>
              <a:rPr lang="en-US" altLang="zh-CN" sz="2400" dirty="0"/>
              <a:t>(State Transform Diagram)</a:t>
            </a:r>
          </a:p>
          <a:p>
            <a:pPr lvl="1">
              <a:lnSpc>
                <a:spcPts val="2800"/>
              </a:lnSpc>
            </a:pPr>
            <a:r>
              <a:rPr lang="zh-CN" altLang="en-US" sz="2000" dirty="0">
                <a:solidFill>
                  <a:srgbClr val="7030A0"/>
                </a:solidFill>
              </a:rPr>
              <a:t>状态转换图</a:t>
            </a:r>
            <a:r>
              <a:rPr lang="zh-CN" altLang="en-US" sz="2000" dirty="0"/>
              <a:t>通过描述系统的状态和引起系统状态转换的事件，来表示系统的行为，指出作为特定事件的结果将执行哪些动作。描述系统对内部事件和外部事件如何响应，如何动作。</a:t>
            </a:r>
            <a:endParaRPr lang="en-US" altLang="zh-CN" sz="2000" dirty="0"/>
          </a:p>
          <a:p>
            <a:pPr lvl="1">
              <a:lnSpc>
                <a:spcPts val="2800"/>
              </a:lnSpc>
            </a:pPr>
            <a:r>
              <a:rPr lang="zh-CN" altLang="en-US" sz="2000" dirty="0"/>
              <a:t>状态转换图中以节点表示状态，有向边来表示内外部事件和响应。</a:t>
            </a:r>
            <a:endParaRPr lang="en-US" altLang="zh-CN" sz="2000" dirty="0"/>
          </a:p>
          <a:p>
            <a:pPr lvl="1">
              <a:lnSpc>
                <a:spcPts val="2800"/>
              </a:lnSpc>
            </a:pPr>
            <a:r>
              <a:rPr lang="zh-CN" altLang="en-US" sz="2000" dirty="0"/>
              <a:t>本节将采用状态转换图来表示</a:t>
            </a:r>
            <a:r>
              <a:rPr lang="en-US" altLang="zh-CN" sz="2000" dirty="0"/>
              <a:t>PPP</a:t>
            </a:r>
            <a:r>
              <a:rPr lang="zh-CN" altLang="en-US" sz="2000" dirty="0"/>
              <a:t>协议工作的行为模型</a:t>
            </a:r>
            <a:endParaRPr lang="en-US" altLang="zh-CN" sz="2000" dirty="0"/>
          </a:p>
          <a:p>
            <a:pPr>
              <a:lnSpc>
                <a:spcPts val="2800"/>
              </a:lnSpc>
            </a:pPr>
            <a:r>
              <a:rPr lang="zh-CN" altLang="en-US" sz="2400" dirty="0"/>
              <a:t>状态</a:t>
            </a:r>
            <a:endParaRPr lang="en-US" altLang="zh-CN" sz="2400" dirty="0"/>
          </a:p>
          <a:p>
            <a:pPr lvl="1">
              <a:lnSpc>
                <a:spcPts val="2800"/>
              </a:lnSpc>
            </a:pPr>
            <a:r>
              <a:rPr lang="en-US" altLang="zh-CN" sz="2000" dirty="0"/>
              <a:t>PPP</a:t>
            </a:r>
            <a:r>
              <a:rPr lang="zh-CN" altLang="en-US" sz="2000" dirty="0"/>
              <a:t>协议的状态转换图中共设置了六个状态：</a:t>
            </a:r>
            <a:endParaRPr lang="en-US" altLang="zh-CN" sz="2000" dirty="0"/>
          </a:p>
          <a:p>
            <a:pPr lvl="1">
              <a:lnSpc>
                <a:spcPts val="2800"/>
              </a:lnSpc>
            </a:pPr>
            <a:r>
              <a:rPr lang="zh-CN" altLang="en-US" sz="2000" dirty="0"/>
              <a:t>链路静止、链路建立、身份认证、网络连接、数据通信、链路终止</a:t>
            </a:r>
            <a:endParaRPr lang="en-US" altLang="zh-CN" sz="2000" dirty="0"/>
          </a:p>
          <a:p>
            <a:pPr>
              <a:lnSpc>
                <a:spcPts val="2800"/>
              </a:lnSpc>
            </a:pPr>
            <a:r>
              <a:rPr lang="zh-CN" altLang="en-US" sz="2400" dirty="0"/>
              <a:t>状态的变迁</a:t>
            </a:r>
            <a:endParaRPr lang="en-US" altLang="zh-CN" sz="2400" dirty="0"/>
          </a:p>
          <a:p>
            <a:pPr lvl="1">
              <a:lnSpc>
                <a:spcPts val="2800"/>
              </a:lnSpc>
            </a:pPr>
            <a:r>
              <a:rPr lang="en-US" altLang="zh-CN" sz="2000" dirty="0"/>
              <a:t>PPP</a:t>
            </a:r>
            <a:r>
              <a:rPr lang="zh-CN" altLang="en-US" sz="2000" dirty="0"/>
              <a:t>协议中通过一些外部事件来触发状态的变迁，如：</a:t>
            </a:r>
            <a:endParaRPr lang="en-US" altLang="zh-CN" sz="2000" dirty="0"/>
          </a:p>
          <a:p>
            <a:pPr lvl="1">
              <a:lnSpc>
                <a:spcPts val="2800"/>
              </a:lnSpc>
            </a:pPr>
            <a:r>
              <a:rPr lang="zh-CN" altLang="en-US" sz="2000" dirty="0"/>
              <a:t>链路启动、</a:t>
            </a:r>
            <a:r>
              <a:rPr lang="en-US" altLang="zh-CN" sz="2000" dirty="0"/>
              <a:t>LCP</a:t>
            </a:r>
            <a:r>
              <a:rPr lang="zh-CN" altLang="en-US" sz="2000" dirty="0"/>
              <a:t>配置协商、鉴别成功、</a:t>
            </a:r>
            <a:r>
              <a:rPr lang="en-US" altLang="zh-CN" sz="2000" dirty="0"/>
              <a:t>NCP</a:t>
            </a:r>
            <a:r>
              <a:rPr lang="zh-CN" altLang="en-US" sz="2000" dirty="0"/>
              <a:t>配置协商、链路关闭、链路终止等</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29" name="图片 28"/>
          <p:cNvPicPr>
            <a:picLocks noChangeAspect="1"/>
          </p:cNvPicPr>
          <p:nvPr/>
        </p:nvPicPr>
        <p:blipFill>
          <a:blip r:embed="rId2"/>
          <a:stretch>
            <a:fillRect/>
          </a:stretch>
        </p:blipFill>
        <p:spPr>
          <a:xfrm>
            <a:off x="8676518" y="3254750"/>
            <a:ext cx="3515482" cy="1357007"/>
          </a:xfrm>
          <a:prstGeom prst="rect">
            <a:avLst/>
          </a:prstGeom>
        </p:spPr>
      </p:pic>
      <p:sp>
        <p:nvSpPr>
          <p:cNvPr id="6" name="文本框 4">
            <a:extLst>
              <a:ext uri="{FF2B5EF4-FFF2-40B4-BE49-F238E27FC236}">
                <a16:creationId xmlns:a16="http://schemas.microsoft.com/office/drawing/2014/main" id="{0BF66620-3D4B-2942-BA4F-4B16A2DCF9B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2491884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54</a:t>
            </a:fld>
            <a:endParaRPr kumimoji="1" lang="zh-CN" altLang="en-US" dirty="0"/>
          </a:p>
        </p:txBody>
      </p:sp>
      <p:sp>
        <p:nvSpPr>
          <p:cNvPr id="5" name="圆角矩形 4"/>
          <p:cNvSpPr/>
          <p:nvPr/>
        </p:nvSpPr>
        <p:spPr>
          <a:xfrm>
            <a:off x="1509695" y="2004393"/>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699E64A3-E370-4F26-B918-F8BBD12073A8}"/>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0860522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333500"/>
            <a:ext cx="10515600" cy="4763952"/>
          </a:xfrm>
        </p:spPr>
        <p:txBody>
          <a:bodyPr>
            <a:normAutofit/>
          </a:bodyPr>
          <a:lstStyle/>
          <a:p>
            <a:pPr>
              <a:lnSpc>
                <a:spcPct val="150000"/>
              </a:lnSpc>
            </a:pPr>
            <a:r>
              <a:rPr lang="zh-CN" altLang="en-US" dirty="0"/>
              <a:t>链路静止状态</a:t>
            </a:r>
            <a:endParaRPr lang="en-US" altLang="zh-CN" dirty="0"/>
          </a:p>
          <a:p>
            <a:pPr lvl="1">
              <a:lnSpc>
                <a:spcPct val="150000"/>
              </a:lnSpc>
            </a:pPr>
            <a:r>
              <a:rPr lang="en-US" altLang="zh-CN" dirty="0"/>
              <a:t>PPP</a:t>
            </a:r>
            <a:r>
              <a:rPr lang="zh-CN" altLang="en-US" dirty="0"/>
              <a:t>链路的起始和终止状态，通信双方尚无链路</a:t>
            </a:r>
            <a:endParaRPr lang="en-US" altLang="zh-CN" dirty="0"/>
          </a:p>
          <a:p>
            <a:pPr lvl="1">
              <a:lnSpc>
                <a:spcPct val="150000"/>
              </a:lnSpc>
            </a:pPr>
            <a:r>
              <a:rPr lang="zh-CN" altLang="en-US" dirty="0"/>
              <a:t>当外部事件表明物理层可以使用时，</a:t>
            </a:r>
            <a:r>
              <a:rPr lang="en-US" altLang="zh-CN" dirty="0"/>
              <a:t>PPP</a:t>
            </a:r>
            <a:r>
              <a:rPr lang="zh-CN" altLang="en-US" dirty="0"/>
              <a:t>将进入链路建立阶段。</a:t>
            </a:r>
            <a:endParaRPr lang="en-US" altLang="zh-CN" dirty="0"/>
          </a:p>
          <a:p>
            <a:pPr lvl="2" indent="-330200">
              <a:lnSpc>
                <a:spcPct val="150000"/>
              </a:lnSpc>
              <a:buFont typeface="Microsoft YaHei" panose="020B0503020204020204" pitchFamily="34" charset="-122"/>
              <a:buChar char="−"/>
            </a:pPr>
            <a:r>
              <a:rPr lang="zh-CN" altLang="en-US" dirty="0"/>
              <a:t>如载波检测、网络管理员配置</a:t>
            </a:r>
            <a:endParaRPr lang="en-US" altLang="zh-CN" dirty="0"/>
          </a:p>
          <a:p>
            <a:pPr lvl="2" indent="-330200">
              <a:lnSpc>
                <a:spcPct val="150000"/>
              </a:lnSpc>
              <a:buFont typeface="Microsoft YaHei" panose="020B0503020204020204" pitchFamily="34" charset="-122"/>
              <a:buChar char="−"/>
            </a:pPr>
            <a:r>
              <a:rPr lang="en-US" altLang="zh-CN" dirty="0"/>
              <a:t>PC</a:t>
            </a:r>
            <a:r>
              <a:rPr lang="zh-CN" altLang="en-US" dirty="0"/>
              <a:t>机通过调制解调器呼叫路由器时，路由器能检测到调制解调器发出的载波信号，并作出应答。</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55</a:t>
            </a:fld>
            <a:endParaRPr kumimoji="1" lang="zh-CN" altLang="en-US" dirty="0"/>
          </a:p>
        </p:txBody>
      </p:sp>
      <p:sp>
        <p:nvSpPr>
          <p:cNvPr id="5" name="文本框 4">
            <a:extLst>
              <a:ext uri="{FF2B5EF4-FFF2-40B4-BE49-F238E27FC236}">
                <a16:creationId xmlns:a16="http://schemas.microsoft.com/office/drawing/2014/main" id="{20AC677F-7FF0-4816-A4AA-71EAF7D5940A}"/>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3267996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56</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2BBA9012-8F6D-4C60-A0DB-72028F5A771D}"/>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4538575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698500" y="1479904"/>
            <a:ext cx="10718800" cy="4876445"/>
          </a:xfrm>
        </p:spPr>
        <p:txBody>
          <a:bodyPr>
            <a:normAutofit/>
          </a:bodyPr>
          <a:lstStyle/>
          <a:p>
            <a:pPr>
              <a:lnSpc>
                <a:spcPts val="3300"/>
              </a:lnSpc>
            </a:pPr>
            <a:r>
              <a:rPr lang="zh-CN" altLang="en-US" dirty="0"/>
              <a:t>链路建立状态</a:t>
            </a:r>
            <a:endParaRPr lang="en-US" altLang="zh-CN" dirty="0"/>
          </a:p>
          <a:p>
            <a:pPr lvl="1">
              <a:lnSpc>
                <a:spcPts val="3300"/>
              </a:lnSpc>
            </a:pPr>
            <a:r>
              <a:rPr lang="en-US" altLang="zh-CN" dirty="0"/>
              <a:t>LCP</a:t>
            </a:r>
            <a:r>
              <a:rPr lang="zh-CN" altLang="en-US" dirty="0"/>
              <a:t>通过交换配置包来建立连接</a:t>
            </a:r>
            <a:endParaRPr lang="en-US" altLang="zh-CN" dirty="0"/>
          </a:p>
          <a:p>
            <a:pPr lvl="1">
              <a:lnSpc>
                <a:spcPts val="3300"/>
              </a:lnSpc>
            </a:pPr>
            <a:r>
              <a:rPr lang="en-US" altLang="zh-CN" dirty="0"/>
              <a:t>LCP</a:t>
            </a:r>
            <a:r>
              <a:rPr lang="zh-CN" altLang="en-US" dirty="0"/>
              <a:t>配置选项包括：链路上的最大帧长、所使用的鉴别协议的规约、不使用</a:t>
            </a:r>
            <a:r>
              <a:rPr lang="en-US" altLang="zh-CN" dirty="0"/>
              <a:t>PPP</a:t>
            </a:r>
            <a:r>
              <a:rPr lang="zh-CN" altLang="en-US" dirty="0"/>
              <a:t>帧中的地址和控制字段</a:t>
            </a:r>
            <a:endParaRPr lang="en-US" altLang="zh-CN" dirty="0"/>
          </a:p>
          <a:p>
            <a:pPr lvl="1">
              <a:lnSpc>
                <a:spcPts val="3300"/>
              </a:lnSpc>
            </a:pPr>
            <a:r>
              <a:rPr lang="en-US" altLang="zh-CN" dirty="0"/>
              <a:t>LCP</a:t>
            </a:r>
            <a:r>
              <a:rPr lang="zh-CN" altLang="en-US" dirty="0"/>
              <a:t>开始协商一些配置选项，发送</a:t>
            </a:r>
            <a:r>
              <a:rPr lang="en-US" altLang="zh-CN" dirty="0"/>
              <a:t>LCP</a:t>
            </a:r>
            <a:r>
              <a:rPr lang="zh-CN" altLang="en-US" dirty="0"/>
              <a:t>的配置请求帧（</a:t>
            </a:r>
            <a:r>
              <a:rPr lang="en-US" altLang="zh-CN" dirty="0"/>
              <a:t>Configure-Request</a:t>
            </a:r>
            <a:r>
              <a:rPr lang="zh-CN" altLang="en-US" dirty="0"/>
              <a:t>），协议字段为</a:t>
            </a:r>
            <a:r>
              <a:rPr lang="en-US" altLang="zh-CN" dirty="0"/>
              <a:t>LCP</a:t>
            </a:r>
            <a:r>
              <a:rPr lang="zh-CN" altLang="en-US" dirty="0"/>
              <a:t>对应的代码，信息字段包含特定的配置请求</a:t>
            </a:r>
          </a:p>
          <a:p>
            <a:pPr lvl="1">
              <a:lnSpc>
                <a:spcPts val="3300"/>
              </a:lnSpc>
            </a:pPr>
            <a:r>
              <a:rPr lang="zh-CN" altLang="en-US" dirty="0"/>
              <a:t>链路的另一端可以发送几种响应的一种</a:t>
            </a:r>
          </a:p>
          <a:p>
            <a:pPr lvl="2" indent="-330200">
              <a:lnSpc>
                <a:spcPts val="3300"/>
              </a:lnSpc>
              <a:buFont typeface="Microsoft YaHei" panose="020B0503020204020204" pitchFamily="34" charset="-122"/>
              <a:buChar char="−"/>
            </a:pPr>
            <a:r>
              <a:rPr lang="zh-CN" altLang="en-US" dirty="0"/>
              <a:t>配置确认帧（</a:t>
            </a:r>
            <a:r>
              <a:rPr lang="en-US" altLang="zh-CN" dirty="0"/>
              <a:t>Configure-</a:t>
            </a:r>
            <a:r>
              <a:rPr lang="en-US" altLang="zh-CN" dirty="0" err="1"/>
              <a:t>Ack</a:t>
            </a:r>
            <a:r>
              <a:rPr lang="zh-CN" altLang="en-US" dirty="0"/>
              <a:t>）：所有选项都接受</a:t>
            </a:r>
          </a:p>
          <a:p>
            <a:pPr lvl="2" indent="-330200">
              <a:lnSpc>
                <a:spcPts val="3300"/>
              </a:lnSpc>
              <a:buFont typeface="Microsoft YaHei" panose="020B0503020204020204" pitchFamily="34" charset="-122"/>
              <a:buChar char="−"/>
            </a:pPr>
            <a:r>
              <a:rPr lang="zh-CN" altLang="en-US" dirty="0"/>
              <a:t>配置否认帧（</a:t>
            </a:r>
            <a:r>
              <a:rPr lang="en-US" altLang="zh-CN" dirty="0"/>
              <a:t>Configure-</a:t>
            </a:r>
            <a:r>
              <a:rPr lang="en-US" altLang="zh-CN" dirty="0" err="1"/>
              <a:t>Nak</a:t>
            </a:r>
            <a:r>
              <a:rPr lang="zh-CN" altLang="en-US" dirty="0"/>
              <a:t>）：所有选项都理解但是不能接受</a:t>
            </a:r>
          </a:p>
          <a:p>
            <a:pPr lvl="2" indent="-330200">
              <a:lnSpc>
                <a:spcPts val="3300"/>
              </a:lnSpc>
              <a:buFont typeface="Microsoft YaHei" panose="020B0503020204020204" pitchFamily="34" charset="-122"/>
              <a:buChar char="−"/>
            </a:pPr>
            <a:r>
              <a:rPr lang="zh-CN" altLang="en-US" dirty="0"/>
              <a:t>配置拒绝帧（</a:t>
            </a:r>
            <a:r>
              <a:rPr lang="en-US" altLang="zh-CN" dirty="0"/>
              <a:t>Configure-Reject</a:t>
            </a:r>
            <a:r>
              <a:rPr lang="zh-CN" altLang="en-US" dirty="0"/>
              <a:t>）：选项有的无法识别或不能接受，需要协商</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57</a:t>
            </a:fld>
            <a:endParaRPr kumimoji="1" lang="zh-CN" altLang="en-US" dirty="0"/>
          </a:p>
        </p:txBody>
      </p:sp>
      <p:sp>
        <p:nvSpPr>
          <p:cNvPr id="5" name="文本框 4">
            <a:extLst>
              <a:ext uri="{FF2B5EF4-FFF2-40B4-BE49-F238E27FC236}">
                <a16:creationId xmlns:a16="http://schemas.microsoft.com/office/drawing/2014/main" id="{DE1B3D5A-06FA-41EB-A4E9-5EFFE4308CA0}"/>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0088531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244212"/>
            <a:ext cx="10515600" cy="4853240"/>
          </a:xfrm>
        </p:spPr>
        <p:txBody>
          <a:bodyPr>
            <a:normAutofit/>
          </a:bodyPr>
          <a:lstStyle/>
          <a:p>
            <a:pPr>
              <a:lnSpc>
                <a:spcPct val="150000"/>
              </a:lnSpc>
            </a:pPr>
            <a:r>
              <a:rPr lang="zh-CN" altLang="en-US" dirty="0"/>
              <a:t>链路建立状态</a:t>
            </a:r>
            <a:endParaRPr lang="en-US" altLang="zh-CN" dirty="0"/>
          </a:p>
          <a:p>
            <a:pPr lvl="1">
              <a:lnSpc>
                <a:spcPct val="150000"/>
              </a:lnSpc>
            </a:pPr>
            <a:r>
              <a:rPr lang="en-US" altLang="zh-CN" dirty="0"/>
              <a:t>LCP</a:t>
            </a:r>
            <a:r>
              <a:rPr lang="zh-CN" altLang="en-US" dirty="0"/>
              <a:t>帧共有</a:t>
            </a:r>
            <a:r>
              <a:rPr lang="en-US" altLang="zh-CN" dirty="0"/>
              <a:t>11</a:t>
            </a:r>
            <a:r>
              <a:rPr lang="zh-CN" altLang="en-US" dirty="0"/>
              <a:t>种（以上为</a:t>
            </a:r>
            <a:r>
              <a:rPr lang="en-US" altLang="zh-CN" dirty="0"/>
              <a:t>4</a:t>
            </a:r>
            <a:r>
              <a:rPr lang="zh-CN" altLang="en-US" dirty="0"/>
              <a:t>种配置型帧）。</a:t>
            </a:r>
          </a:p>
          <a:p>
            <a:pPr lvl="2">
              <a:lnSpc>
                <a:spcPct val="150000"/>
              </a:lnSpc>
              <a:buFont typeface="微软雅黑" panose="020B0503020204020204" pitchFamily="34" charset="-122"/>
              <a:buChar char="−"/>
            </a:pPr>
            <a:r>
              <a:rPr lang="zh-CN" altLang="en-US" sz="2200" dirty="0">
                <a:solidFill>
                  <a:srgbClr val="5B307E"/>
                </a:solidFill>
              </a:rPr>
              <a:t>关闭线路：</a:t>
            </a:r>
            <a:r>
              <a:rPr lang="en-US" altLang="zh-CN" sz="2200" dirty="0"/>
              <a:t>Terminate-request</a:t>
            </a:r>
            <a:r>
              <a:rPr lang="zh-CN" altLang="en-US" sz="2200" dirty="0"/>
              <a:t>请求关闭线路帧，</a:t>
            </a:r>
            <a:r>
              <a:rPr lang="en-US" altLang="zh-CN" sz="2200" dirty="0"/>
              <a:t>Terminate-</a:t>
            </a:r>
            <a:r>
              <a:rPr lang="en-US" altLang="zh-CN" sz="2200" dirty="0" err="1"/>
              <a:t>ack</a:t>
            </a:r>
            <a:r>
              <a:rPr lang="zh-CN" altLang="en-US" sz="2200" dirty="0"/>
              <a:t>接受关闭线路；</a:t>
            </a:r>
          </a:p>
          <a:p>
            <a:pPr lvl="2">
              <a:lnSpc>
                <a:spcPct val="150000"/>
              </a:lnSpc>
              <a:buFont typeface="微软雅黑" panose="020B0503020204020204" pitchFamily="34" charset="-122"/>
              <a:buChar char="−"/>
            </a:pPr>
            <a:r>
              <a:rPr lang="zh-CN" altLang="en-US" sz="2200" dirty="0">
                <a:solidFill>
                  <a:srgbClr val="5B307E"/>
                </a:solidFill>
              </a:rPr>
              <a:t>应答方无法理解：</a:t>
            </a:r>
            <a:r>
              <a:rPr lang="en-US" altLang="zh-CN" sz="2200" dirty="0"/>
              <a:t>Code-reject</a:t>
            </a:r>
            <a:r>
              <a:rPr lang="zh-CN" altLang="en-US" sz="2200" dirty="0"/>
              <a:t>收到了未知的请求，</a:t>
            </a:r>
            <a:r>
              <a:rPr lang="en-US" altLang="zh-CN" sz="2200" dirty="0"/>
              <a:t>Protocol-reject</a:t>
            </a:r>
            <a:r>
              <a:rPr lang="zh-CN" altLang="en-US" sz="2200" dirty="0"/>
              <a:t>被请求的协议未知； 可能是传输错误或者</a:t>
            </a:r>
            <a:r>
              <a:rPr lang="en-US" altLang="zh-CN" sz="2200" dirty="0"/>
              <a:t>LCP</a:t>
            </a:r>
            <a:r>
              <a:rPr lang="zh-CN" altLang="en-US" sz="2200" dirty="0"/>
              <a:t>协议版本不同</a:t>
            </a:r>
          </a:p>
          <a:p>
            <a:pPr lvl="2">
              <a:lnSpc>
                <a:spcPct val="150000"/>
              </a:lnSpc>
              <a:buFont typeface="微软雅黑" panose="020B0503020204020204" pitchFamily="34" charset="-122"/>
              <a:buChar char="−"/>
            </a:pPr>
            <a:r>
              <a:rPr lang="zh-CN" altLang="en-US" sz="2200" dirty="0">
                <a:solidFill>
                  <a:srgbClr val="5B307E"/>
                </a:solidFill>
              </a:rPr>
              <a:t>用于测试线路质量：</a:t>
            </a:r>
            <a:r>
              <a:rPr lang="en-US" altLang="zh-CN" sz="2200" dirty="0"/>
              <a:t>Echo-request</a:t>
            </a:r>
            <a:r>
              <a:rPr lang="zh-CN" altLang="en-US" sz="2200" dirty="0"/>
              <a:t>回送请求帧，</a:t>
            </a:r>
            <a:r>
              <a:rPr lang="en-US" altLang="zh-CN" sz="2200" dirty="0"/>
              <a:t>Echo-reply</a:t>
            </a:r>
            <a:r>
              <a:rPr lang="zh-CN" altLang="en-US" sz="2200" dirty="0"/>
              <a:t>回送应答帧；</a:t>
            </a:r>
          </a:p>
          <a:p>
            <a:pPr lvl="2">
              <a:lnSpc>
                <a:spcPct val="150000"/>
              </a:lnSpc>
              <a:buFont typeface="微软雅黑" panose="020B0503020204020204" pitchFamily="34" charset="-122"/>
              <a:buChar char="−"/>
            </a:pPr>
            <a:r>
              <a:rPr lang="zh-CN" altLang="en-US" sz="2200" dirty="0">
                <a:solidFill>
                  <a:srgbClr val="5B307E"/>
                </a:solidFill>
              </a:rPr>
              <a:t>用于测试：</a:t>
            </a:r>
            <a:r>
              <a:rPr lang="en-US" altLang="zh-CN" sz="2200" dirty="0"/>
              <a:t>Discard-request</a:t>
            </a:r>
            <a:r>
              <a:rPr lang="zh-CN" altLang="en-US" sz="2200" dirty="0"/>
              <a:t>只需丢弃该帧</a:t>
            </a:r>
            <a:endParaRPr lang="en-US" altLang="zh-CN" sz="22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58</a:t>
            </a:fld>
            <a:endParaRPr kumimoji="1" lang="zh-CN" altLang="en-US" dirty="0"/>
          </a:p>
        </p:txBody>
      </p:sp>
      <p:sp>
        <p:nvSpPr>
          <p:cNvPr id="5" name="文本框 4">
            <a:extLst>
              <a:ext uri="{FF2B5EF4-FFF2-40B4-BE49-F238E27FC236}">
                <a16:creationId xmlns:a16="http://schemas.microsoft.com/office/drawing/2014/main" id="{EE7F81D0-D3EB-45F2-AEB4-5C0AB4A5D40D}"/>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4493798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59</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4C422F74-C0CB-4FA9-A22D-79EA5E48282D}"/>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1425206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p:txBody>
          <a:bodyPr>
            <a:normAutofit/>
          </a:bodyPr>
          <a:lstStyle/>
          <a:p>
            <a:pPr>
              <a:lnSpc>
                <a:spcPts val="3200"/>
              </a:lnSpc>
            </a:pPr>
            <a:r>
              <a:rPr lang="zh-CN" altLang="en-US" dirty="0"/>
              <a:t>身份认证状态</a:t>
            </a:r>
            <a:endParaRPr lang="en-US" altLang="zh-CN" dirty="0"/>
          </a:p>
          <a:p>
            <a:pPr lvl="1">
              <a:lnSpc>
                <a:spcPts val="3200"/>
              </a:lnSpc>
            </a:pPr>
            <a:r>
              <a:rPr lang="zh-CN" altLang="en-US" dirty="0"/>
              <a:t>在允许交换网络层协议包之前，对等点可选身份验证</a:t>
            </a:r>
            <a:endParaRPr lang="en-US" altLang="zh-CN" dirty="0"/>
          </a:p>
          <a:p>
            <a:pPr lvl="1">
              <a:lnSpc>
                <a:spcPts val="3200"/>
              </a:lnSpc>
            </a:pPr>
            <a:r>
              <a:rPr lang="zh-CN" altLang="en-US" dirty="0"/>
              <a:t>默认情况下，不需要身份验证</a:t>
            </a:r>
            <a:endParaRPr lang="en-US" altLang="zh-CN" dirty="0"/>
          </a:p>
          <a:p>
            <a:pPr lvl="1">
              <a:lnSpc>
                <a:spcPts val="3200"/>
              </a:lnSpc>
            </a:pPr>
            <a:r>
              <a:rPr lang="zh-CN" altLang="en-US" dirty="0"/>
              <a:t>如果选择身份验证协议，需要在链接建立阶段请求使用该身份验证协议</a:t>
            </a:r>
            <a:endParaRPr lang="en-US" altLang="zh-CN" dirty="0"/>
          </a:p>
          <a:p>
            <a:pPr lvl="1">
              <a:lnSpc>
                <a:spcPts val="3200"/>
              </a:lnSpc>
            </a:pPr>
            <a:r>
              <a:rPr lang="zh-CN" altLang="en-US" dirty="0"/>
              <a:t>认证将在链接建立后进行，链路质量确认可能会同时发生</a:t>
            </a:r>
            <a:endParaRPr lang="en-US" altLang="zh-CN" dirty="0"/>
          </a:p>
          <a:p>
            <a:pPr lvl="1">
              <a:lnSpc>
                <a:spcPts val="3200"/>
              </a:lnSpc>
            </a:pPr>
            <a:r>
              <a:rPr lang="zh-CN" altLang="en-US" dirty="0"/>
              <a:t>在身份验证完成之前，不能从身份验证阶段推进到网络层协议阶段</a:t>
            </a:r>
            <a:endParaRPr lang="en-US" altLang="zh-CN" dirty="0"/>
          </a:p>
          <a:p>
            <a:pPr lvl="1">
              <a:lnSpc>
                <a:spcPts val="3200"/>
              </a:lnSpc>
            </a:pPr>
            <a:r>
              <a:rPr lang="zh-CN" altLang="en-US" dirty="0"/>
              <a:t>如果身份验证失败，则身份验证器应该继续到链接终止阶段</a:t>
            </a:r>
            <a:endParaRPr lang="en-US" altLang="zh-CN" dirty="0"/>
          </a:p>
          <a:p>
            <a:pPr lvl="1">
              <a:lnSpc>
                <a:spcPts val="3200"/>
              </a:lnSpc>
            </a:pPr>
            <a:r>
              <a:rPr lang="zh-CN" altLang="en-US" dirty="0"/>
              <a:t>此阶段只允许链路控制协议、认证协议和链路质量监控包</a:t>
            </a:r>
            <a:endParaRPr lang="en-US" altLang="zh-CN" dirty="0"/>
          </a:p>
          <a:p>
            <a:pPr lvl="1">
              <a:lnSpc>
                <a:spcPts val="3200"/>
              </a:lnSpc>
            </a:pPr>
            <a:r>
              <a:rPr lang="zh-CN" altLang="en-US" dirty="0"/>
              <a:t>此阶段接收到的所有其他数据包必须丢弃</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60</a:t>
            </a:fld>
            <a:endParaRPr kumimoji="1" lang="zh-CN" altLang="en-US" dirty="0"/>
          </a:p>
        </p:txBody>
      </p:sp>
      <p:sp>
        <p:nvSpPr>
          <p:cNvPr id="5" name="文本框 4">
            <a:extLst>
              <a:ext uri="{FF2B5EF4-FFF2-40B4-BE49-F238E27FC236}">
                <a16:creationId xmlns:a16="http://schemas.microsoft.com/office/drawing/2014/main" id="{3E32017E-9424-4294-92D5-DBCFF696BE6A}"/>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6929329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61</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612A0278-3443-4336-8EEC-C456B4B9E58B}"/>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8840007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384300"/>
            <a:ext cx="10515600" cy="4713152"/>
          </a:xfrm>
        </p:spPr>
        <p:txBody>
          <a:bodyPr>
            <a:normAutofit lnSpcReduction="10000"/>
          </a:bodyPr>
          <a:lstStyle/>
          <a:p>
            <a:pPr>
              <a:lnSpc>
                <a:spcPct val="150000"/>
              </a:lnSpc>
            </a:pPr>
            <a:r>
              <a:rPr lang="zh-CN" altLang="en-US" dirty="0"/>
              <a:t>网络连接状态</a:t>
            </a:r>
            <a:endParaRPr lang="en-US" altLang="zh-CN" dirty="0"/>
          </a:p>
          <a:p>
            <a:pPr lvl="1">
              <a:lnSpc>
                <a:spcPct val="150000"/>
              </a:lnSpc>
            </a:pPr>
            <a:r>
              <a:rPr lang="zh-CN" altLang="en-US" dirty="0"/>
              <a:t>完成了前面的阶段，每个网络层协议</a:t>
            </a:r>
            <a:r>
              <a:rPr lang="en-US" altLang="zh-CN" dirty="0"/>
              <a:t>(</a:t>
            </a:r>
            <a:r>
              <a:rPr lang="zh-CN" altLang="en-US" dirty="0"/>
              <a:t>如</a:t>
            </a:r>
            <a:r>
              <a:rPr lang="en-US" altLang="zh-CN" dirty="0"/>
              <a:t>IP</a:t>
            </a:r>
            <a:r>
              <a:rPr lang="zh-CN" altLang="en-US" dirty="0"/>
              <a:t>、</a:t>
            </a:r>
            <a:r>
              <a:rPr lang="en-US" altLang="zh-CN" dirty="0" err="1"/>
              <a:t>IPX</a:t>
            </a:r>
            <a:r>
              <a:rPr lang="zh-CN" altLang="en-US" dirty="0"/>
              <a:t>或</a:t>
            </a:r>
            <a:r>
              <a:rPr lang="en-US" altLang="zh-CN" dirty="0"/>
              <a:t>AppleTalk)</a:t>
            </a:r>
            <a:r>
              <a:rPr lang="zh-CN" altLang="en-US" dirty="0"/>
              <a:t>必须由适当的网络控制协议</a:t>
            </a:r>
            <a:r>
              <a:rPr lang="en-US" altLang="zh-CN" dirty="0"/>
              <a:t>(NCP)</a:t>
            </a:r>
            <a:r>
              <a:rPr lang="zh-CN" altLang="en-US" dirty="0"/>
              <a:t>单独配置</a:t>
            </a:r>
            <a:endParaRPr lang="en-US" altLang="zh-CN" dirty="0"/>
          </a:p>
          <a:p>
            <a:pPr lvl="1">
              <a:lnSpc>
                <a:spcPct val="150000"/>
              </a:lnSpc>
            </a:pPr>
            <a:r>
              <a:rPr lang="zh-CN" altLang="en-US" dirty="0"/>
              <a:t>每个</a:t>
            </a:r>
            <a:r>
              <a:rPr lang="en-US" altLang="zh-CN" dirty="0"/>
              <a:t>NCP</a:t>
            </a:r>
            <a:r>
              <a:rPr lang="zh-CN" altLang="en-US" dirty="0"/>
              <a:t>可以在任何时候打开和关闭</a:t>
            </a:r>
            <a:endParaRPr lang="en-US" altLang="zh-CN" dirty="0"/>
          </a:p>
          <a:p>
            <a:pPr lvl="1">
              <a:lnSpc>
                <a:spcPct val="150000"/>
              </a:lnSpc>
            </a:pPr>
            <a:r>
              <a:rPr lang="en-US" altLang="zh-CN" dirty="0"/>
              <a:t>NCP</a:t>
            </a:r>
            <a:r>
              <a:rPr lang="zh-CN" altLang="en-US" dirty="0"/>
              <a:t>到达打开状态后，</a:t>
            </a:r>
            <a:r>
              <a:rPr lang="en-US" altLang="zh-CN" dirty="0"/>
              <a:t>PPP</a:t>
            </a:r>
            <a:r>
              <a:rPr lang="zh-CN" altLang="en-US" dirty="0"/>
              <a:t>将携带相应的网络层协议包</a:t>
            </a:r>
            <a:endParaRPr lang="en-US" altLang="zh-CN" dirty="0"/>
          </a:p>
          <a:p>
            <a:pPr lvl="1">
              <a:lnSpc>
                <a:spcPct val="150000"/>
              </a:lnSpc>
            </a:pPr>
            <a:r>
              <a:rPr lang="zh-CN" altLang="en-US" dirty="0"/>
              <a:t>如果相应的</a:t>
            </a:r>
            <a:r>
              <a:rPr lang="en-US" altLang="zh-CN" dirty="0"/>
              <a:t>NCP</a:t>
            </a:r>
            <a:r>
              <a:rPr lang="zh-CN" altLang="en-US" dirty="0"/>
              <a:t>不处于打开状态时，接收到的任何受支持的网络层协议包都必须丢弃</a:t>
            </a:r>
            <a:endParaRPr lang="en-US" altLang="zh-CN" dirty="0"/>
          </a:p>
          <a:p>
            <a:pPr lvl="1">
              <a:lnSpc>
                <a:spcPct val="150000"/>
              </a:lnSpc>
            </a:pPr>
            <a:r>
              <a:rPr lang="zh-CN" altLang="en-US" dirty="0"/>
              <a:t>在此阶段，链路流量由</a:t>
            </a:r>
            <a:r>
              <a:rPr lang="en-US" altLang="zh-CN" dirty="0"/>
              <a:t>LCP</a:t>
            </a:r>
            <a:r>
              <a:rPr lang="zh-CN" altLang="en-US" dirty="0"/>
              <a:t>、</a:t>
            </a:r>
            <a:r>
              <a:rPr lang="en-US" altLang="zh-CN" dirty="0"/>
              <a:t>NCP</a:t>
            </a:r>
            <a:r>
              <a:rPr lang="zh-CN" altLang="en-US" dirty="0"/>
              <a:t>和网络层协议包的任何可能组合组成</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62</a:t>
            </a:fld>
            <a:endParaRPr kumimoji="1" lang="zh-CN" altLang="en-US" dirty="0"/>
          </a:p>
        </p:txBody>
      </p:sp>
      <p:sp>
        <p:nvSpPr>
          <p:cNvPr id="5" name="文本框 4">
            <a:extLst>
              <a:ext uri="{FF2B5EF4-FFF2-40B4-BE49-F238E27FC236}">
                <a16:creationId xmlns:a16="http://schemas.microsoft.com/office/drawing/2014/main" id="{6D3D1EDA-50AB-400A-8D15-439D60A78A6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6803285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63</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84239B1D-0AA4-4D55-B071-246F480A687C}"/>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2707804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409700"/>
            <a:ext cx="10515600" cy="4687752"/>
          </a:xfrm>
        </p:spPr>
        <p:txBody>
          <a:bodyPr/>
          <a:lstStyle/>
          <a:p>
            <a:pPr>
              <a:lnSpc>
                <a:spcPct val="150000"/>
              </a:lnSpc>
            </a:pPr>
            <a:r>
              <a:rPr lang="zh-CN" altLang="en-US" dirty="0"/>
              <a:t>数据通信状态（网络打开状态）</a:t>
            </a:r>
            <a:endParaRPr lang="en-US" altLang="zh-CN" dirty="0"/>
          </a:p>
          <a:p>
            <a:pPr lvl="1">
              <a:lnSpc>
                <a:spcPct val="150000"/>
              </a:lnSpc>
            </a:pPr>
            <a:r>
              <a:rPr lang="zh-CN" altLang="en-US" dirty="0"/>
              <a:t>链路的两个</a:t>
            </a:r>
            <a:r>
              <a:rPr lang="en-US" altLang="zh-CN" dirty="0"/>
              <a:t>PPP</a:t>
            </a:r>
            <a:r>
              <a:rPr lang="zh-CN" altLang="en-US" dirty="0"/>
              <a:t>端点可以彼此向对方发送分组</a:t>
            </a:r>
          </a:p>
          <a:p>
            <a:pPr lvl="1">
              <a:lnSpc>
                <a:spcPct val="150000"/>
              </a:lnSpc>
            </a:pPr>
            <a:r>
              <a:rPr lang="zh-CN" altLang="en-US" dirty="0"/>
              <a:t>或者发送检查链路状态的</a:t>
            </a:r>
            <a:r>
              <a:rPr lang="en-US" altLang="zh-CN" dirty="0"/>
              <a:t>Echo-*</a:t>
            </a:r>
            <a:r>
              <a:rPr lang="zh-CN" altLang="en-US" dirty="0"/>
              <a:t>帧</a:t>
            </a:r>
          </a:p>
          <a:p>
            <a:pPr marL="457200" lvl="1"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64</a:t>
            </a:fld>
            <a:endParaRPr kumimoji="1" lang="zh-CN" altLang="en-US" dirty="0"/>
          </a:p>
        </p:txBody>
      </p:sp>
      <p:sp>
        <p:nvSpPr>
          <p:cNvPr id="5" name="文本框 4">
            <a:extLst>
              <a:ext uri="{FF2B5EF4-FFF2-40B4-BE49-F238E27FC236}">
                <a16:creationId xmlns:a16="http://schemas.microsoft.com/office/drawing/2014/main" id="{BBC532EE-C253-4343-9611-ACB493E9CC06}"/>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9149459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65</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6C680183-375B-42A2-AC2B-7C1AA18F28EF}"/>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7304158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731981" y="1514763"/>
            <a:ext cx="10859655" cy="5083111"/>
          </a:xfrm>
        </p:spPr>
        <p:txBody>
          <a:bodyPr>
            <a:noAutofit/>
          </a:bodyPr>
          <a:lstStyle/>
          <a:p>
            <a:r>
              <a:rPr lang="en-US" altLang="zh-CN" sz="2400" dirty="0"/>
              <a:t>PPP</a:t>
            </a:r>
            <a:r>
              <a:rPr lang="zh-CN" altLang="en-US" sz="2400" dirty="0"/>
              <a:t>可以在任何时候终止链接。</a:t>
            </a:r>
            <a:endParaRPr lang="en-US" altLang="zh-CN" sz="2400" dirty="0"/>
          </a:p>
          <a:p>
            <a:pPr lvl="1"/>
            <a:r>
              <a:rPr lang="zh-CN" altLang="en-US" sz="2000" dirty="0"/>
              <a:t>运营商丢失、身份验证失败、链接质量失败、空闲期计时器过期或链接的管理关闭造成的</a:t>
            </a:r>
            <a:endParaRPr lang="en-US" altLang="zh-CN" sz="2000" dirty="0"/>
          </a:p>
          <a:p>
            <a:r>
              <a:rPr lang="en-US" altLang="zh-CN" sz="2400" dirty="0"/>
              <a:t>LCP</a:t>
            </a:r>
            <a:r>
              <a:rPr lang="zh-CN" altLang="en-US" sz="2400" dirty="0"/>
              <a:t>用于通过交换终止包来关闭链接。</a:t>
            </a:r>
            <a:endParaRPr lang="en-US" altLang="zh-CN" sz="2400" dirty="0"/>
          </a:p>
          <a:p>
            <a:pPr lvl="1"/>
            <a:r>
              <a:rPr lang="zh-CN" altLang="en-US" sz="2000" dirty="0"/>
              <a:t>当连接关闭时，</a:t>
            </a:r>
            <a:r>
              <a:rPr lang="en-US" altLang="zh-CN" sz="2000" dirty="0"/>
              <a:t>PPP</a:t>
            </a:r>
            <a:r>
              <a:rPr lang="zh-CN" altLang="en-US" sz="2000" dirty="0"/>
              <a:t>通知网络层协议</a:t>
            </a:r>
            <a:endParaRPr lang="en-US" altLang="zh-CN" sz="2000" dirty="0"/>
          </a:p>
          <a:p>
            <a:pPr lvl="1"/>
            <a:r>
              <a:rPr lang="zh-CN" altLang="en-US" sz="2000" dirty="0"/>
              <a:t>在交换终止包之后，实现应该向物理层发出断开的信号，以强制终止链接，特别是在身份验证失败的情况下</a:t>
            </a:r>
            <a:endParaRPr lang="en-US" altLang="zh-CN" sz="2000" dirty="0"/>
          </a:p>
          <a:p>
            <a:r>
              <a:rPr lang="en-US" altLang="zh-CN" sz="2400" dirty="0"/>
              <a:t>Terminate-Request</a:t>
            </a:r>
            <a:r>
              <a:rPr lang="zh-CN" altLang="en-US" sz="2400" dirty="0"/>
              <a:t>的发送方在收到</a:t>
            </a:r>
            <a:r>
              <a:rPr lang="en-US" altLang="zh-CN" sz="2400" dirty="0"/>
              <a:t>Terminate-</a:t>
            </a:r>
            <a:r>
              <a:rPr lang="en-US" altLang="zh-CN" sz="2400" dirty="0" err="1"/>
              <a:t>Ack</a:t>
            </a:r>
            <a:r>
              <a:rPr lang="zh-CN" altLang="en-US" sz="2400" dirty="0"/>
              <a:t>或重启计数器过期后断开连接。</a:t>
            </a:r>
            <a:endParaRPr lang="en-US" altLang="zh-CN" sz="2400" dirty="0"/>
          </a:p>
          <a:p>
            <a:r>
              <a:rPr lang="en-US" altLang="zh-CN" sz="2400" dirty="0"/>
              <a:t>Terminate-Request</a:t>
            </a:r>
            <a:r>
              <a:rPr lang="zh-CN" altLang="en-US" sz="2400" dirty="0"/>
              <a:t>的接收方等待对等方断开连接，并且在发送</a:t>
            </a:r>
            <a:r>
              <a:rPr lang="en-US" altLang="zh-CN" sz="2400" dirty="0"/>
              <a:t>Terminate-</a:t>
            </a:r>
            <a:r>
              <a:rPr lang="en-US" altLang="zh-CN" sz="2400" dirty="0" err="1"/>
              <a:t>Ack</a:t>
            </a:r>
            <a:r>
              <a:rPr lang="zh-CN" altLang="en-US" sz="2400" dirty="0"/>
              <a:t>之后，在至少一次重新启动时间过去之前，绝不能断开连接。</a:t>
            </a:r>
            <a:endParaRPr lang="en-US" altLang="zh-CN" sz="2400" dirty="0"/>
          </a:p>
          <a:p>
            <a:r>
              <a:rPr lang="en-US" altLang="zh-CN" sz="2400" dirty="0"/>
              <a:t>PPP</a:t>
            </a:r>
            <a:r>
              <a:rPr lang="zh-CN" altLang="en-US" sz="2400" dirty="0"/>
              <a:t>随后进入链路静止阶段。</a:t>
            </a:r>
            <a:endParaRPr lang="en-US" altLang="zh-CN" sz="2400" dirty="0"/>
          </a:p>
          <a:p>
            <a:r>
              <a:rPr lang="zh-CN" altLang="en-US" sz="2400" dirty="0"/>
              <a:t>在此阶段接收到的任何非</a:t>
            </a:r>
            <a:r>
              <a:rPr lang="en-US" altLang="zh-CN" sz="2400" dirty="0"/>
              <a:t>LCP</a:t>
            </a:r>
            <a:r>
              <a:rPr lang="zh-CN" altLang="en-US" sz="2400" dirty="0"/>
              <a:t>数据包都必须丢弃。</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66</a:t>
            </a:fld>
            <a:endParaRPr kumimoji="1" lang="zh-CN" altLang="en-US" dirty="0"/>
          </a:p>
        </p:txBody>
      </p:sp>
      <p:sp>
        <p:nvSpPr>
          <p:cNvPr id="5" name="文本框 4">
            <a:extLst>
              <a:ext uri="{FF2B5EF4-FFF2-40B4-BE49-F238E27FC236}">
                <a16:creationId xmlns:a16="http://schemas.microsoft.com/office/drawing/2014/main" id="{699E64A3-E370-4F26-B918-F8BBD12073A8}"/>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5339745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lang="zh-CN" altLang="en-US" sz="2400" dirty="0">
              <a:latin typeface="微软雅黑" panose="020B0503020204020204" pitchFamily="34" charset="-122"/>
              <a:ea typeface="微软雅黑" panose="020B0503020204020204" pitchFamily="34" charset="-122"/>
            </a:endParaRPr>
          </a:p>
          <a:p>
            <a:pPr marL="0" indent="0">
              <a:lnSpc>
                <a:spcPct val="130000"/>
              </a:lnSpc>
              <a:buNone/>
            </a:pPr>
            <a:r>
              <a:rPr kumimoji="1" lang="en-US" altLang="zh-CN" dirty="0">
                <a:solidFill>
                  <a:srgbClr val="C00000"/>
                </a:solidFill>
              </a:rPr>
              <a:t>3.5 </a:t>
            </a:r>
            <a:r>
              <a:rPr kumimoji="1" lang="zh-CN" altLang="zh-CN" dirty="0">
                <a:solidFill>
                  <a:srgbClr val="C00000"/>
                </a:solidFill>
              </a:rPr>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67</a:t>
            </a:fld>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631543" y="3048001"/>
            <a:ext cx="4768770" cy="1219200"/>
          </a:xfrm>
          <a:prstGeom prst="wedgeRectCallout">
            <a:avLst>
              <a:gd name="adj1" fmla="val -74949"/>
              <a:gd name="adj2" fmla="val 5408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1200"/>
              </a:spcBef>
              <a:buFontTx/>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点到点链路层协议</a:t>
            </a:r>
            <a:r>
              <a:rPr lang="en-US" altLang="zh-CN" sz="2400" dirty="0">
                <a:solidFill>
                  <a:schemeClr val="tx1"/>
                </a:solidFill>
                <a:latin typeface="微软雅黑" panose="020B0503020204020204" pitchFamily="34" charset="-122"/>
                <a:ea typeface="微软雅黑" panose="020B0503020204020204" pitchFamily="34" charset="-122"/>
              </a:rPr>
              <a:t>PPP</a:t>
            </a:r>
          </a:p>
          <a:p>
            <a:pPr marL="457200" indent="-457200">
              <a:spcBef>
                <a:spcPts val="1200"/>
              </a:spcBef>
              <a:buFontTx/>
              <a:buAutoNum type="arabicPeriod"/>
            </a:pPr>
            <a:r>
              <a:rPr lang="en-US" altLang="zh-CN" sz="2400" dirty="0" err="1">
                <a:solidFill>
                  <a:srgbClr val="C00000"/>
                </a:solidFill>
                <a:latin typeface="微软雅黑" panose="020B0503020204020204" pitchFamily="34" charset="-122"/>
                <a:ea typeface="微软雅黑" panose="020B0503020204020204" pitchFamily="34" charset="-122"/>
              </a:rPr>
              <a:t>PPPoE</a:t>
            </a:r>
            <a:endParaRPr lang="en-US" altLang="zh-CN" sz="24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76809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en-US" altLang="zh-CN" dirty="0" err="1"/>
              <a:t>PPPoE</a:t>
            </a:r>
            <a:r>
              <a:rPr kumimoji="1" lang="zh-CN" altLang="en-US" dirty="0"/>
              <a:t>概述</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714633" y="1403953"/>
            <a:ext cx="10809152" cy="4609986"/>
          </a:xfrm>
        </p:spPr>
        <p:txBody>
          <a:bodyPr>
            <a:normAutofit/>
          </a:bodyPr>
          <a:lstStyle/>
          <a:p>
            <a:pPr>
              <a:lnSpc>
                <a:spcPct val="120000"/>
              </a:lnSpc>
            </a:pPr>
            <a:r>
              <a:rPr kumimoji="1" lang="en-US" altLang="zh-CN" dirty="0"/>
              <a:t>Ethernet</a:t>
            </a:r>
            <a:r>
              <a:rPr kumimoji="1" lang="zh-CN" altLang="en-US" dirty="0"/>
              <a:t>优点</a:t>
            </a:r>
            <a:endParaRPr kumimoji="1" lang="en-US" altLang="zh-CN" dirty="0"/>
          </a:p>
          <a:p>
            <a:pPr lvl="1">
              <a:lnSpc>
                <a:spcPct val="120000"/>
              </a:lnSpc>
            </a:pPr>
            <a:r>
              <a:rPr kumimoji="1" lang="zh-CN" altLang="en-US" dirty="0"/>
              <a:t>原理简单，应用非常广，设备成本低</a:t>
            </a:r>
            <a:endParaRPr kumimoji="1" lang="en-US" altLang="zh-CN" dirty="0"/>
          </a:p>
          <a:p>
            <a:pPr>
              <a:lnSpc>
                <a:spcPct val="120000"/>
              </a:lnSpc>
            </a:pPr>
            <a:r>
              <a:rPr kumimoji="1" lang="en-US" altLang="zh-CN" dirty="0"/>
              <a:t>Ethernet</a:t>
            </a:r>
            <a:r>
              <a:rPr kumimoji="1" lang="zh-CN" altLang="en-US" dirty="0"/>
              <a:t>缺点</a:t>
            </a:r>
            <a:endParaRPr kumimoji="1" lang="en-US" altLang="zh-CN" dirty="0"/>
          </a:p>
          <a:p>
            <a:pPr lvl="1">
              <a:lnSpc>
                <a:spcPct val="120000"/>
              </a:lnSpc>
            </a:pPr>
            <a:r>
              <a:rPr kumimoji="1" lang="zh-CN" altLang="en-US" dirty="0"/>
              <a:t>安全性较低、不宜管理：使用广播信道，造成了安全性较低，</a:t>
            </a:r>
            <a:r>
              <a:rPr kumimoji="1" lang="zh-CN" altLang="en-US" dirty="0">
                <a:solidFill>
                  <a:srgbClr val="FF0000"/>
                </a:solidFill>
              </a:rPr>
              <a:t>无认证功能</a:t>
            </a:r>
            <a:endParaRPr kumimoji="1" lang="en-US" altLang="zh-CN" dirty="0">
              <a:solidFill>
                <a:srgbClr val="FF0000"/>
              </a:solidFill>
            </a:endParaRPr>
          </a:p>
          <a:p>
            <a:pPr>
              <a:lnSpc>
                <a:spcPct val="120000"/>
              </a:lnSpc>
            </a:pPr>
            <a:r>
              <a:rPr kumimoji="1" lang="en-US" altLang="zh-CN" sz="2900" dirty="0"/>
              <a:t>PPP</a:t>
            </a:r>
            <a:r>
              <a:rPr kumimoji="1" lang="zh-CN" altLang="en-US" sz="2900" dirty="0"/>
              <a:t>优点</a:t>
            </a:r>
            <a:endParaRPr kumimoji="1" lang="en-US" altLang="zh-CN" sz="2900" dirty="0"/>
          </a:p>
          <a:p>
            <a:pPr lvl="1">
              <a:lnSpc>
                <a:spcPct val="120000"/>
              </a:lnSpc>
            </a:pPr>
            <a:r>
              <a:rPr kumimoji="1" lang="zh-CN" altLang="en-US" sz="2500" dirty="0"/>
              <a:t>原理简单</a:t>
            </a:r>
            <a:endParaRPr kumimoji="1" lang="en-US" altLang="zh-CN" sz="2500" dirty="0"/>
          </a:p>
          <a:p>
            <a:pPr lvl="1">
              <a:lnSpc>
                <a:spcPct val="120000"/>
              </a:lnSpc>
            </a:pPr>
            <a:r>
              <a:rPr kumimoji="1" lang="zh-CN" altLang="en-US" sz="2500" dirty="0"/>
              <a:t>安全性高：</a:t>
            </a:r>
            <a:r>
              <a:rPr kumimoji="1" lang="zh-CN" altLang="en-US" sz="2500" dirty="0">
                <a:solidFill>
                  <a:srgbClr val="FF0000"/>
                </a:solidFill>
              </a:rPr>
              <a:t>点对点</a:t>
            </a:r>
            <a:r>
              <a:rPr kumimoji="1" lang="zh-CN" altLang="en-US" sz="2500" dirty="0"/>
              <a:t>信道，提供</a:t>
            </a:r>
            <a:r>
              <a:rPr kumimoji="1" lang="zh-CN" altLang="en-US" sz="2500" dirty="0">
                <a:solidFill>
                  <a:srgbClr val="FF0000"/>
                </a:solidFill>
              </a:rPr>
              <a:t>认证</a:t>
            </a:r>
            <a:r>
              <a:rPr kumimoji="1" lang="zh-CN" altLang="en-US" sz="2500" dirty="0"/>
              <a:t>机制</a:t>
            </a:r>
            <a:endParaRPr kumimoji="1" lang="en-US" altLang="zh-CN" sz="2500" dirty="0"/>
          </a:p>
          <a:p>
            <a:pPr lvl="1">
              <a:lnSpc>
                <a:spcPct val="120000"/>
              </a:lnSpc>
            </a:pPr>
            <a:r>
              <a:rPr kumimoji="1" lang="zh-CN" altLang="en-US" sz="2500" dirty="0"/>
              <a:t>提供良好的</a:t>
            </a:r>
            <a:r>
              <a:rPr kumimoji="1" lang="zh-CN" altLang="en-US" sz="2500" dirty="0">
                <a:solidFill>
                  <a:srgbClr val="FF0000"/>
                </a:solidFill>
              </a:rPr>
              <a:t>访问控制</a:t>
            </a:r>
            <a:r>
              <a:rPr kumimoji="1" lang="zh-CN" altLang="en-US" sz="2500" dirty="0"/>
              <a:t>和</a:t>
            </a:r>
            <a:r>
              <a:rPr kumimoji="1" lang="zh-CN" altLang="en-US" sz="2500" dirty="0">
                <a:solidFill>
                  <a:srgbClr val="FF0000"/>
                </a:solidFill>
              </a:rPr>
              <a:t>计费功能</a:t>
            </a:r>
            <a:endParaRPr kumimoji="1" lang="en-US" altLang="zh-CN" dirty="0">
              <a:solidFill>
                <a:srgbClr val="FF0000"/>
              </a:solidFill>
            </a:endParaRPr>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68</a:t>
            </a:fld>
            <a:endParaRPr kumimoji="1" lang="zh-CN" altLang="en-US" dirty="0"/>
          </a:p>
        </p:txBody>
      </p:sp>
      <p:sp>
        <p:nvSpPr>
          <p:cNvPr id="5" name="文本框 4">
            <a:extLst>
              <a:ext uri="{FF2B5EF4-FFF2-40B4-BE49-F238E27FC236}">
                <a16:creationId xmlns:a16="http://schemas.microsoft.com/office/drawing/2014/main" id="{3DB9DB75-876E-470C-B9AA-D494D99A61BA}"/>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3415264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en-US" altLang="zh-CN" dirty="0" err="1"/>
              <a:t>PPPoE</a:t>
            </a:r>
            <a:r>
              <a:rPr kumimoji="1" lang="zh-CN" altLang="en-US" dirty="0"/>
              <a:t>概述</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515600" cy="4057405"/>
          </a:xfrm>
        </p:spPr>
        <p:txBody>
          <a:bodyPr>
            <a:noAutofit/>
          </a:bodyPr>
          <a:lstStyle/>
          <a:p>
            <a:pPr>
              <a:lnSpc>
                <a:spcPct val="150000"/>
              </a:lnSpc>
            </a:pPr>
            <a:r>
              <a:rPr kumimoji="1" lang="en-US" altLang="zh-CN" dirty="0"/>
              <a:t>PPPoE</a:t>
            </a:r>
            <a:r>
              <a:rPr kumimoji="1" lang="zh-CN" altLang="en-US" dirty="0"/>
              <a:t>（</a:t>
            </a:r>
            <a:r>
              <a:rPr kumimoji="1" lang="en-US" altLang="zh-CN" dirty="0"/>
              <a:t>Point-to-Point Protocol over Ethernet</a:t>
            </a:r>
            <a:r>
              <a:rPr kumimoji="1" lang="zh-CN" altLang="en-US" dirty="0"/>
              <a:t>）</a:t>
            </a:r>
            <a:endParaRPr kumimoji="1" lang="en-US" altLang="zh-CN" dirty="0"/>
          </a:p>
          <a:p>
            <a:pPr lvl="1">
              <a:lnSpc>
                <a:spcPct val="150000"/>
              </a:lnSpc>
            </a:pPr>
            <a:r>
              <a:rPr lang="zh-CN" altLang="en-US" dirty="0"/>
              <a:t>提供在以太网链路上的</a:t>
            </a:r>
            <a:r>
              <a:rPr lang="en-US" altLang="zh-CN" dirty="0"/>
              <a:t>PPP</a:t>
            </a:r>
            <a:r>
              <a:rPr lang="zh-CN" altLang="en-US" dirty="0"/>
              <a:t>连接</a:t>
            </a:r>
            <a:endParaRPr lang="en-US" altLang="zh-CN" dirty="0"/>
          </a:p>
          <a:p>
            <a:pPr lvl="1">
              <a:lnSpc>
                <a:spcPct val="150000"/>
              </a:lnSpc>
            </a:pPr>
            <a:r>
              <a:rPr kumimoji="1" lang="zh-CN" altLang="en-US" dirty="0"/>
              <a:t>实现了传统以太网不能提供的身份验证、加密，以及压缩等功能</a:t>
            </a:r>
            <a:endParaRPr kumimoji="1" lang="en-US" altLang="zh-CN" dirty="0"/>
          </a:p>
          <a:p>
            <a:pPr lvl="1">
              <a:lnSpc>
                <a:spcPct val="150000"/>
              </a:lnSpc>
            </a:pPr>
            <a:r>
              <a:rPr kumimoji="1" lang="zh-CN" altLang="en-US" dirty="0"/>
              <a:t>实现基于用户的访问控制、计费、业务类型分类等，运营商广泛支持</a:t>
            </a:r>
            <a:endParaRPr kumimoji="1" lang="en-US" altLang="zh-CN" dirty="0"/>
          </a:p>
          <a:p>
            <a:pPr lvl="1">
              <a:lnSpc>
                <a:spcPct val="150000"/>
              </a:lnSpc>
            </a:pPr>
            <a:r>
              <a:rPr lang="en-US" altLang="zh-CN" dirty="0" err="1"/>
              <a:t>PPPoE</a:t>
            </a:r>
            <a:r>
              <a:rPr lang="zh-CN" altLang="en-US" dirty="0"/>
              <a:t>使用</a:t>
            </a:r>
            <a:r>
              <a:rPr lang="en-US" altLang="zh-CN" dirty="0"/>
              <a:t>Client/Server</a:t>
            </a:r>
            <a:r>
              <a:rPr lang="zh-CN" altLang="en-US" dirty="0"/>
              <a:t>模型，</a:t>
            </a:r>
            <a:r>
              <a:rPr kumimoji="1" lang="zh-CN" altLang="en-US" dirty="0">
                <a:solidFill>
                  <a:srgbClr val="FF0000"/>
                </a:solidFill>
              </a:rPr>
              <a:t>服务器通常是接入服务器</a:t>
            </a:r>
            <a:endParaRPr kumimoji="1" lang="en-US" altLang="zh-CN"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69</a:t>
            </a:fld>
            <a:endParaRPr kumimoji="1" lang="zh-CN" altLang="en-US" dirty="0"/>
          </a:p>
        </p:txBody>
      </p:sp>
      <p:sp>
        <p:nvSpPr>
          <p:cNvPr id="5" name="文本框 4">
            <a:extLst>
              <a:ext uri="{FF2B5EF4-FFF2-40B4-BE49-F238E27FC236}">
                <a16:creationId xmlns:a16="http://schemas.microsoft.com/office/drawing/2014/main" id="{D71552BB-7DB8-49DB-A926-D73DCB06526E}"/>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4514049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en-US" altLang="zh-CN" dirty="0" err="1"/>
              <a:t>PPPoE</a:t>
            </a:r>
            <a:r>
              <a:rPr kumimoji="1" lang="zh-CN" altLang="en-US" dirty="0"/>
              <a:t>组网方式</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745984" y="1383040"/>
            <a:ext cx="5370081" cy="4973309"/>
          </a:xfrm>
        </p:spPr>
        <p:txBody>
          <a:bodyPr>
            <a:normAutofit/>
          </a:bodyPr>
          <a:lstStyle/>
          <a:p>
            <a:pPr>
              <a:lnSpc>
                <a:spcPct val="120000"/>
              </a:lnSpc>
            </a:pPr>
            <a:r>
              <a:rPr kumimoji="1" lang="zh-CN" altLang="en-US" dirty="0"/>
              <a:t>组网方式</a:t>
            </a:r>
            <a:r>
              <a:rPr kumimoji="1" lang="en-US" altLang="zh-CN" dirty="0"/>
              <a:t>1</a:t>
            </a:r>
          </a:p>
          <a:p>
            <a:pPr lvl="1">
              <a:lnSpc>
                <a:spcPct val="150000"/>
              </a:lnSpc>
            </a:pPr>
            <a:r>
              <a:rPr kumimoji="1" lang="zh-CN" altLang="en-US" dirty="0"/>
              <a:t>设备之间建立 </a:t>
            </a:r>
            <a:r>
              <a:rPr kumimoji="1" lang="en-US" altLang="zh-CN" dirty="0"/>
              <a:t>PPP </a:t>
            </a:r>
            <a:r>
              <a:rPr kumimoji="1" lang="zh-CN" altLang="en-US" dirty="0"/>
              <a:t>会话，所有主机通过同一个 </a:t>
            </a:r>
            <a:r>
              <a:rPr kumimoji="1" lang="en-US" altLang="zh-CN" dirty="0"/>
              <a:t>PPP </a:t>
            </a:r>
            <a:r>
              <a:rPr kumimoji="1" lang="zh-CN" altLang="en-US" dirty="0"/>
              <a:t>会话传送数据，主机上不用安装 </a:t>
            </a:r>
            <a:r>
              <a:rPr kumimoji="1" lang="en-US" altLang="zh-CN" dirty="0" err="1"/>
              <a:t>PPPoE</a:t>
            </a:r>
            <a:r>
              <a:rPr kumimoji="1" lang="en-US" altLang="zh-CN" dirty="0"/>
              <a:t> </a:t>
            </a:r>
            <a:r>
              <a:rPr kumimoji="1" lang="zh-CN" altLang="en-US" dirty="0"/>
              <a:t>客户端拨号软件，一般是一个机构共用一个账号</a:t>
            </a:r>
            <a:endParaRPr kumimoji="1" lang="en-US" altLang="zh-CN" dirty="0"/>
          </a:p>
          <a:p>
            <a:pPr lvl="1">
              <a:lnSpc>
                <a:spcPct val="150000"/>
              </a:lnSpc>
            </a:pPr>
            <a:r>
              <a:rPr kumimoji="1" lang="en-US" altLang="zh-CN" dirty="0" err="1"/>
              <a:t>PPPoE</a:t>
            </a:r>
            <a:r>
              <a:rPr kumimoji="1" lang="en-US" altLang="zh-CN" dirty="0"/>
              <a:t> Client </a:t>
            </a:r>
            <a:r>
              <a:rPr kumimoji="1" lang="zh-CN" altLang="en-US" dirty="0"/>
              <a:t>位于机构内</a:t>
            </a:r>
            <a:endParaRPr kumimoji="1" lang="en-US" altLang="zh-CN" dirty="0"/>
          </a:p>
          <a:p>
            <a:pPr lvl="1">
              <a:lnSpc>
                <a:spcPct val="150000"/>
              </a:lnSpc>
            </a:pPr>
            <a:r>
              <a:rPr kumimoji="1" lang="en-US" altLang="zh-CN" dirty="0" err="1"/>
              <a:t>PPPoE</a:t>
            </a:r>
            <a:r>
              <a:rPr kumimoji="1" lang="en-US" altLang="zh-CN" dirty="0"/>
              <a:t> Server </a:t>
            </a:r>
            <a:r>
              <a:rPr kumimoji="1" lang="zh-CN" altLang="en-US" dirty="0"/>
              <a:t>是运营商的设备</a:t>
            </a:r>
            <a:endParaRPr kumimoji="1" lang="en-US" altLang="zh-CN" dirty="0"/>
          </a:p>
          <a:p>
            <a:pPr lvl="1">
              <a:lnSpc>
                <a:spcPct val="120000"/>
              </a:lnSpc>
            </a:pPr>
            <a:endParaRPr kumimoji="1" lang="zh-CN" altLang="en-US" sz="20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70</a:t>
            </a:fld>
            <a:endParaRPr kumimoji="1" lang="zh-CN" altLang="en-US" dirty="0"/>
          </a:p>
        </p:txBody>
      </p:sp>
      <p:pic>
        <p:nvPicPr>
          <p:cNvPr id="6" name="图片 5">
            <a:extLst>
              <a:ext uri="{FF2B5EF4-FFF2-40B4-BE49-F238E27FC236}">
                <a16:creationId xmlns:a16="http://schemas.microsoft.com/office/drawing/2014/main" id="{BBC08C8D-A1A9-4558-83EA-C180F0DA7272}"/>
              </a:ext>
            </a:extLst>
          </p:cNvPr>
          <p:cNvPicPr>
            <a:picLocks noChangeAspect="1"/>
          </p:cNvPicPr>
          <p:nvPr/>
        </p:nvPicPr>
        <p:blipFill>
          <a:blip r:embed="rId3"/>
          <a:stretch>
            <a:fillRect/>
          </a:stretch>
        </p:blipFill>
        <p:spPr>
          <a:xfrm>
            <a:off x="6296074" y="1533634"/>
            <a:ext cx="5895926" cy="4533293"/>
          </a:xfrm>
          <a:prstGeom prst="rect">
            <a:avLst/>
          </a:prstGeom>
        </p:spPr>
      </p:pic>
      <p:sp>
        <p:nvSpPr>
          <p:cNvPr id="7" name="文本框 6">
            <a:extLst>
              <a:ext uri="{FF2B5EF4-FFF2-40B4-BE49-F238E27FC236}">
                <a16:creationId xmlns:a16="http://schemas.microsoft.com/office/drawing/2014/main" id="{7E05C4F4-92E0-4D7D-83BA-833D70DC30C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2694254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en-US" altLang="zh-CN" dirty="0" err="1"/>
              <a:t>PPPoE</a:t>
            </a:r>
            <a:r>
              <a:rPr kumimoji="1" lang="zh-CN" altLang="en-US" dirty="0"/>
              <a:t>组网方式</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1" y="1417272"/>
            <a:ext cx="5539154" cy="4760790"/>
          </a:xfrm>
        </p:spPr>
        <p:txBody>
          <a:bodyPr>
            <a:normAutofit/>
          </a:bodyPr>
          <a:lstStyle/>
          <a:p>
            <a:pPr>
              <a:lnSpc>
                <a:spcPct val="120000"/>
              </a:lnSpc>
            </a:pPr>
            <a:r>
              <a:rPr kumimoji="1" lang="zh-CN" altLang="en-US" dirty="0"/>
              <a:t>组网方式</a:t>
            </a:r>
            <a:r>
              <a:rPr kumimoji="1" lang="en-US" altLang="zh-CN" dirty="0"/>
              <a:t>2</a:t>
            </a:r>
          </a:p>
          <a:p>
            <a:pPr lvl="1">
              <a:lnSpc>
                <a:spcPct val="150000"/>
              </a:lnSpc>
            </a:pPr>
            <a:r>
              <a:rPr kumimoji="1" lang="en-US" altLang="zh-CN" dirty="0"/>
              <a:t>PPP </a:t>
            </a:r>
            <a:r>
              <a:rPr kumimoji="1" lang="zh-CN" altLang="en-US" dirty="0"/>
              <a:t>会话建立在 主机和运营商的路由器之间，为每一个主机建立一个 </a:t>
            </a:r>
            <a:r>
              <a:rPr kumimoji="1" lang="en-US" altLang="zh-CN" dirty="0"/>
              <a:t>PPP </a:t>
            </a:r>
            <a:r>
              <a:rPr kumimoji="1" lang="zh-CN" altLang="en-US" dirty="0"/>
              <a:t>会话，每个主机都是 </a:t>
            </a:r>
            <a:r>
              <a:rPr kumimoji="1" lang="en-US" altLang="zh-CN" dirty="0" err="1"/>
              <a:t>PPPoE</a:t>
            </a:r>
            <a:r>
              <a:rPr kumimoji="1" lang="en-US" altLang="zh-CN" dirty="0"/>
              <a:t> Client</a:t>
            </a:r>
            <a:r>
              <a:rPr kumimoji="1" lang="zh-CN" altLang="en-US" dirty="0"/>
              <a:t>，每个主机有一个帐号，方便运营商对用户进行计费和控制</a:t>
            </a:r>
            <a:endParaRPr kumimoji="1" lang="en-US" altLang="zh-CN" dirty="0"/>
          </a:p>
          <a:p>
            <a:pPr lvl="1">
              <a:lnSpc>
                <a:spcPct val="150000"/>
              </a:lnSpc>
            </a:pPr>
            <a:r>
              <a:rPr kumimoji="1" lang="zh-CN" altLang="en-US" dirty="0"/>
              <a:t>主机上需要安装</a:t>
            </a:r>
            <a:r>
              <a:rPr kumimoji="1" lang="en-US" altLang="zh-CN" dirty="0" err="1"/>
              <a:t>PPPoE</a:t>
            </a:r>
            <a:r>
              <a:rPr kumimoji="1" lang="en-US" altLang="zh-CN" dirty="0"/>
              <a:t> </a:t>
            </a:r>
            <a:r>
              <a:rPr kumimoji="1" lang="zh-CN" altLang="en-US" dirty="0"/>
              <a:t>客户端软件</a:t>
            </a:r>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71</a:t>
            </a:fld>
            <a:endParaRPr kumimoji="1" lang="zh-CN" altLang="en-US" dirty="0"/>
          </a:p>
        </p:txBody>
      </p:sp>
      <p:pic>
        <p:nvPicPr>
          <p:cNvPr id="7" name="图片 6">
            <a:extLst>
              <a:ext uri="{FF2B5EF4-FFF2-40B4-BE49-F238E27FC236}">
                <a16:creationId xmlns:a16="http://schemas.microsoft.com/office/drawing/2014/main" id="{EA114FA2-CDFE-450D-ABAB-FA9387096758}"/>
              </a:ext>
            </a:extLst>
          </p:cNvPr>
          <p:cNvPicPr>
            <a:picLocks noChangeAspect="1"/>
          </p:cNvPicPr>
          <p:nvPr/>
        </p:nvPicPr>
        <p:blipFill>
          <a:blip r:embed="rId3"/>
          <a:stretch>
            <a:fillRect/>
          </a:stretch>
        </p:blipFill>
        <p:spPr>
          <a:xfrm>
            <a:off x="6614740" y="1961791"/>
            <a:ext cx="5577260" cy="2848601"/>
          </a:xfrm>
          <a:prstGeom prst="rect">
            <a:avLst/>
          </a:prstGeom>
        </p:spPr>
      </p:pic>
      <p:sp>
        <p:nvSpPr>
          <p:cNvPr id="6" name="文本框 5">
            <a:extLst>
              <a:ext uri="{FF2B5EF4-FFF2-40B4-BE49-F238E27FC236}">
                <a16:creationId xmlns:a16="http://schemas.microsoft.com/office/drawing/2014/main" id="{BABAE70C-671D-4CC1-AA01-564863FF759E}"/>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228633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BBC32-6855-3B4C-A419-59E650207471}"/>
              </a:ext>
            </a:extLst>
          </p:cNvPr>
          <p:cNvSpPr>
            <a:spLocks noGrp="1"/>
          </p:cNvSpPr>
          <p:nvPr>
            <p:ph type="title"/>
          </p:nvPr>
        </p:nvSpPr>
        <p:spPr/>
        <p:txBody>
          <a:bodyPr/>
          <a:lstStyle/>
          <a:p>
            <a:r>
              <a:rPr kumimoji="1" lang="en-US" altLang="zh-CN" dirty="0" err="1"/>
              <a:t>PPPoE</a:t>
            </a:r>
            <a:r>
              <a:rPr kumimoji="1" lang="zh-CN" altLang="en-US" dirty="0"/>
              <a:t>报文格式</a:t>
            </a:r>
          </a:p>
        </p:txBody>
      </p:sp>
      <p:sp>
        <p:nvSpPr>
          <p:cNvPr id="3" name="内容占位符 2">
            <a:extLst>
              <a:ext uri="{FF2B5EF4-FFF2-40B4-BE49-F238E27FC236}">
                <a16:creationId xmlns:a16="http://schemas.microsoft.com/office/drawing/2014/main" id="{BC1704A9-D724-AC4E-B209-1FDBE1F4743B}"/>
              </a:ext>
            </a:extLst>
          </p:cNvPr>
          <p:cNvSpPr>
            <a:spLocks noGrp="1"/>
          </p:cNvSpPr>
          <p:nvPr>
            <p:ph idx="1"/>
          </p:nvPr>
        </p:nvSpPr>
        <p:spPr>
          <a:xfrm>
            <a:off x="838200" y="1510758"/>
            <a:ext cx="10515600" cy="528003"/>
          </a:xfrm>
        </p:spPr>
        <p:txBody>
          <a:bodyPr/>
          <a:lstStyle/>
          <a:p>
            <a:r>
              <a:rPr kumimoji="1" lang="en-US" altLang="zh-CN" dirty="0" err="1"/>
              <a:t>PPPoE</a:t>
            </a:r>
            <a:r>
              <a:rPr kumimoji="1" lang="zh-CN" altLang="en-US" dirty="0"/>
              <a:t>报文格式及</a:t>
            </a:r>
            <a:r>
              <a:rPr kumimoji="1" lang="en-US" altLang="zh-CN" dirty="0"/>
              <a:t>Ethernet</a:t>
            </a:r>
            <a:r>
              <a:rPr kumimoji="1" lang="zh-CN" altLang="en-US" dirty="0"/>
              <a:t>帧封装</a:t>
            </a:r>
          </a:p>
        </p:txBody>
      </p:sp>
      <p:sp>
        <p:nvSpPr>
          <p:cNvPr id="7" name="灯片编号占位符 6">
            <a:extLst>
              <a:ext uri="{FF2B5EF4-FFF2-40B4-BE49-F238E27FC236}">
                <a16:creationId xmlns:a16="http://schemas.microsoft.com/office/drawing/2014/main" id="{F7B7CCDF-45A7-454A-BDB7-F2387BB7506C}"/>
              </a:ext>
            </a:extLst>
          </p:cNvPr>
          <p:cNvSpPr>
            <a:spLocks noGrp="1"/>
          </p:cNvSpPr>
          <p:nvPr>
            <p:ph type="sldNum" sz="quarter" idx="12"/>
          </p:nvPr>
        </p:nvSpPr>
        <p:spPr/>
        <p:txBody>
          <a:bodyPr/>
          <a:lstStyle/>
          <a:p>
            <a:fld id="{8D4D1E41-7A09-AB4A-A4E1-09765ADA2698}" type="slidenum">
              <a:rPr kumimoji="1" lang="zh-CN" altLang="en-US" smtClean="0"/>
              <a:t>72</a:t>
            </a:fld>
            <a:endParaRPr kumimoji="1" lang="zh-CN" altLang="en-US" dirty="0"/>
          </a:p>
        </p:txBody>
      </p:sp>
      <p:sp>
        <p:nvSpPr>
          <p:cNvPr id="6" name="文本框 5">
            <a:extLst>
              <a:ext uri="{FF2B5EF4-FFF2-40B4-BE49-F238E27FC236}">
                <a16:creationId xmlns:a16="http://schemas.microsoft.com/office/drawing/2014/main" id="{111FC33B-9F97-489C-A4FA-BE996DA85638}"/>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grpSp>
        <p:nvGrpSpPr>
          <p:cNvPr id="79" name="组合 78">
            <a:extLst>
              <a:ext uri="{FF2B5EF4-FFF2-40B4-BE49-F238E27FC236}">
                <a16:creationId xmlns:a16="http://schemas.microsoft.com/office/drawing/2014/main" id="{CA054FB0-CF6B-4FD4-95A0-81475044A1F0}"/>
              </a:ext>
            </a:extLst>
          </p:cNvPr>
          <p:cNvGrpSpPr/>
          <p:nvPr/>
        </p:nvGrpSpPr>
        <p:grpSpPr>
          <a:xfrm>
            <a:off x="1886864" y="3982003"/>
            <a:ext cx="7885707" cy="981156"/>
            <a:chOff x="1343814" y="1020630"/>
            <a:chExt cx="8891095" cy="1126825"/>
          </a:xfrm>
        </p:grpSpPr>
        <p:sp>
          <p:nvSpPr>
            <p:cNvPr id="103" name="Rectangle 18">
              <a:extLst>
                <a:ext uri="{FF2B5EF4-FFF2-40B4-BE49-F238E27FC236}">
                  <a16:creationId xmlns:a16="http://schemas.microsoft.com/office/drawing/2014/main" id="{DDC85BDB-AFF9-4A6A-ADAB-A29A2D1983AB}"/>
                </a:ext>
              </a:extLst>
            </p:cNvPr>
            <p:cNvSpPr>
              <a:spLocks noChangeArrowheads="1"/>
            </p:cNvSpPr>
            <p:nvPr/>
          </p:nvSpPr>
          <p:spPr bwMode="auto">
            <a:xfrm>
              <a:off x="1901733" y="1049205"/>
              <a:ext cx="8333176" cy="566737"/>
            </a:xfrm>
            <a:prstGeom prst="rect">
              <a:avLst/>
            </a:prstGeom>
            <a:solidFill>
              <a:srgbClr val="F4D0FF"/>
            </a:solidFill>
            <a:ln w="9525">
              <a:solidFill>
                <a:schemeClr val="accent1"/>
              </a:solidFill>
              <a:miter lim="800000"/>
              <a:headEnd/>
              <a:tailEnd/>
            </a:ln>
            <a:effectLst>
              <a:outerShdw dist="35921" dir="2700000" algn="ctr" rotWithShape="0">
                <a:schemeClr val="bg2"/>
              </a:outerShdw>
            </a:effectLst>
          </p:spPr>
          <p:txBody>
            <a:bodyPr wrap="none" anchor="ctr"/>
            <a:lstStyle/>
            <a:p>
              <a:pPr algn="ctr"/>
              <a:endParaRPr kumimoji="1" lang="zh-CN" altLang="zh-CN" sz="2000">
                <a:latin typeface="微软雅黑" panose="020B0503020204020204" pitchFamily="34" charset="-122"/>
                <a:ea typeface="微软雅黑" panose="020B0503020204020204" pitchFamily="34" charset="-122"/>
              </a:endParaRPr>
            </a:p>
          </p:txBody>
        </p:sp>
        <p:sp>
          <p:nvSpPr>
            <p:cNvPr id="104" name="Line 20">
              <a:extLst>
                <a:ext uri="{FF2B5EF4-FFF2-40B4-BE49-F238E27FC236}">
                  <a16:creationId xmlns:a16="http://schemas.microsoft.com/office/drawing/2014/main" id="{FE665488-F905-4046-A8A1-B6EB03F27F9B}"/>
                </a:ext>
              </a:extLst>
            </p:cNvPr>
            <p:cNvSpPr>
              <a:spLocks noChangeShapeType="1"/>
            </p:cNvSpPr>
            <p:nvPr/>
          </p:nvSpPr>
          <p:spPr bwMode="auto">
            <a:xfrm>
              <a:off x="3336593" y="1060317"/>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5" name="Line 23">
              <a:extLst>
                <a:ext uri="{FF2B5EF4-FFF2-40B4-BE49-F238E27FC236}">
                  <a16:creationId xmlns:a16="http://schemas.microsoft.com/office/drawing/2014/main" id="{F3D46CEC-1418-4AE2-A3D0-63B3D012C9DE}"/>
                </a:ext>
              </a:extLst>
            </p:cNvPr>
            <p:cNvSpPr>
              <a:spLocks noChangeShapeType="1"/>
            </p:cNvSpPr>
            <p:nvPr/>
          </p:nvSpPr>
          <p:spPr bwMode="auto">
            <a:xfrm>
              <a:off x="4999642" y="1049205"/>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6" name="Text Box 24">
              <a:extLst>
                <a:ext uri="{FF2B5EF4-FFF2-40B4-BE49-F238E27FC236}">
                  <a16:creationId xmlns:a16="http://schemas.microsoft.com/office/drawing/2014/main" id="{4D91CEC9-CEF9-4D66-9F60-451363C50A66}"/>
                </a:ext>
              </a:extLst>
            </p:cNvPr>
            <p:cNvSpPr txBox="1">
              <a:spLocks noChangeArrowheads="1"/>
            </p:cNvSpPr>
            <p:nvPr/>
          </p:nvSpPr>
          <p:spPr bwMode="auto">
            <a:xfrm>
              <a:off x="1887338" y="1098417"/>
              <a:ext cx="1449255"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kumimoji="1" lang="zh-CN" altLang="en-US" sz="2000" dirty="0">
                  <a:latin typeface="微软雅黑" panose="020B0503020204020204" pitchFamily="34" charset="-122"/>
                  <a:ea typeface="微软雅黑" panose="020B0503020204020204" pitchFamily="34" charset="-122"/>
                </a:rPr>
                <a:t>目的地址</a:t>
              </a:r>
              <a:endParaRPr kumimoji="1" lang="en-US" altLang="zh-CN" sz="2000" dirty="0">
                <a:latin typeface="微软雅黑" panose="020B0503020204020204" pitchFamily="34" charset="-122"/>
                <a:ea typeface="微软雅黑" panose="020B0503020204020204" pitchFamily="34" charset="-122"/>
              </a:endParaRPr>
            </a:p>
          </p:txBody>
        </p:sp>
        <p:sp>
          <p:nvSpPr>
            <p:cNvPr id="107" name="Text Box 29">
              <a:extLst>
                <a:ext uri="{FF2B5EF4-FFF2-40B4-BE49-F238E27FC236}">
                  <a16:creationId xmlns:a16="http://schemas.microsoft.com/office/drawing/2014/main" id="{E16896D7-98EC-4A46-AD16-818E07DF4308}"/>
                </a:ext>
              </a:extLst>
            </p:cNvPr>
            <p:cNvSpPr txBox="1">
              <a:spLocks noChangeArrowheads="1"/>
            </p:cNvSpPr>
            <p:nvPr/>
          </p:nvSpPr>
          <p:spPr bwMode="auto">
            <a:xfrm>
              <a:off x="9260988" y="1095182"/>
              <a:ext cx="737772"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rPr>
                <a:t>FCS</a:t>
              </a:r>
            </a:p>
          </p:txBody>
        </p:sp>
        <p:sp>
          <p:nvSpPr>
            <p:cNvPr id="108" name="Rectangle 32">
              <a:extLst>
                <a:ext uri="{FF2B5EF4-FFF2-40B4-BE49-F238E27FC236}">
                  <a16:creationId xmlns:a16="http://schemas.microsoft.com/office/drawing/2014/main" id="{684E1977-FCE8-440E-BBDC-B251F769E3A9}"/>
                </a:ext>
              </a:extLst>
            </p:cNvPr>
            <p:cNvSpPr>
              <a:spLocks noChangeArrowheads="1"/>
            </p:cNvSpPr>
            <p:nvPr/>
          </p:nvSpPr>
          <p:spPr bwMode="auto">
            <a:xfrm>
              <a:off x="6087080" y="1060316"/>
              <a:ext cx="2898775" cy="548176"/>
            </a:xfrm>
            <a:prstGeom prst="rect">
              <a:avLst/>
            </a:prstGeom>
            <a:solidFill>
              <a:schemeClr val="accent6">
                <a:lumMod val="20000"/>
                <a:lumOff val="80000"/>
              </a:schemeClr>
            </a:solidFill>
            <a:ln>
              <a:noFill/>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9" name="Text Box 33">
              <a:extLst>
                <a:ext uri="{FF2B5EF4-FFF2-40B4-BE49-F238E27FC236}">
                  <a16:creationId xmlns:a16="http://schemas.microsoft.com/office/drawing/2014/main" id="{0649C6CC-C998-450C-A3C7-11856B8FA748}"/>
                </a:ext>
              </a:extLst>
            </p:cNvPr>
            <p:cNvSpPr txBox="1">
              <a:spLocks noChangeArrowheads="1"/>
            </p:cNvSpPr>
            <p:nvPr/>
          </p:nvSpPr>
          <p:spPr bwMode="auto">
            <a:xfrm>
              <a:off x="5169268" y="1098417"/>
              <a:ext cx="786571"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rPr>
                <a:t>类型</a:t>
              </a:r>
            </a:p>
          </p:txBody>
        </p:sp>
        <p:sp>
          <p:nvSpPr>
            <p:cNvPr id="110" name="Text Box 34">
              <a:extLst>
                <a:ext uri="{FF2B5EF4-FFF2-40B4-BE49-F238E27FC236}">
                  <a16:creationId xmlns:a16="http://schemas.microsoft.com/office/drawing/2014/main" id="{BBC1AB87-F827-4784-B163-8085F074D741}"/>
                </a:ext>
              </a:extLst>
            </p:cNvPr>
            <p:cNvSpPr txBox="1">
              <a:spLocks noChangeArrowheads="1"/>
            </p:cNvSpPr>
            <p:nvPr/>
          </p:nvSpPr>
          <p:spPr bwMode="auto">
            <a:xfrm>
              <a:off x="6776973" y="1098417"/>
              <a:ext cx="1400514" cy="459513"/>
            </a:xfrm>
            <a:prstGeom prst="rect">
              <a:avLst/>
            </a:prstGeom>
            <a:solidFill>
              <a:schemeClr val="accent6">
                <a:lumMod val="20000"/>
                <a:lumOff val="80000"/>
              </a:schemeClr>
            </a:solidFill>
            <a:ln w="9525">
              <a:noFill/>
              <a:miter lim="800000"/>
              <a:headEnd/>
              <a:tailEnd/>
            </a:ln>
            <a:effec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err="1">
                  <a:latin typeface="微软雅黑" panose="020B0503020204020204" pitchFamily="34" charset="-122"/>
                  <a:ea typeface="微软雅黑" panose="020B0503020204020204" pitchFamily="34" charset="-122"/>
                </a:rPr>
                <a:t>PPPoE</a:t>
              </a:r>
              <a:r>
                <a:rPr kumimoji="1" lang="zh-CN" altLang="en-US" sz="2000" dirty="0">
                  <a:latin typeface="微软雅黑" panose="020B0503020204020204" pitchFamily="34" charset="-122"/>
                  <a:ea typeface="微软雅黑" panose="020B0503020204020204" pitchFamily="34" charset="-122"/>
                </a:rPr>
                <a:t>帧</a:t>
              </a:r>
            </a:p>
          </p:txBody>
        </p:sp>
        <p:sp>
          <p:nvSpPr>
            <p:cNvPr id="111" name="Line 40">
              <a:extLst>
                <a:ext uri="{FF2B5EF4-FFF2-40B4-BE49-F238E27FC236}">
                  <a16:creationId xmlns:a16="http://schemas.microsoft.com/office/drawing/2014/main" id="{3C605896-6460-49EA-8E34-F2ED9A69C265}"/>
                </a:ext>
              </a:extLst>
            </p:cNvPr>
            <p:cNvSpPr>
              <a:spLocks noChangeShapeType="1"/>
            </p:cNvSpPr>
            <p:nvPr/>
          </p:nvSpPr>
          <p:spPr bwMode="auto">
            <a:xfrm>
              <a:off x="8985855" y="1020630"/>
              <a:ext cx="0" cy="595312"/>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2" name="Line 41">
              <a:extLst>
                <a:ext uri="{FF2B5EF4-FFF2-40B4-BE49-F238E27FC236}">
                  <a16:creationId xmlns:a16="http://schemas.microsoft.com/office/drawing/2014/main" id="{054108C7-E931-440D-9D51-A606E404CABE}"/>
                </a:ext>
              </a:extLst>
            </p:cNvPr>
            <p:cNvSpPr>
              <a:spLocks noChangeShapeType="1"/>
            </p:cNvSpPr>
            <p:nvPr/>
          </p:nvSpPr>
          <p:spPr bwMode="auto">
            <a:xfrm>
              <a:off x="6087080" y="1060317"/>
              <a:ext cx="0" cy="555625"/>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3" name="Text Box 24">
              <a:extLst>
                <a:ext uri="{FF2B5EF4-FFF2-40B4-BE49-F238E27FC236}">
                  <a16:creationId xmlns:a16="http://schemas.microsoft.com/office/drawing/2014/main" id="{18176918-6B27-4AB9-884C-11DF36A83DF0}"/>
                </a:ext>
              </a:extLst>
            </p:cNvPr>
            <p:cNvSpPr txBox="1">
              <a:spLocks noChangeArrowheads="1"/>
            </p:cNvSpPr>
            <p:nvPr/>
          </p:nvSpPr>
          <p:spPr bwMode="auto">
            <a:xfrm>
              <a:off x="3559998" y="1107392"/>
              <a:ext cx="1292005"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kumimoji="1" lang="zh-CN" altLang="en-US" sz="2000" dirty="0">
                  <a:latin typeface="微软雅黑" panose="020B0503020204020204" pitchFamily="34" charset="-122"/>
                  <a:ea typeface="微软雅黑" panose="020B0503020204020204" pitchFamily="34" charset="-122"/>
                </a:rPr>
                <a:t>源地址</a:t>
              </a:r>
              <a:endParaRPr kumimoji="1" lang="en-US" altLang="zh-CN" sz="2000" dirty="0">
                <a:latin typeface="微软雅黑" panose="020B0503020204020204" pitchFamily="34" charset="-122"/>
                <a:ea typeface="微软雅黑" panose="020B0503020204020204" pitchFamily="34" charset="-122"/>
              </a:endParaRPr>
            </a:p>
          </p:txBody>
        </p:sp>
        <p:sp>
          <p:nvSpPr>
            <p:cNvPr id="114" name="Text Box 9">
              <a:extLst>
                <a:ext uri="{FF2B5EF4-FFF2-40B4-BE49-F238E27FC236}">
                  <a16:creationId xmlns:a16="http://schemas.microsoft.com/office/drawing/2014/main" id="{8020E34E-0509-4A35-A7F5-2FAC5EB9E379}"/>
                </a:ext>
              </a:extLst>
            </p:cNvPr>
            <p:cNvSpPr txBox="1">
              <a:spLocks noChangeArrowheads="1"/>
            </p:cNvSpPr>
            <p:nvPr/>
          </p:nvSpPr>
          <p:spPr bwMode="auto">
            <a:xfrm>
              <a:off x="1343814" y="1665589"/>
              <a:ext cx="786571"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rPr>
                <a:t>字节</a:t>
              </a:r>
            </a:p>
          </p:txBody>
        </p:sp>
        <p:sp>
          <p:nvSpPr>
            <p:cNvPr id="115" name="Text Box 5">
              <a:extLst>
                <a:ext uri="{FF2B5EF4-FFF2-40B4-BE49-F238E27FC236}">
                  <a16:creationId xmlns:a16="http://schemas.microsoft.com/office/drawing/2014/main" id="{E3FD1936-DD93-4CC9-B0CB-ADFC26F814F2}"/>
                </a:ext>
              </a:extLst>
            </p:cNvPr>
            <p:cNvSpPr txBox="1">
              <a:spLocks noChangeArrowheads="1"/>
            </p:cNvSpPr>
            <p:nvPr/>
          </p:nvSpPr>
          <p:spPr bwMode="auto">
            <a:xfrm>
              <a:off x="2430380" y="1687942"/>
              <a:ext cx="7640855"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rPr>
                <a:t>6	       6	           2			         4</a:t>
              </a:r>
            </a:p>
          </p:txBody>
        </p:sp>
      </p:grpSp>
      <p:cxnSp>
        <p:nvCxnSpPr>
          <p:cNvPr id="81" name="直接连接符 80">
            <a:extLst>
              <a:ext uri="{FF2B5EF4-FFF2-40B4-BE49-F238E27FC236}">
                <a16:creationId xmlns:a16="http://schemas.microsoft.com/office/drawing/2014/main" id="{2A3BB1B1-E206-4A9E-BFF7-706904725418}"/>
              </a:ext>
            </a:extLst>
          </p:cNvPr>
          <p:cNvCxnSpPr>
            <a:cxnSpLocks/>
            <a:endCxn id="111" idx="0"/>
          </p:cNvCxnSpPr>
          <p:nvPr/>
        </p:nvCxnSpPr>
        <p:spPr>
          <a:xfrm flipH="1">
            <a:off x="8664758" y="3223168"/>
            <a:ext cx="1805240" cy="75883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D1D9A0A2-ADA4-4F47-B314-B22CFF538472}"/>
              </a:ext>
            </a:extLst>
          </p:cNvPr>
          <p:cNvCxnSpPr>
            <a:endCxn id="103" idx="0"/>
          </p:cNvCxnSpPr>
          <p:nvPr/>
        </p:nvCxnSpPr>
        <p:spPr>
          <a:xfrm>
            <a:off x="2826823" y="3246810"/>
            <a:ext cx="3250310" cy="760074"/>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51C10167-BC39-451A-86AC-A7E2FEB73315}"/>
              </a:ext>
            </a:extLst>
          </p:cNvPr>
          <p:cNvSpPr txBox="1"/>
          <p:nvPr/>
        </p:nvSpPr>
        <p:spPr>
          <a:xfrm>
            <a:off x="755335" y="4057549"/>
            <a:ext cx="1553853" cy="400110"/>
          </a:xfrm>
          <a:prstGeom prst="rect">
            <a:avLst/>
          </a:prstGeom>
          <a:noFill/>
        </p:spPr>
        <p:txBody>
          <a:bodyPr wrap="square" rtlCol="0">
            <a:spAutoFit/>
          </a:bodyPr>
          <a:lstStyle/>
          <a:p>
            <a:pPr algn="r"/>
            <a:r>
              <a:rPr kumimoji="1" lang="en-US" altLang="zh-CN" sz="2000" dirty="0">
                <a:latin typeface="微软雅黑" panose="020B0503020204020204" pitchFamily="34" charset="-122"/>
                <a:ea typeface="微软雅黑" panose="020B0503020204020204" pitchFamily="34" charset="-122"/>
              </a:rPr>
              <a:t>Ethernet</a:t>
            </a:r>
            <a:r>
              <a:rPr lang="zh-CN" altLang="en-US" sz="2000" dirty="0">
                <a:latin typeface="微软雅黑" panose="020B0503020204020204" pitchFamily="34" charset="-122"/>
                <a:ea typeface="微软雅黑" panose="020B0503020204020204" pitchFamily="34" charset="-122"/>
              </a:rPr>
              <a:t>帧</a:t>
            </a:r>
          </a:p>
        </p:txBody>
      </p:sp>
      <p:grpSp>
        <p:nvGrpSpPr>
          <p:cNvPr id="15" name="组合 14"/>
          <p:cNvGrpSpPr/>
          <p:nvPr/>
        </p:nvGrpSpPr>
        <p:grpSpPr>
          <a:xfrm>
            <a:off x="1219200" y="2345588"/>
            <a:ext cx="9281321" cy="877581"/>
            <a:chOff x="1636218" y="4232308"/>
            <a:chExt cx="9281321" cy="877581"/>
          </a:xfrm>
        </p:grpSpPr>
        <p:sp>
          <p:nvSpPr>
            <p:cNvPr id="85" name="Text Box 5">
              <a:extLst>
                <a:ext uri="{FF2B5EF4-FFF2-40B4-BE49-F238E27FC236}">
                  <a16:creationId xmlns:a16="http://schemas.microsoft.com/office/drawing/2014/main" id="{123F1DDA-6AC6-41B0-AF66-36D67649DB48}"/>
                </a:ext>
              </a:extLst>
            </p:cNvPr>
            <p:cNvSpPr txBox="1">
              <a:spLocks noChangeArrowheads="1"/>
            </p:cNvSpPr>
            <p:nvPr/>
          </p:nvSpPr>
          <p:spPr bwMode="auto">
            <a:xfrm>
              <a:off x="3515330" y="4238847"/>
              <a:ext cx="59576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rPr>
                <a:t>4           4             8               16             16</a:t>
              </a:r>
            </a:p>
          </p:txBody>
        </p:sp>
        <p:sp>
          <p:nvSpPr>
            <p:cNvPr id="86" name="Text Box 9">
              <a:extLst>
                <a:ext uri="{FF2B5EF4-FFF2-40B4-BE49-F238E27FC236}">
                  <a16:creationId xmlns:a16="http://schemas.microsoft.com/office/drawing/2014/main" id="{F6759E97-B6FC-4436-8196-8F16A2D6C37D}"/>
                </a:ext>
              </a:extLst>
            </p:cNvPr>
            <p:cNvSpPr txBox="1">
              <a:spLocks noChangeArrowheads="1"/>
            </p:cNvSpPr>
            <p:nvPr/>
          </p:nvSpPr>
          <p:spPr bwMode="auto">
            <a:xfrm>
              <a:off x="2652696" y="4232308"/>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rPr>
                <a:t>比特</a:t>
              </a:r>
            </a:p>
          </p:txBody>
        </p:sp>
        <p:sp>
          <p:nvSpPr>
            <p:cNvPr id="98" name="Text Box 33">
              <a:extLst>
                <a:ext uri="{FF2B5EF4-FFF2-40B4-BE49-F238E27FC236}">
                  <a16:creationId xmlns:a16="http://schemas.microsoft.com/office/drawing/2014/main" id="{E7048755-6ACB-42C7-9979-22D12FF27531}"/>
                </a:ext>
              </a:extLst>
            </p:cNvPr>
            <p:cNvSpPr txBox="1">
              <a:spLocks noChangeArrowheads="1"/>
            </p:cNvSpPr>
            <p:nvPr/>
          </p:nvSpPr>
          <p:spPr bwMode="auto">
            <a:xfrm>
              <a:off x="6503080" y="4617067"/>
              <a:ext cx="1301409" cy="490453"/>
            </a:xfrm>
            <a:prstGeom prst="rect">
              <a:avLst/>
            </a:prstGeom>
            <a:solidFill>
              <a:schemeClr val="accent6">
                <a:lumMod val="20000"/>
                <a:lumOff val="80000"/>
              </a:schemeClr>
            </a:solidFill>
            <a:ln>
              <a:solidFill>
                <a:srgbClr val="00B0F0"/>
              </a:solidFill>
            </a:ln>
            <a:effectLst/>
            <a:extLst/>
          </p:spPr>
          <p:txBody>
            <a:bodyPr wrap="none" anchor="ctr"/>
            <a:lstStyle>
              <a:defPPr>
                <a:defRPr lang="zh-CN"/>
              </a:defPPr>
              <a:lvl1pPr algn="ctr">
                <a:defRPr kumimoji="1">
                  <a:solidFill>
                    <a:srgbClr val="333399"/>
                  </a:solidFill>
                  <a:latin typeface="微软雅黑" panose="020B0503020204020204" pitchFamily="34" charset="-122"/>
                  <a:ea typeface="微软雅黑" panose="020B0503020204020204" pitchFamily="34" charset="-122"/>
                </a:defRPr>
              </a:lvl1pPr>
            </a:lstStyle>
            <a:p>
              <a:r>
                <a:rPr lang="zh-CN" altLang="en-US" sz="2000" dirty="0">
                  <a:solidFill>
                    <a:schemeClr val="tx1"/>
                  </a:solidFill>
                </a:rPr>
                <a:t>会话</a:t>
              </a:r>
              <a:r>
                <a:rPr lang="en-US" altLang="zh-CN" sz="2000" dirty="0">
                  <a:solidFill>
                    <a:schemeClr val="tx1"/>
                  </a:solidFill>
                </a:rPr>
                <a:t>ID</a:t>
              </a:r>
              <a:endParaRPr lang="zh-CN" altLang="en-US" sz="2000" dirty="0">
                <a:solidFill>
                  <a:schemeClr val="tx1"/>
                </a:solidFill>
              </a:endParaRPr>
            </a:p>
          </p:txBody>
        </p:sp>
        <p:sp>
          <p:nvSpPr>
            <p:cNvPr id="83" name="文本框 82">
              <a:extLst>
                <a:ext uri="{FF2B5EF4-FFF2-40B4-BE49-F238E27FC236}">
                  <a16:creationId xmlns:a16="http://schemas.microsoft.com/office/drawing/2014/main" id="{4A97A835-86D2-46BB-812E-637A8EA199F8}"/>
                </a:ext>
              </a:extLst>
            </p:cNvPr>
            <p:cNvSpPr txBox="1"/>
            <p:nvPr/>
          </p:nvSpPr>
          <p:spPr>
            <a:xfrm>
              <a:off x="1636218" y="4661363"/>
              <a:ext cx="1519685" cy="400110"/>
            </a:xfrm>
            <a:prstGeom prst="rect">
              <a:avLst/>
            </a:prstGeom>
            <a:noFill/>
          </p:spPr>
          <p:txBody>
            <a:bodyPr wrap="square" rtlCol="0">
              <a:spAutoFit/>
            </a:bodyPr>
            <a:lstStyle/>
            <a:p>
              <a:pPr algn="ctr"/>
              <a:r>
                <a:rPr lang="en-US" altLang="zh-CN" sz="2000" dirty="0" err="1">
                  <a:latin typeface="微软雅黑" panose="020B0503020204020204" pitchFamily="34" charset="-122"/>
                  <a:ea typeface="微软雅黑" panose="020B0503020204020204" pitchFamily="34" charset="-122"/>
                </a:rPr>
                <a:t>PPPoE</a:t>
              </a:r>
              <a:r>
                <a:rPr lang="zh-CN" altLang="en-US" sz="2000" dirty="0">
                  <a:latin typeface="微软雅黑" panose="020B0503020204020204" pitchFamily="34" charset="-122"/>
                  <a:ea typeface="微软雅黑" panose="020B0503020204020204" pitchFamily="34" charset="-122"/>
                </a:rPr>
                <a:t>报文</a:t>
              </a:r>
            </a:p>
          </p:txBody>
        </p:sp>
        <p:sp>
          <p:nvSpPr>
            <p:cNvPr id="8" name="文本框 7"/>
            <p:cNvSpPr txBox="1"/>
            <p:nvPr/>
          </p:nvSpPr>
          <p:spPr>
            <a:xfrm>
              <a:off x="3185317" y="4613584"/>
              <a:ext cx="1029033" cy="482213"/>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defRPr>
                  <a:latin typeface="微软雅黑" panose="020B0503020204020204" pitchFamily="34" charset="-122"/>
                  <a:ea typeface="微软雅黑" panose="020B0503020204020204" pitchFamily="34" charset="-122"/>
                </a:defRPr>
              </a:lvl1pPr>
            </a:lstStyle>
            <a:p>
              <a:pPr algn="ctr"/>
              <a:r>
                <a:rPr kumimoji="1" lang="zh-CN" altLang="en-US" sz="2000" dirty="0"/>
                <a:t>版本号</a:t>
              </a:r>
              <a:endParaRPr kumimoji="1" lang="en-US" altLang="zh-CN" sz="2000" dirty="0"/>
            </a:p>
          </p:txBody>
        </p:sp>
        <p:sp>
          <p:nvSpPr>
            <p:cNvPr id="47" name="文本框 46"/>
            <p:cNvSpPr txBox="1"/>
            <p:nvPr/>
          </p:nvSpPr>
          <p:spPr>
            <a:xfrm>
              <a:off x="4174532" y="4618143"/>
              <a:ext cx="984497" cy="482213"/>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defRPr>
                  <a:latin typeface="微软雅黑" panose="020B0503020204020204" pitchFamily="34" charset="-122"/>
                  <a:ea typeface="微软雅黑" panose="020B0503020204020204" pitchFamily="34" charset="-122"/>
                </a:defRPr>
              </a:lvl1pPr>
            </a:lstStyle>
            <a:p>
              <a:pPr algn="ctr"/>
              <a:r>
                <a:rPr kumimoji="1" lang="zh-CN" altLang="en-US" sz="2000" dirty="0"/>
                <a:t>类型</a:t>
              </a:r>
              <a:endParaRPr kumimoji="1" lang="en-US" altLang="zh-CN" sz="2000" dirty="0"/>
            </a:p>
          </p:txBody>
        </p:sp>
        <p:sp>
          <p:nvSpPr>
            <p:cNvPr id="48" name="文本框 47"/>
            <p:cNvSpPr txBox="1"/>
            <p:nvPr/>
          </p:nvSpPr>
          <p:spPr>
            <a:xfrm>
              <a:off x="5165938" y="4623554"/>
              <a:ext cx="1344698" cy="482213"/>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defRPr>
                  <a:latin typeface="微软雅黑" panose="020B0503020204020204" pitchFamily="34" charset="-122"/>
                  <a:ea typeface="微软雅黑" panose="020B0503020204020204" pitchFamily="34" charset="-122"/>
                </a:defRPr>
              </a:lvl1pPr>
            </a:lstStyle>
            <a:p>
              <a:pPr algn="ctr"/>
              <a:r>
                <a:rPr kumimoji="1" lang="zh-CN" altLang="en-US" sz="2000" dirty="0"/>
                <a:t>代码</a:t>
              </a:r>
              <a:endParaRPr kumimoji="1" lang="en-US" altLang="zh-CN" sz="2000" dirty="0"/>
            </a:p>
          </p:txBody>
        </p:sp>
        <p:sp>
          <p:nvSpPr>
            <p:cNvPr id="49" name="Text Box 33">
              <a:extLst>
                <a:ext uri="{FF2B5EF4-FFF2-40B4-BE49-F238E27FC236}">
                  <a16:creationId xmlns:a16="http://schemas.microsoft.com/office/drawing/2014/main" id="{E7048755-6ACB-42C7-9979-22D12FF27531}"/>
                </a:ext>
              </a:extLst>
            </p:cNvPr>
            <p:cNvSpPr txBox="1">
              <a:spLocks noChangeArrowheads="1"/>
            </p:cNvSpPr>
            <p:nvPr/>
          </p:nvSpPr>
          <p:spPr bwMode="auto">
            <a:xfrm>
              <a:off x="7804490" y="4621186"/>
              <a:ext cx="1264966" cy="484581"/>
            </a:xfrm>
            <a:prstGeom prst="rect">
              <a:avLst/>
            </a:prstGeom>
            <a:solidFill>
              <a:schemeClr val="accent6">
                <a:lumMod val="20000"/>
                <a:lumOff val="80000"/>
              </a:schemeClr>
            </a:solidFill>
            <a:ln>
              <a:solidFill>
                <a:srgbClr val="00B0F0"/>
              </a:solidFill>
            </a:ln>
            <a:effectLst/>
            <a:extLst/>
          </p:spPr>
          <p:txBody>
            <a:bodyPr wrap="none" anchor="ctr"/>
            <a:lstStyle>
              <a:defPPr>
                <a:defRPr lang="zh-CN"/>
              </a:defPPr>
              <a:lvl1pPr algn="ctr">
                <a:defRPr kumimoji="1">
                  <a:solidFill>
                    <a:srgbClr val="333399"/>
                  </a:solidFill>
                  <a:latin typeface="微软雅黑" panose="020B0503020204020204" pitchFamily="34" charset="-122"/>
                  <a:ea typeface="微软雅黑" panose="020B0503020204020204" pitchFamily="34" charset="-122"/>
                </a:defRPr>
              </a:lvl1pPr>
            </a:lstStyle>
            <a:p>
              <a:r>
                <a:rPr lang="zh-CN" altLang="en-US" sz="2000" dirty="0">
                  <a:solidFill>
                    <a:schemeClr val="tx1"/>
                  </a:solidFill>
                </a:rPr>
                <a:t>长度</a:t>
              </a:r>
            </a:p>
          </p:txBody>
        </p:sp>
        <p:sp>
          <p:nvSpPr>
            <p:cNvPr id="50" name="Text Box 33">
              <a:extLst>
                <a:ext uri="{FF2B5EF4-FFF2-40B4-BE49-F238E27FC236}">
                  <a16:creationId xmlns:a16="http://schemas.microsoft.com/office/drawing/2014/main" id="{E7048755-6ACB-42C7-9979-22D12FF27531}"/>
                </a:ext>
              </a:extLst>
            </p:cNvPr>
            <p:cNvSpPr txBox="1">
              <a:spLocks noChangeArrowheads="1"/>
            </p:cNvSpPr>
            <p:nvPr/>
          </p:nvSpPr>
          <p:spPr bwMode="auto">
            <a:xfrm>
              <a:off x="9069456" y="4612947"/>
              <a:ext cx="1848083" cy="496942"/>
            </a:xfrm>
            <a:prstGeom prst="rect">
              <a:avLst/>
            </a:prstGeom>
            <a:solidFill>
              <a:schemeClr val="accent4">
                <a:lumMod val="20000"/>
                <a:lumOff val="80000"/>
              </a:schemeClr>
            </a:solidFill>
            <a:ln>
              <a:solidFill>
                <a:srgbClr val="00B0F0"/>
              </a:solidFill>
            </a:ln>
            <a:effectLst/>
            <a:extLst/>
          </p:spPr>
          <p:txBody>
            <a:bodyPr wrap="none" anchor="ctr"/>
            <a:lstStyle>
              <a:defPPr>
                <a:defRPr lang="zh-CN"/>
              </a:defPPr>
              <a:lvl1pPr algn="ctr">
                <a:defRPr kumimoji="1">
                  <a:solidFill>
                    <a:srgbClr val="333399"/>
                  </a:solidFill>
                  <a:latin typeface="微软雅黑" panose="020B0503020204020204" pitchFamily="34" charset="-122"/>
                  <a:ea typeface="微软雅黑" panose="020B0503020204020204" pitchFamily="34" charset="-122"/>
                </a:defRPr>
              </a:lvl1pPr>
            </a:lstStyle>
            <a:p>
              <a:r>
                <a:rPr lang="zh-CN" altLang="en-US" sz="2000" dirty="0">
                  <a:solidFill>
                    <a:schemeClr val="tx1"/>
                  </a:solidFill>
                </a:rPr>
                <a:t>有效载荷</a:t>
              </a:r>
            </a:p>
          </p:txBody>
        </p:sp>
      </p:grpSp>
      <p:sp>
        <p:nvSpPr>
          <p:cNvPr id="41" name="AutoShape 54"/>
          <p:cNvSpPr>
            <a:spLocks noChangeArrowheads="1"/>
          </p:cNvSpPr>
          <p:nvPr/>
        </p:nvSpPr>
        <p:spPr bwMode="auto">
          <a:xfrm>
            <a:off x="5723976" y="5394140"/>
            <a:ext cx="4447646" cy="930536"/>
          </a:xfrm>
          <a:prstGeom prst="wedgeRoundRectCallout">
            <a:avLst>
              <a:gd name="adj1" fmla="val -49759"/>
              <a:gd name="adj2" fmla="val -145248"/>
              <a:gd name="adj3" fmla="val 16667"/>
            </a:avLst>
          </a:prstGeom>
          <a:solidFill>
            <a:schemeClr val="accent2">
              <a:lumMod val="20000"/>
              <a:lumOff val="80000"/>
            </a:schemeClr>
          </a:solidFill>
          <a:ln w="9525">
            <a:solidFill>
              <a:schemeClr val="tx1"/>
            </a:solidFill>
            <a:miter lim="800000"/>
            <a:headEnd/>
            <a:tailEnd/>
          </a:ln>
          <a:effectLst/>
          <a:extLst/>
        </p:spPr>
        <p:txBody>
          <a:bodyPr/>
          <a:lstStyle/>
          <a:p>
            <a:pPr>
              <a:lnSpc>
                <a:spcPts val="3000"/>
              </a:lnSpc>
            </a:pPr>
            <a:r>
              <a:rPr lang="en-US" altLang="zh-CN" sz="2000" dirty="0">
                <a:latin typeface="微软雅黑" panose="020B0503020204020204" pitchFamily="34" charset="-122"/>
                <a:ea typeface="微软雅黑" panose="020B0503020204020204" pitchFamily="34" charset="-122"/>
              </a:rPr>
              <a:t>0x8863</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Discovery</a:t>
            </a:r>
            <a:r>
              <a:rPr lang="zh-CN" altLang="en-US" sz="2000" dirty="0">
                <a:latin typeface="微软雅黑" panose="020B0503020204020204" pitchFamily="34" charset="-122"/>
                <a:ea typeface="微软雅黑" panose="020B0503020204020204" pitchFamily="34" charset="-122"/>
              </a:rPr>
              <a:t>阶段或拆链阶段</a:t>
            </a:r>
          </a:p>
          <a:p>
            <a:pPr>
              <a:lnSpc>
                <a:spcPts val="3000"/>
              </a:lnSpc>
            </a:pPr>
            <a:r>
              <a:rPr lang="en-US" altLang="zh-CN" sz="2000" dirty="0">
                <a:latin typeface="微软雅黑" panose="020B0503020204020204" pitchFamily="34" charset="-122"/>
                <a:ea typeface="微软雅黑" panose="020B0503020204020204" pitchFamily="34" charset="-122"/>
              </a:rPr>
              <a:t>0x8864</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Session</a:t>
            </a:r>
            <a:r>
              <a:rPr lang="zh-CN" altLang="en-US" sz="2000" dirty="0">
                <a:latin typeface="微软雅黑" panose="020B0503020204020204" pitchFamily="34" charset="-122"/>
                <a:ea typeface="微软雅黑" panose="020B0503020204020204" pitchFamily="34" charset="-122"/>
              </a:rPr>
              <a:t>阶段</a:t>
            </a:r>
          </a:p>
        </p:txBody>
      </p:sp>
    </p:spTree>
    <p:extLst>
      <p:ext uri="{BB962C8B-B14F-4D97-AF65-F5344CB8AC3E}">
        <p14:creationId xmlns:p14="http://schemas.microsoft.com/office/powerpoint/2010/main" val="31525073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BBC32-6855-3B4C-A419-59E650207471}"/>
              </a:ext>
            </a:extLst>
          </p:cNvPr>
          <p:cNvSpPr>
            <a:spLocks noGrp="1"/>
          </p:cNvSpPr>
          <p:nvPr>
            <p:ph type="title"/>
          </p:nvPr>
        </p:nvSpPr>
        <p:spPr/>
        <p:txBody>
          <a:bodyPr/>
          <a:lstStyle/>
          <a:p>
            <a:r>
              <a:rPr kumimoji="1" lang="en-US" altLang="zh-CN" dirty="0" err="1"/>
              <a:t>PPPoE</a:t>
            </a:r>
            <a:r>
              <a:rPr kumimoji="1" lang="zh-CN" altLang="en-US" dirty="0"/>
              <a:t>报文格式</a:t>
            </a:r>
          </a:p>
        </p:txBody>
      </p:sp>
      <p:sp>
        <p:nvSpPr>
          <p:cNvPr id="3" name="内容占位符 2">
            <a:extLst>
              <a:ext uri="{FF2B5EF4-FFF2-40B4-BE49-F238E27FC236}">
                <a16:creationId xmlns:a16="http://schemas.microsoft.com/office/drawing/2014/main" id="{BC1704A9-D724-AC4E-B209-1FDBE1F4743B}"/>
              </a:ext>
            </a:extLst>
          </p:cNvPr>
          <p:cNvSpPr>
            <a:spLocks noGrp="1"/>
          </p:cNvSpPr>
          <p:nvPr>
            <p:ph idx="1"/>
          </p:nvPr>
        </p:nvSpPr>
        <p:spPr>
          <a:xfrm>
            <a:off x="838200" y="1488830"/>
            <a:ext cx="6500446" cy="4407877"/>
          </a:xfrm>
        </p:spPr>
        <p:txBody>
          <a:bodyPr>
            <a:normAutofit/>
          </a:bodyPr>
          <a:lstStyle/>
          <a:p>
            <a:pPr>
              <a:lnSpc>
                <a:spcPts val="3800"/>
              </a:lnSpc>
            </a:pPr>
            <a:r>
              <a:rPr kumimoji="1" lang="zh-CN" altLang="en-US" sz="2400" dirty="0"/>
              <a:t>版本号：</a:t>
            </a:r>
            <a:r>
              <a:rPr kumimoji="1" lang="en-US" altLang="zh-CN" sz="2400" dirty="0" err="1"/>
              <a:t>PPPoE</a:t>
            </a:r>
            <a:r>
              <a:rPr kumimoji="1" lang="en-US" altLang="zh-CN" sz="2400" dirty="0"/>
              <a:t> </a:t>
            </a:r>
            <a:r>
              <a:rPr kumimoji="1" lang="zh-CN" altLang="en-US" sz="2400" dirty="0"/>
              <a:t>版本号，值为 </a:t>
            </a:r>
            <a:r>
              <a:rPr kumimoji="1" lang="en-US" altLang="zh-CN" sz="2400" dirty="0"/>
              <a:t>0x1</a:t>
            </a:r>
            <a:endParaRPr kumimoji="1" lang="zh-CN" altLang="en-US" sz="2400" dirty="0"/>
          </a:p>
          <a:p>
            <a:pPr>
              <a:lnSpc>
                <a:spcPts val="3800"/>
              </a:lnSpc>
            </a:pPr>
            <a:r>
              <a:rPr kumimoji="1" lang="zh-CN" altLang="en-US" sz="2400" dirty="0"/>
              <a:t>类型：</a:t>
            </a:r>
            <a:r>
              <a:rPr kumimoji="1" lang="en-US" altLang="zh-CN" sz="2400" dirty="0" err="1"/>
              <a:t>PPPoE</a:t>
            </a:r>
            <a:r>
              <a:rPr kumimoji="1" lang="en-US" altLang="zh-CN" sz="2400" dirty="0"/>
              <a:t> </a:t>
            </a:r>
            <a:r>
              <a:rPr kumimoji="1" lang="zh-CN" altLang="en-US" sz="2400" dirty="0"/>
              <a:t>类型，值为 </a:t>
            </a:r>
            <a:r>
              <a:rPr kumimoji="1" lang="en-US" altLang="zh-CN" sz="2400" dirty="0"/>
              <a:t>0x1</a:t>
            </a:r>
          </a:p>
          <a:p>
            <a:pPr>
              <a:lnSpc>
                <a:spcPts val="3800"/>
              </a:lnSpc>
            </a:pPr>
            <a:r>
              <a:rPr lang="zh-CN" altLang="en-US" sz="2400" dirty="0"/>
              <a:t>代码：</a:t>
            </a:r>
            <a:r>
              <a:rPr lang="en-US" altLang="zh-CN" sz="2400" dirty="0" err="1"/>
              <a:t>PPPoE</a:t>
            </a:r>
            <a:r>
              <a:rPr lang="en-US" altLang="zh-CN" sz="2400" dirty="0"/>
              <a:t> </a:t>
            </a:r>
            <a:r>
              <a:rPr lang="zh-CN" altLang="en-US" sz="2400" dirty="0"/>
              <a:t>报文类型</a:t>
            </a:r>
            <a:endParaRPr lang="en-US" altLang="zh-CN" sz="2400" dirty="0"/>
          </a:p>
          <a:p>
            <a:pPr>
              <a:lnSpc>
                <a:spcPts val="3800"/>
              </a:lnSpc>
            </a:pPr>
            <a:r>
              <a:rPr kumimoji="1" lang="zh-CN" altLang="en-US" sz="2400" dirty="0"/>
              <a:t>会话</a:t>
            </a:r>
            <a:r>
              <a:rPr kumimoji="1" lang="en-US" altLang="zh-CN" sz="2400" dirty="0"/>
              <a:t>ID</a:t>
            </a:r>
            <a:r>
              <a:rPr kumimoji="1" lang="zh-CN" altLang="en-US" sz="2400" dirty="0"/>
              <a:t>：</a:t>
            </a:r>
            <a:endParaRPr kumimoji="1" lang="en-US" altLang="zh-CN" sz="2400" dirty="0"/>
          </a:p>
          <a:p>
            <a:pPr lvl="1">
              <a:lnSpc>
                <a:spcPts val="3800"/>
              </a:lnSpc>
            </a:pPr>
            <a:r>
              <a:rPr kumimoji="1" lang="zh-CN" altLang="en-US" sz="2000" dirty="0"/>
              <a:t>分配的</a:t>
            </a:r>
            <a:r>
              <a:rPr kumimoji="1" lang="en-US" altLang="zh-CN" sz="2000" dirty="0" err="1"/>
              <a:t>PPPoE</a:t>
            </a:r>
            <a:r>
              <a:rPr kumimoji="1" lang="zh-CN" altLang="en-US" sz="2000" dirty="0"/>
              <a:t>会话</a:t>
            </a:r>
            <a:r>
              <a:rPr kumimoji="1" lang="en-US" altLang="zh-CN" sz="2000" dirty="0"/>
              <a:t>ID</a:t>
            </a:r>
          </a:p>
          <a:p>
            <a:pPr lvl="1">
              <a:lnSpc>
                <a:spcPts val="3800"/>
              </a:lnSpc>
            </a:pPr>
            <a:r>
              <a:rPr kumimoji="1" lang="zh-CN" altLang="en-US" sz="2000" dirty="0"/>
              <a:t>与以太源地址和目的地址一起定义了一个会话</a:t>
            </a:r>
            <a:endParaRPr kumimoji="1" lang="en-US" altLang="zh-CN" sz="2000" dirty="0"/>
          </a:p>
          <a:p>
            <a:pPr>
              <a:lnSpc>
                <a:spcPts val="3800"/>
              </a:lnSpc>
            </a:pPr>
            <a:r>
              <a:rPr kumimoji="1" lang="zh-CN" altLang="en-US" sz="2400" dirty="0"/>
              <a:t>长度：定义有效载荷长度</a:t>
            </a:r>
          </a:p>
        </p:txBody>
      </p:sp>
      <p:sp>
        <p:nvSpPr>
          <p:cNvPr id="7" name="灯片编号占位符 6">
            <a:extLst>
              <a:ext uri="{FF2B5EF4-FFF2-40B4-BE49-F238E27FC236}">
                <a16:creationId xmlns:a16="http://schemas.microsoft.com/office/drawing/2014/main" id="{F7B7CCDF-45A7-454A-BDB7-F2387BB7506C}"/>
              </a:ext>
            </a:extLst>
          </p:cNvPr>
          <p:cNvSpPr>
            <a:spLocks noGrp="1"/>
          </p:cNvSpPr>
          <p:nvPr>
            <p:ph type="sldNum" sz="quarter" idx="12"/>
          </p:nvPr>
        </p:nvSpPr>
        <p:spPr/>
        <p:txBody>
          <a:bodyPr/>
          <a:lstStyle/>
          <a:p>
            <a:fld id="{8D4D1E41-7A09-AB4A-A4E1-09765ADA2698}" type="slidenum">
              <a:rPr kumimoji="1" lang="zh-CN" altLang="en-US" smtClean="0"/>
              <a:t>73</a:t>
            </a:fld>
            <a:endParaRPr kumimoji="1" lang="zh-CN" altLang="en-US" dirty="0"/>
          </a:p>
        </p:txBody>
      </p:sp>
      <p:graphicFrame>
        <p:nvGraphicFramePr>
          <p:cNvPr id="6" name="表格 6">
            <a:extLst>
              <a:ext uri="{FF2B5EF4-FFF2-40B4-BE49-F238E27FC236}">
                <a16:creationId xmlns:a16="http://schemas.microsoft.com/office/drawing/2014/main" id="{1882CEC3-4F62-4723-A128-73E804DB365B}"/>
              </a:ext>
            </a:extLst>
          </p:cNvPr>
          <p:cNvGraphicFramePr>
            <a:graphicFrameLocks/>
          </p:cNvGraphicFramePr>
          <p:nvPr>
            <p:extLst>
              <p:ext uri="{D42A27DB-BD31-4B8C-83A1-F6EECF244321}">
                <p14:modId xmlns:p14="http://schemas.microsoft.com/office/powerpoint/2010/main" val="3327623573"/>
              </p:ext>
            </p:extLst>
          </p:nvPr>
        </p:nvGraphicFramePr>
        <p:xfrm>
          <a:off x="7377135" y="1780232"/>
          <a:ext cx="4302369" cy="2968752"/>
        </p:xfrm>
        <a:graphic>
          <a:graphicData uri="http://schemas.openxmlformats.org/drawingml/2006/table">
            <a:tbl>
              <a:tblPr firstRow="1" bandRow="1">
                <a:tableStyleId>{5C22544A-7EE6-4342-B048-85BDC9FD1C3A}</a:tableStyleId>
              </a:tblPr>
              <a:tblGrid>
                <a:gridCol w="1478919">
                  <a:extLst>
                    <a:ext uri="{9D8B030D-6E8A-4147-A177-3AD203B41FA5}">
                      <a16:colId xmlns:a16="http://schemas.microsoft.com/office/drawing/2014/main" val="4150901823"/>
                    </a:ext>
                  </a:extLst>
                </a:gridCol>
                <a:gridCol w="2823450">
                  <a:extLst>
                    <a:ext uri="{9D8B030D-6E8A-4147-A177-3AD203B41FA5}">
                      <a16:colId xmlns:a16="http://schemas.microsoft.com/office/drawing/2014/main" val="2375920793"/>
                    </a:ext>
                  </a:extLst>
                </a:gridCol>
              </a:tblGrid>
              <a:tr h="494602">
                <a:tc>
                  <a:txBody>
                    <a:bodyPr/>
                    <a:lstStyle/>
                    <a:p>
                      <a:pPr algn="ctr">
                        <a:lnSpc>
                          <a:spcPct val="150000"/>
                        </a:lnSpc>
                        <a:spcBef>
                          <a:spcPts val="600"/>
                        </a:spcBef>
                        <a:spcAft>
                          <a:spcPts val="600"/>
                        </a:spcAft>
                      </a:pPr>
                      <a:r>
                        <a:rPr kumimoji="1" lang="zh-CN" altLang="en-US" sz="2000" b="0" dirty="0">
                          <a:solidFill>
                            <a:schemeClr val="tx1"/>
                          </a:solidFill>
                          <a:latin typeface="微软雅黑" panose="020B0503020204020204" pitchFamily="34" charset="-122"/>
                          <a:ea typeface="微软雅黑" panose="020B0503020204020204" pitchFamily="34" charset="-122"/>
                        </a:rPr>
                        <a:t>代码值</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Bef>
                          <a:spcPts val="600"/>
                        </a:spcBef>
                        <a:spcAft>
                          <a:spcPts val="600"/>
                        </a:spcAft>
                      </a:pPr>
                      <a:r>
                        <a:rPr lang="en-US" altLang="zh-CN" sz="2000" b="0" err="1">
                          <a:solidFill>
                            <a:schemeClr val="tx1"/>
                          </a:solidFill>
                          <a:latin typeface="微软雅黑" panose="020B0503020204020204" pitchFamily="34" charset="-122"/>
                          <a:ea typeface="微软雅黑" panose="020B0503020204020204" pitchFamily="34" charset="-122"/>
                        </a:rPr>
                        <a:t>PPPoE</a:t>
                      </a:r>
                      <a:r>
                        <a:rPr lang="en-US" altLang="zh-CN" sz="2000" b="0">
                          <a:solidFill>
                            <a:schemeClr val="tx1"/>
                          </a:solidFill>
                          <a:latin typeface="微软雅黑" panose="020B0503020204020204" pitchFamily="34" charset="-122"/>
                          <a:ea typeface="微软雅黑" panose="020B0503020204020204" pitchFamily="34" charset="-122"/>
                        </a:rPr>
                        <a:t> </a:t>
                      </a:r>
                      <a:r>
                        <a:rPr lang="zh-CN" altLang="en-US" sz="2000" b="0">
                          <a:solidFill>
                            <a:schemeClr val="tx1"/>
                          </a:solidFill>
                          <a:latin typeface="微软雅黑" panose="020B0503020204020204" pitchFamily="34" charset="-122"/>
                          <a:ea typeface="微软雅黑" panose="020B0503020204020204" pitchFamily="34" charset="-122"/>
                        </a:rPr>
                        <a:t>报文类型</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38575499"/>
                  </a:ext>
                </a:extLst>
              </a:tr>
              <a:tr h="494602">
                <a:tc>
                  <a:txBody>
                    <a:bodyPr/>
                    <a:lstStyle/>
                    <a:p>
                      <a:pPr algn="ctr">
                        <a:lnSpc>
                          <a:spcPct val="150000"/>
                        </a:lnSpc>
                        <a:spcBef>
                          <a:spcPts val="600"/>
                        </a:spcBef>
                        <a:spcAft>
                          <a:spcPts val="600"/>
                        </a:spcAft>
                      </a:pPr>
                      <a:r>
                        <a:rPr lang="en-US" altLang="zh-CN" sz="2000" b="0" kern="1200" dirty="0">
                          <a:solidFill>
                            <a:schemeClr val="tx1"/>
                          </a:solidFill>
                          <a:latin typeface="微软雅黑" panose="020B0503020204020204" pitchFamily="34" charset="-122"/>
                          <a:ea typeface="微软雅黑" panose="020B0503020204020204" pitchFamily="34" charset="-122"/>
                        </a:rPr>
                        <a:t>0x00</a:t>
                      </a:r>
                      <a:endParaRPr lang="zh-CN" altLang="en-US"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Bef>
                          <a:spcPts val="600"/>
                        </a:spcBef>
                        <a:spcAft>
                          <a:spcPts val="600"/>
                        </a:spcAft>
                      </a:pPr>
                      <a:r>
                        <a:rPr lang="zh-CN" altLang="en-US" sz="2000" b="0" kern="1200" dirty="0">
                          <a:solidFill>
                            <a:schemeClr val="tx1"/>
                          </a:solidFill>
                          <a:latin typeface="微软雅黑" panose="020B0503020204020204" pitchFamily="34" charset="-122"/>
                          <a:ea typeface="微软雅黑" panose="020B0503020204020204" pitchFamily="34" charset="-122"/>
                        </a:rPr>
                        <a:t>会话数据</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10874693"/>
                  </a:ext>
                </a:extLst>
              </a:tr>
              <a:tr h="494602">
                <a:tc>
                  <a:txBody>
                    <a:bodyPr/>
                    <a:lstStyle/>
                    <a:p>
                      <a:pPr marL="0" lvl="1" algn="ctr"/>
                      <a:r>
                        <a:rPr lang="en-US" altLang="zh-CN" sz="2000" b="0" kern="1200" dirty="0">
                          <a:solidFill>
                            <a:schemeClr val="tx1"/>
                          </a:solidFill>
                          <a:latin typeface="微软雅黑" panose="020B0503020204020204" pitchFamily="34" charset="-122"/>
                          <a:ea typeface="微软雅黑" panose="020B0503020204020204" pitchFamily="34" charset="-122"/>
                        </a:rPr>
                        <a:t>0x09</a:t>
                      </a:r>
                      <a:endParaRPr lang="zh-CN" altLang="en-US" sz="2000" b="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PADI </a:t>
                      </a:r>
                      <a:r>
                        <a:rPr lang="zh-CN" altLang="en-US" sz="2000" b="0" kern="1200" dirty="0">
                          <a:solidFill>
                            <a:schemeClr val="tx1"/>
                          </a:solidFill>
                          <a:latin typeface="微软雅黑" panose="020B0503020204020204" pitchFamily="34" charset="-122"/>
                          <a:ea typeface="微软雅黑" panose="020B0503020204020204" pitchFamily="34" charset="-122"/>
                        </a:rPr>
                        <a:t>报文</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4616782"/>
                  </a:ext>
                </a:extLst>
              </a:tr>
              <a:tr h="494602">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0x07</a:t>
                      </a:r>
                      <a:endParaRPr lang="zh-CN" altLang="en-US"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PADO </a:t>
                      </a:r>
                      <a:r>
                        <a:rPr lang="zh-CN" altLang="en-US" sz="2000" b="0" kern="1200" dirty="0">
                          <a:solidFill>
                            <a:schemeClr val="tx1"/>
                          </a:solidFill>
                          <a:latin typeface="微软雅黑" panose="020B0503020204020204" pitchFamily="34" charset="-122"/>
                          <a:ea typeface="微软雅黑" panose="020B0503020204020204" pitchFamily="34" charset="-122"/>
                        </a:rPr>
                        <a:t>或 </a:t>
                      </a:r>
                      <a:r>
                        <a:rPr lang="en-US" altLang="zh-CN" sz="2000" b="0" kern="1200" dirty="0">
                          <a:solidFill>
                            <a:schemeClr val="tx1"/>
                          </a:solidFill>
                          <a:latin typeface="微软雅黑" panose="020B0503020204020204" pitchFamily="34" charset="-122"/>
                          <a:ea typeface="微软雅黑" panose="020B0503020204020204" pitchFamily="34" charset="-122"/>
                        </a:rPr>
                        <a:t>PADT </a:t>
                      </a:r>
                      <a:r>
                        <a:rPr lang="zh-CN" altLang="en-US" sz="2000" b="0" kern="1200" dirty="0">
                          <a:solidFill>
                            <a:schemeClr val="tx1"/>
                          </a:solidFill>
                          <a:latin typeface="微软雅黑" panose="020B0503020204020204" pitchFamily="34" charset="-122"/>
                          <a:ea typeface="微软雅黑" panose="020B0503020204020204" pitchFamily="34" charset="-122"/>
                        </a:rPr>
                        <a:t>报文</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2649475"/>
                  </a:ext>
                </a:extLst>
              </a:tr>
              <a:tr h="494602">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0x19</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微软雅黑" panose="020B0503020204020204" pitchFamily="34" charset="-122"/>
                          <a:ea typeface="微软雅黑" panose="020B0503020204020204" pitchFamily="34" charset="-122"/>
                        </a:rPr>
                        <a:t> </a:t>
                      </a:r>
                      <a:r>
                        <a:rPr lang="en-US" altLang="zh-CN" sz="2000" b="0" kern="1200" dirty="0">
                          <a:solidFill>
                            <a:schemeClr val="tx1"/>
                          </a:solidFill>
                          <a:latin typeface="微软雅黑" panose="020B0503020204020204" pitchFamily="34" charset="-122"/>
                          <a:ea typeface="微软雅黑" panose="020B0503020204020204" pitchFamily="34" charset="-122"/>
                        </a:rPr>
                        <a:t>PADR </a:t>
                      </a:r>
                      <a:r>
                        <a:rPr lang="zh-CN" altLang="en-US" sz="2000" b="0" kern="1200" dirty="0">
                          <a:solidFill>
                            <a:schemeClr val="tx1"/>
                          </a:solidFill>
                          <a:latin typeface="微软雅黑" panose="020B0503020204020204" pitchFamily="34" charset="-122"/>
                          <a:ea typeface="微软雅黑" panose="020B0503020204020204" pitchFamily="34" charset="-122"/>
                        </a:rPr>
                        <a:t>报文</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18192561"/>
                  </a:ext>
                </a:extLst>
              </a:tr>
              <a:tr h="494602">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0x65</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微软雅黑" panose="020B0503020204020204" pitchFamily="34" charset="-122"/>
                          <a:ea typeface="微软雅黑" panose="020B0503020204020204" pitchFamily="34" charset="-122"/>
                        </a:rPr>
                        <a:t> </a:t>
                      </a:r>
                      <a:r>
                        <a:rPr lang="en-US" altLang="zh-CN" sz="2000" b="0" kern="1200" dirty="0">
                          <a:solidFill>
                            <a:schemeClr val="tx1"/>
                          </a:solidFill>
                          <a:latin typeface="微软雅黑" panose="020B0503020204020204" pitchFamily="34" charset="-122"/>
                          <a:ea typeface="微软雅黑" panose="020B0503020204020204" pitchFamily="34" charset="-122"/>
                        </a:rPr>
                        <a:t>PADS </a:t>
                      </a:r>
                      <a:r>
                        <a:rPr lang="zh-CN" altLang="en-US" sz="2000" b="0" kern="1200" dirty="0">
                          <a:solidFill>
                            <a:schemeClr val="tx1"/>
                          </a:solidFill>
                          <a:latin typeface="微软雅黑" panose="020B0503020204020204" pitchFamily="34" charset="-122"/>
                          <a:ea typeface="微软雅黑" panose="020B0503020204020204" pitchFamily="34" charset="-122"/>
                        </a:rPr>
                        <a:t>报文</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99784975"/>
                  </a:ext>
                </a:extLst>
              </a:tr>
            </a:tbl>
          </a:graphicData>
        </a:graphic>
      </p:graphicFrame>
      <p:sp>
        <p:nvSpPr>
          <p:cNvPr id="8" name="文本框 7">
            <a:extLst>
              <a:ext uri="{FF2B5EF4-FFF2-40B4-BE49-F238E27FC236}">
                <a16:creationId xmlns:a16="http://schemas.microsoft.com/office/drawing/2014/main" id="{6F6117F5-5EE2-4CC2-8F6E-61753726B5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5319362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C7C5AD-C998-B644-8819-0D4C854F9DD7}"/>
              </a:ext>
            </a:extLst>
          </p:cNvPr>
          <p:cNvSpPr>
            <a:spLocks noGrp="1"/>
          </p:cNvSpPr>
          <p:nvPr>
            <p:ph type="title"/>
          </p:nvPr>
        </p:nvSpPr>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A1F0140C-FCAA-5D43-8B5F-DFA35B6636D6}"/>
              </a:ext>
            </a:extLst>
          </p:cNvPr>
          <p:cNvSpPr>
            <a:spLocks noGrp="1"/>
          </p:cNvSpPr>
          <p:nvPr>
            <p:ph idx="1"/>
          </p:nvPr>
        </p:nvSpPr>
        <p:spPr>
          <a:xfrm>
            <a:off x="795867" y="1323818"/>
            <a:ext cx="5935782" cy="5215094"/>
          </a:xfrm>
        </p:spPr>
        <p:txBody>
          <a:bodyPr>
            <a:normAutofit/>
          </a:bodyPr>
          <a:lstStyle/>
          <a:p>
            <a:pPr fontAlgn="base">
              <a:lnSpc>
                <a:spcPct val="130000"/>
              </a:lnSpc>
            </a:pPr>
            <a:r>
              <a:rPr lang="en-US" altLang="zh-CN" dirty="0"/>
              <a:t>PPPoE</a:t>
            </a:r>
            <a:r>
              <a:rPr lang="zh-CN" altLang="en-US" dirty="0"/>
              <a:t>可分为三个阶段：</a:t>
            </a:r>
            <a:endParaRPr lang="en-US" altLang="zh-CN" dirty="0"/>
          </a:p>
          <a:p>
            <a:pPr lvl="1" fontAlgn="base">
              <a:lnSpc>
                <a:spcPct val="130000"/>
              </a:lnSpc>
            </a:pPr>
            <a:r>
              <a:rPr lang="en-US" altLang="zh-CN" dirty="0"/>
              <a:t>Discovery</a:t>
            </a:r>
            <a:r>
              <a:rPr lang="zh-CN" altLang="en-US" dirty="0"/>
              <a:t>阶段</a:t>
            </a:r>
            <a:endParaRPr lang="en-US" altLang="zh-CN" dirty="0"/>
          </a:p>
          <a:p>
            <a:pPr lvl="2" indent="-330200" fontAlgn="base">
              <a:lnSpc>
                <a:spcPct val="130000"/>
              </a:lnSpc>
              <a:buFont typeface="Microsoft YaHei" panose="020B0503020204020204" pitchFamily="34" charset="-122"/>
              <a:buChar char="−"/>
            </a:pPr>
            <a:r>
              <a:rPr lang="zh-CN" altLang="en-US" dirty="0"/>
              <a:t>获取对方以太网地址，确定</a:t>
            </a:r>
            <a:r>
              <a:rPr lang="en-US" altLang="zh-CN" dirty="0" err="1"/>
              <a:t>PPPoE</a:t>
            </a:r>
            <a:r>
              <a:rPr lang="zh-CN" altLang="en-US" dirty="0"/>
              <a:t>会话</a:t>
            </a:r>
            <a:r>
              <a:rPr lang="en-US" altLang="zh-CN" dirty="0"/>
              <a:t>ID</a:t>
            </a:r>
          </a:p>
          <a:p>
            <a:pPr lvl="1" fontAlgn="base">
              <a:lnSpc>
                <a:spcPct val="130000"/>
              </a:lnSpc>
            </a:pPr>
            <a:r>
              <a:rPr lang="en-US" altLang="zh-CN" dirty="0"/>
              <a:t>Session</a:t>
            </a:r>
            <a:r>
              <a:rPr lang="zh-CN" altLang="en-US" dirty="0"/>
              <a:t>阶段</a:t>
            </a:r>
            <a:endParaRPr lang="en-US" altLang="zh-CN" dirty="0"/>
          </a:p>
          <a:p>
            <a:pPr lvl="2" indent="-330200" fontAlgn="base">
              <a:lnSpc>
                <a:spcPct val="130000"/>
              </a:lnSpc>
              <a:buFont typeface="Microsoft YaHei" panose="020B0503020204020204" pitchFamily="34" charset="-122"/>
              <a:buChar char="−"/>
            </a:pPr>
            <a:r>
              <a:rPr lang="en-US" altLang="zh-CN" dirty="0"/>
              <a:t>PPP</a:t>
            </a:r>
            <a:r>
              <a:rPr lang="zh-CN" altLang="en-US" dirty="0"/>
              <a:t>协商阶段</a:t>
            </a:r>
            <a:endParaRPr lang="en-US" altLang="zh-CN" dirty="0"/>
          </a:p>
          <a:p>
            <a:pPr lvl="2" indent="-330200" fontAlgn="base">
              <a:lnSpc>
                <a:spcPct val="130000"/>
              </a:lnSpc>
              <a:buFont typeface="Microsoft YaHei" panose="020B0503020204020204" pitchFamily="34" charset="-122"/>
              <a:buChar char="−"/>
            </a:pPr>
            <a:r>
              <a:rPr lang="en-US" altLang="zh-CN" dirty="0"/>
              <a:t>PPP</a:t>
            </a:r>
            <a:r>
              <a:rPr lang="zh-CN" altLang="en-US" dirty="0"/>
              <a:t>报数数据传输</a:t>
            </a:r>
            <a:endParaRPr lang="en-US" altLang="zh-CN" dirty="0"/>
          </a:p>
          <a:p>
            <a:pPr lvl="1" fontAlgn="base">
              <a:lnSpc>
                <a:spcPct val="130000"/>
              </a:lnSpc>
            </a:pPr>
            <a:r>
              <a:rPr lang="en-US" altLang="zh-CN" dirty="0"/>
              <a:t>Terminate</a:t>
            </a:r>
            <a:r>
              <a:rPr lang="zh-CN" altLang="en-US" dirty="0"/>
              <a:t>阶段</a:t>
            </a:r>
            <a:endParaRPr lang="en-US" altLang="zh-CN" dirty="0"/>
          </a:p>
          <a:p>
            <a:pPr lvl="2" indent="-330200" fontAlgn="base">
              <a:lnSpc>
                <a:spcPct val="130000"/>
              </a:lnSpc>
              <a:buFont typeface="Microsoft YaHei" panose="020B0503020204020204" pitchFamily="34" charset="-122"/>
              <a:buChar char="−"/>
            </a:pPr>
            <a:r>
              <a:rPr lang="zh-CN" altLang="en-US" dirty="0"/>
              <a:t>会话建立以后的任意时刻，发送报文结束会话</a:t>
            </a:r>
            <a:endParaRPr lang="en-US" altLang="zh-CN" dirty="0"/>
          </a:p>
        </p:txBody>
      </p:sp>
      <p:sp>
        <p:nvSpPr>
          <p:cNvPr id="4" name="灯片编号占位符 3">
            <a:extLst>
              <a:ext uri="{FF2B5EF4-FFF2-40B4-BE49-F238E27FC236}">
                <a16:creationId xmlns:a16="http://schemas.microsoft.com/office/drawing/2014/main" id="{3302B9EC-4CB6-9348-8325-95ADC73F281A}"/>
              </a:ext>
            </a:extLst>
          </p:cNvPr>
          <p:cNvSpPr>
            <a:spLocks noGrp="1"/>
          </p:cNvSpPr>
          <p:nvPr>
            <p:ph type="sldNum" sz="quarter" idx="12"/>
          </p:nvPr>
        </p:nvSpPr>
        <p:spPr/>
        <p:txBody>
          <a:bodyPr/>
          <a:lstStyle/>
          <a:p>
            <a:fld id="{8D4D1E41-7A09-AB4A-A4E1-09765ADA2698}" type="slidenum">
              <a:rPr kumimoji="1" lang="zh-CN" altLang="en-US" smtClean="0"/>
              <a:t>74</a:t>
            </a:fld>
            <a:endParaRPr kumimoji="1" lang="zh-CN" altLang="en-US" dirty="0"/>
          </a:p>
        </p:txBody>
      </p:sp>
      <p:sp>
        <p:nvSpPr>
          <p:cNvPr id="7" name="文本框 6">
            <a:extLst>
              <a:ext uri="{FF2B5EF4-FFF2-40B4-BE49-F238E27FC236}">
                <a16:creationId xmlns:a16="http://schemas.microsoft.com/office/drawing/2014/main" id="{852E6E7C-B0B6-479B-B6B3-43C924B5CAEB}"/>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0380872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E749A-3A56-4848-8201-AE952FDAE574}"/>
              </a:ext>
            </a:extLst>
          </p:cNvPr>
          <p:cNvSpPr>
            <a:spLocks noGrp="1"/>
          </p:cNvSpPr>
          <p:nvPr>
            <p:ph type="title"/>
          </p:nvPr>
        </p:nvSpPr>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4DD0F5DF-ACC6-EF47-8712-87783CAA3125}"/>
              </a:ext>
            </a:extLst>
          </p:cNvPr>
          <p:cNvSpPr>
            <a:spLocks noGrp="1"/>
          </p:cNvSpPr>
          <p:nvPr>
            <p:ph idx="1"/>
          </p:nvPr>
        </p:nvSpPr>
        <p:spPr/>
        <p:txBody>
          <a:bodyPr/>
          <a:lstStyle/>
          <a:p>
            <a:pPr fontAlgn="base">
              <a:lnSpc>
                <a:spcPct val="120000"/>
              </a:lnSpc>
            </a:pPr>
            <a:r>
              <a:rPr lang="en-US" altLang="zh-CN" dirty="0"/>
              <a:t>Discovery</a:t>
            </a:r>
            <a:r>
              <a:rPr lang="zh-CN" altLang="en-US" dirty="0"/>
              <a:t>阶段和</a:t>
            </a:r>
            <a:r>
              <a:rPr lang="en-US" altLang="zh-CN" dirty="0"/>
              <a:t>Terminate</a:t>
            </a:r>
            <a:r>
              <a:rPr lang="zh-CN" altLang="en-US" dirty="0"/>
              <a:t>阶段使用的报文类型</a:t>
            </a:r>
            <a:endParaRPr lang="en-US" altLang="zh-CN" dirty="0"/>
          </a:p>
          <a:p>
            <a:endParaRPr kumimoji="1" lang="zh-CN" altLang="en-US" dirty="0"/>
          </a:p>
        </p:txBody>
      </p:sp>
      <p:sp>
        <p:nvSpPr>
          <p:cNvPr id="4" name="灯片编号占位符 3">
            <a:extLst>
              <a:ext uri="{FF2B5EF4-FFF2-40B4-BE49-F238E27FC236}">
                <a16:creationId xmlns:a16="http://schemas.microsoft.com/office/drawing/2014/main" id="{6B325A4B-8D8E-2046-BB49-A38C7962CBDC}"/>
              </a:ext>
            </a:extLst>
          </p:cNvPr>
          <p:cNvSpPr>
            <a:spLocks noGrp="1"/>
          </p:cNvSpPr>
          <p:nvPr>
            <p:ph type="sldNum" sz="quarter" idx="12"/>
          </p:nvPr>
        </p:nvSpPr>
        <p:spPr/>
        <p:txBody>
          <a:bodyPr/>
          <a:lstStyle/>
          <a:p>
            <a:fld id="{8D4D1E41-7A09-AB4A-A4E1-09765ADA2698}" type="slidenum">
              <a:rPr kumimoji="1" lang="zh-CN" altLang="en-US" smtClean="0"/>
              <a:t>75</a:t>
            </a:fld>
            <a:endParaRPr kumimoji="1" lang="zh-CN" altLang="en-US" dirty="0"/>
          </a:p>
        </p:txBody>
      </p:sp>
      <p:graphicFrame>
        <p:nvGraphicFramePr>
          <p:cNvPr id="5" name="表格 6">
            <a:extLst>
              <a:ext uri="{FF2B5EF4-FFF2-40B4-BE49-F238E27FC236}">
                <a16:creationId xmlns:a16="http://schemas.microsoft.com/office/drawing/2014/main" id="{C805118F-0858-46CA-AEAA-5E6B3C80042B}"/>
              </a:ext>
            </a:extLst>
          </p:cNvPr>
          <p:cNvGraphicFramePr>
            <a:graphicFrameLocks/>
          </p:cNvGraphicFramePr>
          <p:nvPr>
            <p:extLst>
              <p:ext uri="{D42A27DB-BD31-4B8C-83A1-F6EECF244321}">
                <p14:modId xmlns:p14="http://schemas.microsoft.com/office/powerpoint/2010/main" val="4261831118"/>
              </p:ext>
            </p:extLst>
          </p:nvPr>
        </p:nvGraphicFramePr>
        <p:xfrm>
          <a:off x="985582" y="2365451"/>
          <a:ext cx="10147856" cy="2985737"/>
        </p:xfrm>
        <a:graphic>
          <a:graphicData uri="http://schemas.openxmlformats.org/drawingml/2006/table">
            <a:tbl>
              <a:tblPr firstRow="1" bandRow="1">
                <a:tableStyleId>{7DF18680-E054-41AD-8BC1-D1AEF772440D}</a:tableStyleId>
              </a:tblPr>
              <a:tblGrid>
                <a:gridCol w="6885672">
                  <a:extLst>
                    <a:ext uri="{9D8B030D-6E8A-4147-A177-3AD203B41FA5}">
                      <a16:colId xmlns:a16="http://schemas.microsoft.com/office/drawing/2014/main" val="4150901823"/>
                    </a:ext>
                  </a:extLst>
                </a:gridCol>
                <a:gridCol w="3262184">
                  <a:extLst>
                    <a:ext uri="{9D8B030D-6E8A-4147-A177-3AD203B41FA5}">
                      <a16:colId xmlns:a16="http://schemas.microsoft.com/office/drawing/2014/main" val="2375920793"/>
                    </a:ext>
                  </a:extLst>
                </a:gridCol>
              </a:tblGrid>
              <a:tr h="394254">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微软雅黑" panose="020B0503020204020204" pitchFamily="34" charset="-122"/>
                          <a:ea typeface="微软雅黑" panose="020B0503020204020204" pitchFamily="34" charset="-122"/>
                          <a:cs typeface="+mn-cs"/>
                        </a:rPr>
                        <a:t>类型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微软雅黑" panose="020B0503020204020204" pitchFamily="34" charset="-122"/>
                          <a:ea typeface="微软雅黑" panose="020B0503020204020204" pitchFamily="34" charset="-122"/>
                          <a:cs typeface="+mn-cs"/>
                        </a:rPr>
                        <a:t>描述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38575499"/>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PADI</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Initiation</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发现初始报文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0874693"/>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 PADO</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Offer</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发现提供报文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4616782"/>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PADR</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Request</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发现请求报文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02649475"/>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 PADS</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Session-confirmation</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发现会话确定报文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192561"/>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PADT</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Terminate</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发现终止报文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9784975"/>
                  </a:ext>
                </a:extLst>
              </a:tr>
            </a:tbl>
          </a:graphicData>
        </a:graphic>
      </p:graphicFrame>
      <p:sp>
        <p:nvSpPr>
          <p:cNvPr id="6" name="文本框 5">
            <a:extLst>
              <a:ext uri="{FF2B5EF4-FFF2-40B4-BE49-F238E27FC236}">
                <a16:creationId xmlns:a16="http://schemas.microsoft.com/office/drawing/2014/main" id="{EAB64FBB-E3E7-48A7-9EFF-787655260B4B}"/>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5671371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E749A-3A56-4848-8201-AE952FDAE574}"/>
              </a:ext>
            </a:extLst>
          </p:cNvPr>
          <p:cNvSpPr>
            <a:spLocks noGrp="1"/>
          </p:cNvSpPr>
          <p:nvPr>
            <p:ph type="title"/>
          </p:nvPr>
        </p:nvSpPr>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4DD0F5DF-ACC6-EF47-8712-87783CAA3125}"/>
              </a:ext>
            </a:extLst>
          </p:cNvPr>
          <p:cNvSpPr>
            <a:spLocks noGrp="1"/>
          </p:cNvSpPr>
          <p:nvPr>
            <p:ph idx="1"/>
          </p:nvPr>
        </p:nvSpPr>
        <p:spPr>
          <a:xfrm>
            <a:off x="571499" y="1381771"/>
            <a:ext cx="7670281" cy="5142598"/>
          </a:xfrm>
        </p:spPr>
        <p:txBody>
          <a:bodyPr>
            <a:normAutofit/>
          </a:bodyPr>
          <a:lstStyle/>
          <a:p>
            <a:pPr fontAlgn="base">
              <a:lnSpc>
                <a:spcPts val="3300"/>
              </a:lnSpc>
            </a:pPr>
            <a:r>
              <a:rPr lang="en-US" altLang="zh-CN" sz="2500" dirty="0"/>
              <a:t>Discovery</a:t>
            </a:r>
            <a:r>
              <a:rPr lang="zh-CN" altLang="en-US" sz="2500" dirty="0"/>
              <a:t>阶段：</a:t>
            </a:r>
            <a:endParaRPr lang="en-US" altLang="zh-CN" sz="2500" dirty="0"/>
          </a:p>
          <a:p>
            <a:pPr marL="715963" indent="-357188" fontAlgn="base">
              <a:lnSpc>
                <a:spcPts val="3000"/>
              </a:lnSpc>
              <a:buFont typeface="Arial" panose="020B0604020202020204" pitchFamily="34" charset="0"/>
              <a:buChar char="•"/>
            </a:pPr>
            <a:r>
              <a:rPr lang="en-US" altLang="zh-CN" sz="2000" dirty="0" err="1"/>
              <a:t>PPPoE</a:t>
            </a:r>
            <a:r>
              <a:rPr lang="en-US" altLang="zh-CN" sz="2000" dirty="0"/>
              <a:t> Client</a:t>
            </a:r>
            <a:r>
              <a:rPr lang="zh-CN" altLang="en-US" sz="2000" dirty="0"/>
              <a:t>广播</a:t>
            </a:r>
            <a:r>
              <a:rPr lang="en-US" altLang="zh-CN" sz="2000" dirty="0"/>
              <a:t>PADI</a:t>
            </a:r>
            <a:r>
              <a:rPr lang="zh-CN" altLang="en-US" sz="2000" dirty="0"/>
              <a:t>报文，报文中包含</a:t>
            </a:r>
            <a:r>
              <a:rPr lang="en-US" altLang="zh-CN" sz="2000" dirty="0" err="1"/>
              <a:t>PPPoE</a:t>
            </a:r>
            <a:r>
              <a:rPr lang="en-US" altLang="zh-CN" sz="2000" dirty="0"/>
              <a:t> Client </a:t>
            </a:r>
            <a:r>
              <a:rPr lang="zh-CN" altLang="en-US" sz="2000" dirty="0"/>
              <a:t>想要得到的服务类型信息</a:t>
            </a:r>
            <a:endParaRPr lang="en-US" altLang="zh-CN" sz="2000" dirty="0"/>
          </a:p>
          <a:p>
            <a:pPr marL="715963" indent="-357188" fontAlgn="base">
              <a:lnSpc>
                <a:spcPts val="3000"/>
              </a:lnSpc>
              <a:buFont typeface="Arial" panose="020B0604020202020204" pitchFamily="34" charset="0"/>
              <a:buChar char="•"/>
            </a:pPr>
            <a:r>
              <a:rPr lang="zh-CN" altLang="en-US" sz="2000" dirty="0"/>
              <a:t>所有的</a:t>
            </a:r>
            <a:r>
              <a:rPr lang="en-US" altLang="zh-CN" sz="2000" dirty="0" err="1"/>
              <a:t>PPPoE</a:t>
            </a:r>
            <a:r>
              <a:rPr lang="en-US" altLang="zh-CN" sz="2000" dirty="0"/>
              <a:t> Server</a:t>
            </a:r>
            <a:r>
              <a:rPr lang="zh-CN" altLang="en-US" sz="2000" dirty="0"/>
              <a:t>收到</a:t>
            </a:r>
            <a:r>
              <a:rPr lang="en-US" altLang="zh-CN" sz="2000" dirty="0"/>
              <a:t>PADI</a:t>
            </a:r>
            <a:r>
              <a:rPr lang="zh-CN" altLang="en-US" sz="2000" dirty="0"/>
              <a:t>报文之后，将其中请求的服务与自己能够提供的服务进行比较，如果可以提供，则单播回复</a:t>
            </a:r>
            <a:r>
              <a:rPr lang="en-US" altLang="zh-CN" sz="2000" dirty="0"/>
              <a:t>PADO</a:t>
            </a:r>
            <a:r>
              <a:rPr lang="zh-CN" altLang="en-US" sz="2000" dirty="0"/>
              <a:t>报文</a:t>
            </a:r>
          </a:p>
          <a:p>
            <a:pPr marL="715963" indent="-357188" fontAlgn="base">
              <a:lnSpc>
                <a:spcPts val="3000"/>
              </a:lnSpc>
              <a:buFont typeface="Arial" panose="020B0604020202020204" pitchFamily="34" charset="0"/>
              <a:buChar char="•"/>
            </a:pPr>
            <a:r>
              <a:rPr lang="zh-CN" altLang="en-US" sz="2000" dirty="0"/>
              <a:t>根据网络的拓扑结构，</a:t>
            </a:r>
            <a:r>
              <a:rPr lang="en-US" altLang="zh-CN" sz="2000" dirty="0" err="1"/>
              <a:t>PPPoE</a:t>
            </a:r>
            <a:r>
              <a:rPr lang="en-US" altLang="zh-CN" sz="2000" dirty="0"/>
              <a:t> Client</a:t>
            </a:r>
            <a:r>
              <a:rPr lang="zh-CN" altLang="en-US" sz="2000" dirty="0"/>
              <a:t>可能收到多个</a:t>
            </a:r>
            <a:r>
              <a:rPr lang="en-US" altLang="zh-CN" sz="2000" dirty="0" err="1"/>
              <a:t>PPPoE</a:t>
            </a:r>
            <a:r>
              <a:rPr lang="en-US" altLang="zh-CN" sz="2000" dirty="0"/>
              <a:t> Server</a:t>
            </a:r>
            <a:r>
              <a:rPr lang="zh-CN" altLang="en-US" sz="2000" dirty="0"/>
              <a:t>发送的</a:t>
            </a:r>
            <a:r>
              <a:rPr lang="en-US" altLang="zh-CN" sz="2000" dirty="0"/>
              <a:t>PADO</a:t>
            </a:r>
            <a:r>
              <a:rPr lang="zh-CN" altLang="en-US" sz="2000" dirty="0"/>
              <a:t>报文，</a:t>
            </a:r>
            <a:r>
              <a:rPr lang="en-US" altLang="zh-CN" sz="2000" dirty="0" err="1"/>
              <a:t>PPPoE</a:t>
            </a:r>
            <a:r>
              <a:rPr lang="en-US" altLang="zh-CN" sz="2000" dirty="0"/>
              <a:t> Client</a:t>
            </a:r>
            <a:r>
              <a:rPr lang="zh-CN" altLang="en-US" sz="2000" dirty="0"/>
              <a:t>选择最先收到</a:t>
            </a:r>
            <a:r>
              <a:rPr lang="en-US" altLang="zh-CN" sz="2000" dirty="0"/>
              <a:t>PADO</a:t>
            </a:r>
            <a:r>
              <a:rPr lang="zh-CN" altLang="en-US" sz="2000" dirty="0"/>
              <a:t>报文对应的 </a:t>
            </a:r>
            <a:r>
              <a:rPr lang="en-US" altLang="zh-CN" sz="2000" dirty="0" err="1"/>
              <a:t>PPPoE</a:t>
            </a:r>
            <a:r>
              <a:rPr lang="en-US" altLang="zh-CN" sz="2000" dirty="0"/>
              <a:t> Server</a:t>
            </a:r>
            <a:r>
              <a:rPr lang="zh-CN" altLang="en-US" sz="2000" dirty="0"/>
              <a:t>，并单播</a:t>
            </a:r>
            <a:r>
              <a:rPr lang="en-US" altLang="zh-CN" sz="2000" dirty="0"/>
              <a:t>PADR</a:t>
            </a:r>
            <a:r>
              <a:rPr lang="zh-CN" altLang="en-US" sz="2000" dirty="0"/>
              <a:t>报文</a:t>
            </a:r>
          </a:p>
          <a:p>
            <a:pPr marL="715963" indent="-357188" fontAlgn="base">
              <a:lnSpc>
                <a:spcPts val="3000"/>
              </a:lnSpc>
              <a:buFont typeface="Arial" panose="020B0604020202020204" pitchFamily="34" charset="0"/>
              <a:buChar char="•"/>
            </a:pPr>
            <a:r>
              <a:rPr lang="en-US" altLang="zh-CN" sz="2000" dirty="0"/>
              <a:t>PPPoE Server </a:t>
            </a:r>
            <a:r>
              <a:rPr lang="zh-CN" altLang="en-US" sz="2000" dirty="0"/>
              <a:t>产生唯一的</a:t>
            </a:r>
            <a:r>
              <a:rPr lang="en-US" altLang="zh-CN" sz="2000" dirty="0"/>
              <a:t>Session ID</a:t>
            </a:r>
            <a:r>
              <a:rPr lang="zh-CN" altLang="en-US" sz="2000" dirty="0"/>
              <a:t>，标识与 </a:t>
            </a:r>
            <a:r>
              <a:rPr lang="en-US" altLang="zh-CN" sz="2000" dirty="0" err="1"/>
              <a:t>PPPoE</a:t>
            </a:r>
            <a:r>
              <a:rPr lang="en-US" altLang="zh-CN" sz="2000" dirty="0"/>
              <a:t> Client </a:t>
            </a:r>
            <a:r>
              <a:rPr lang="zh-CN" altLang="en-US" sz="2000" dirty="0"/>
              <a:t>的会话，发送</a:t>
            </a:r>
            <a:r>
              <a:rPr lang="en-US" altLang="zh-CN" sz="2000" dirty="0"/>
              <a:t>PADS</a:t>
            </a:r>
            <a:r>
              <a:rPr lang="zh-CN" altLang="en-US" sz="2000" dirty="0"/>
              <a:t>报文把会话</a:t>
            </a:r>
            <a:r>
              <a:rPr lang="en-US" altLang="zh-CN" sz="2000" dirty="0"/>
              <a:t>ID</a:t>
            </a:r>
            <a:r>
              <a:rPr lang="zh-CN" altLang="en-US" sz="2000" dirty="0"/>
              <a:t>发送给</a:t>
            </a:r>
            <a:r>
              <a:rPr lang="en-US" altLang="zh-CN" sz="2000" dirty="0" err="1"/>
              <a:t>PPPoE</a:t>
            </a:r>
            <a:r>
              <a:rPr lang="en-US" altLang="zh-CN" sz="2000" dirty="0"/>
              <a:t> Client</a:t>
            </a:r>
            <a:r>
              <a:rPr lang="zh-CN" altLang="en-US" sz="2000" dirty="0"/>
              <a:t>，进入</a:t>
            </a:r>
            <a:r>
              <a:rPr lang="en-US" altLang="zh-CN" sz="2000" dirty="0"/>
              <a:t>Session</a:t>
            </a:r>
            <a:r>
              <a:rPr lang="zh-CN" altLang="en-US" sz="2000" dirty="0"/>
              <a:t>阶段</a:t>
            </a:r>
            <a:endParaRPr lang="en-US" altLang="zh-CN" sz="2000" dirty="0"/>
          </a:p>
        </p:txBody>
      </p:sp>
      <p:grpSp>
        <p:nvGrpSpPr>
          <p:cNvPr id="4" name="组合 3"/>
          <p:cNvGrpSpPr/>
          <p:nvPr/>
        </p:nvGrpSpPr>
        <p:grpSpPr>
          <a:xfrm>
            <a:off x="8057378" y="1504834"/>
            <a:ext cx="4195353" cy="4896472"/>
            <a:chOff x="7645595" y="1354767"/>
            <a:chExt cx="4569293" cy="4896472"/>
          </a:xfrm>
        </p:grpSpPr>
        <p:pic>
          <p:nvPicPr>
            <p:cNvPr id="7" name="图片 6">
              <a:extLst>
                <a:ext uri="{FF2B5EF4-FFF2-40B4-BE49-F238E27FC236}">
                  <a16:creationId xmlns:a16="http://schemas.microsoft.com/office/drawing/2014/main" id="{85D9BCFB-5DDC-4355-8B33-4CB29A8A4C43}"/>
                </a:ext>
              </a:extLst>
            </p:cNvPr>
            <p:cNvPicPr>
              <a:picLocks noChangeAspect="1"/>
            </p:cNvPicPr>
            <p:nvPr/>
          </p:nvPicPr>
          <p:blipFill>
            <a:blip r:embed="rId2"/>
            <a:stretch>
              <a:fillRect/>
            </a:stretch>
          </p:blipFill>
          <p:spPr>
            <a:xfrm>
              <a:off x="7875159" y="1699709"/>
              <a:ext cx="1100146" cy="771531"/>
            </a:xfrm>
            <a:prstGeom prst="rect">
              <a:avLst/>
            </a:prstGeom>
          </p:spPr>
        </p:pic>
        <p:pic>
          <p:nvPicPr>
            <p:cNvPr id="8" name="图片 7">
              <a:extLst>
                <a:ext uri="{FF2B5EF4-FFF2-40B4-BE49-F238E27FC236}">
                  <a16:creationId xmlns:a16="http://schemas.microsoft.com/office/drawing/2014/main" id="{6D68FCBC-DAA3-456C-8A93-3178FF3BFB0F}"/>
                </a:ext>
              </a:extLst>
            </p:cNvPr>
            <p:cNvPicPr>
              <a:picLocks noChangeAspect="1"/>
            </p:cNvPicPr>
            <p:nvPr/>
          </p:nvPicPr>
          <p:blipFill>
            <a:blip r:embed="rId2"/>
            <a:stretch>
              <a:fillRect/>
            </a:stretch>
          </p:blipFill>
          <p:spPr>
            <a:xfrm>
              <a:off x="10736254" y="1683284"/>
              <a:ext cx="1100146" cy="771531"/>
            </a:xfrm>
            <a:prstGeom prst="rect">
              <a:avLst/>
            </a:prstGeom>
          </p:spPr>
        </p:pic>
        <p:cxnSp>
          <p:nvCxnSpPr>
            <p:cNvPr id="12" name="直接箭头连接符 11">
              <a:extLst>
                <a:ext uri="{FF2B5EF4-FFF2-40B4-BE49-F238E27FC236}">
                  <a16:creationId xmlns:a16="http://schemas.microsoft.com/office/drawing/2014/main" id="{C1352E30-DB93-4ED9-BEA3-066ED0BE884E}"/>
                </a:ext>
              </a:extLst>
            </p:cNvPr>
            <p:cNvCxnSpPr>
              <a:cxnSpLocks/>
              <a:stCxn id="7" idx="2"/>
            </p:cNvCxnSpPr>
            <p:nvPr/>
          </p:nvCxnSpPr>
          <p:spPr>
            <a:xfrm>
              <a:off x="8425232" y="2471239"/>
              <a:ext cx="0" cy="3780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98B18979-0A8F-4A38-A5D5-DA9494BEA006}"/>
                </a:ext>
              </a:extLst>
            </p:cNvPr>
            <p:cNvCxnSpPr/>
            <p:nvPr/>
          </p:nvCxnSpPr>
          <p:spPr>
            <a:xfrm>
              <a:off x="11315328" y="2470339"/>
              <a:ext cx="0" cy="3780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684388B-67D4-4E59-8DF7-A153B190D650}"/>
                </a:ext>
              </a:extLst>
            </p:cNvPr>
            <p:cNvCxnSpPr/>
            <p:nvPr/>
          </p:nvCxnSpPr>
          <p:spPr>
            <a:xfrm>
              <a:off x="8438432" y="2867097"/>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640A32C-E5F0-4405-899D-252EF3FC1409}"/>
                </a:ext>
              </a:extLst>
            </p:cNvPr>
            <p:cNvSpPr txBox="1"/>
            <p:nvPr/>
          </p:nvSpPr>
          <p:spPr>
            <a:xfrm>
              <a:off x="9238589" y="2508942"/>
              <a:ext cx="1178464" cy="1938992"/>
            </a:xfrm>
            <a:prstGeom prst="rect">
              <a:avLst/>
            </a:prstGeom>
            <a:noFill/>
          </p:spPr>
          <p:txBody>
            <a:bodyPr wrap="none" rtlCol="0">
              <a:spAutoFit/>
            </a:bodyPr>
            <a:lstStyle/>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PADI</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PADO</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PADR</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PADS</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5CB4F540-C913-4899-BC8F-9A704D401182}"/>
                </a:ext>
              </a:extLst>
            </p:cNvPr>
            <p:cNvSpPr txBox="1"/>
            <p:nvPr/>
          </p:nvSpPr>
          <p:spPr>
            <a:xfrm>
              <a:off x="7645595" y="1381770"/>
              <a:ext cx="1830307"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Client</a:t>
              </a:r>
              <a:endParaRPr lang="zh-CN" altLang="en-US"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DBAF7D18-0A19-4DC9-BCEE-1073D44B01F2}"/>
                </a:ext>
              </a:extLst>
            </p:cNvPr>
            <p:cNvSpPr txBox="1"/>
            <p:nvPr/>
          </p:nvSpPr>
          <p:spPr>
            <a:xfrm>
              <a:off x="10417052" y="1354767"/>
              <a:ext cx="1797836"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Server</a:t>
              </a:r>
              <a:endParaRPr lang="zh-CN" altLang="en-US" dirty="0">
                <a:latin typeface="微软雅黑" panose="020B0503020204020204" pitchFamily="34" charset="-122"/>
                <a:ea typeface="微软雅黑" panose="020B0503020204020204" pitchFamily="34" charset="-122"/>
              </a:endParaRPr>
            </a:p>
          </p:txBody>
        </p:sp>
        <p:cxnSp>
          <p:nvCxnSpPr>
            <p:cNvPr id="19" name="直接箭头连接符 18">
              <a:extLst>
                <a:ext uri="{FF2B5EF4-FFF2-40B4-BE49-F238E27FC236}">
                  <a16:creationId xmlns:a16="http://schemas.microsoft.com/office/drawing/2014/main" id="{19C4EFBF-2529-42DA-992E-9E9BBD0D4068}"/>
                </a:ext>
              </a:extLst>
            </p:cNvPr>
            <p:cNvCxnSpPr/>
            <p:nvPr/>
          </p:nvCxnSpPr>
          <p:spPr>
            <a:xfrm>
              <a:off x="8453957" y="3797039"/>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DCAFFB7C-E24E-4780-B93E-4D2E63942923}"/>
                </a:ext>
              </a:extLst>
            </p:cNvPr>
            <p:cNvCxnSpPr>
              <a:cxnSpLocks/>
            </p:cNvCxnSpPr>
            <p:nvPr/>
          </p:nvCxnSpPr>
          <p:spPr>
            <a:xfrm flipH="1">
              <a:off x="8421093" y="3342562"/>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C79F1502-50C7-4188-A20D-147801CE39E1}"/>
                </a:ext>
              </a:extLst>
            </p:cNvPr>
            <p:cNvCxnSpPr>
              <a:cxnSpLocks/>
            </p:cNvCxnSpPr>
            <p:nvPr/>
          </p:nvCxnSpPr>
          <p:spPr>
            <a:xfrm flipH="1">
              <a:off x="8431135" y="4228668"/>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文本框 20">
            <a:extLst>
              <a:ext uri="{FF2B5EF4-FFF2-40B4-BE49-F238E27FC236}">
                <a16:creationId xmlns:a16="http://schemas.microsoft.com/office/drawing/2014/main" id="{13E03381-1C82-4165-8688-3180E6281FF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
        <p:nvSpPr>
          <p:cNvPr id="22"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7466616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E749A-3A56-4848-8201-AE952FDAE574}"/>
              </a:ext>
            </a:extLst>
          </p:cNvPr>
          <p:cNvSpPr>
            <a:spLocks noGrp="1"/>
          </p:cNvSpPr>
          <p:nvPr>
            <p:ph type="title"/>
          </p:nvPr>
        </p:nvSpPr>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4DD0F5DF-ACC6-EF47-8712-87783CAA3125}"/>
              </a:ext>
            </a:extLst>
          </p:cNvPr>
          <p:cNvSpPr>
            <a:spLocks noGrp="1"/>
          </p:cNvSpPr>
          <p:nvPr>
            <p:ph idx="1"/>
          </p:nvPr>
        </p:nvSpPr>
        <p:spPr>
          <a:xfrm>
            <a:off x="622300" y="1346200"/>
            <a:ext cx="6795341" cy="5088525"/>
          </a:xfrm>
        </p:spPr>
        <p:txBody>
          <a:bodyPr>
            <a:normAutofit/>
          </a:bodyPr>
          <a:lstStyle/>
          <a:p>
            <a:pPr fontAlgn="base">
              <a:lnSpc>
                <a:spcPct val="120000"/>
              </a:lnSpc>
            </a:pPr>
            <a:r>
              <a:rPr lang="en-US" altLang="zh-CN" dirty="0"/>
              <a:t>Session</a:t>
            </a:r>
            <a:r>
              <a:rPr lang="zh-CN" altLang="en-US" dirty="0"/>
              <a:t>阶段：</a:t>
            </a:r>
            <a:endParaRPr lang="en-US" altLang="zh-CN" dirty="0"/>
          </a:p>
          <a:p>
            <a:pPr lvl="1" fontAlgn="base">
              <a:lnSpc>
                <a:spcPct val="120000"/>
              </a:lnSpc>
            </a:pPr>
            <a:r>
              <a:rPr lang="en-US" altLang="zh-CN" dirty="0"/>
              <a:t>PPP</a:t>
            </a:r>
            <a:r>
              <a:rPr lang="zh-CN" altLang="en-US" dirty="0"/>
              <a:t>协商阶段</a:t>
            </a:r>
            <a:endParaRPr lang="en-US" altLang="zh-CN" dirty="0"/>
          </a:p>
          <a:p>
            <a:pPr marL="989013" lvl="2" indent="-273050" fontAlgn="base">
              <a:lnSpc>
                <a:spcPct val="130000"/>
              </a:lnSpc>
              <a:buFont typeface="Microsoft YaHei" panose="020B0503020204020204" pitchFamily="34" charset="-122"/>
              <a:buChar char="−"/>
            </a:pPr>
            <a:r>
              <a:rPr lang="zh-CN" altLang="en-US" dirty="0"/>
              <a:t>与普通的</a:t>
            </a:r>
            <a:r>
              <a:rPr lang="en-US" altLang="zh-CN" dirty="0"/>
              <a:t>PPP</a:t>
            </a:r>
            <a:r>
              <a:rPr lang="zh-CN" altLang="en-US" dirty="0"/>
              <a:t>协商方式一致，分为</a:t>
            </a:r>
            <a:r>
              <a:rPr lang="en-US" altLang="zh-CN" dirty="0"/>
              <a:t>LCP</a:t>
            </a:r>
            <a:r>
              <a:rPr lang="zh-CN" altLang="en-US" dirty="0"/>
              <a:t>、认证、</a:t>
            </a:r>
            <a:r>
              <a:rPr lang="en-US" altLang="zh-CN" dirty="0"/>
              <a:t>NCP</a:t>
            </a:r>
            <a:r>
              <a:rPr lang="zh-CN" altLang="en-US" dirty="0"/>
              <a:t>三个阶段</a:t>
            </a:r>
          </a:p>
          <a:p>
            <a:pPr marL="989013" lvl="2" indent="-273050" fontAlgn="base">
              <a:lnSpc>
                <a:spcPct val="130000"/>
              </a:lnSpc>
              <a:buFont typeface="Microsoft YaHei" panose="020B0503020204020204" pitchFamily="34" charset="-122"/>
              <a:buChar char="−"/>
            </a:pPr>
            <a:r>
              <a:rPr lang="en-US" altLang="zh-CN" dirty="0"/>
              <a:t>LCP </a:t>
            </a:r>
            <a:r>
              <a:rPr lang="zh-CN" altLang="en-US" dirty="0"/>
              <a:t>阶段主要完成建立、配置和检测链路连接。</a:t>
            </a:r>
            <a:r>
              <a:rPr lang="en-US" altLang="zh-CN" dirty="0"/>
              <a:t>LCP </a:t>
            </a:r>
            <a:r>
              <a:rPr lang="zh-CN" altLang="en-US" dirty="0"/>
              <a:t>协商成功后，开始进行认证工作，认证协议类型由 </a:t>
            </a:r>
            <a:r>
              <a:rPr lang="en-US" altLang="zh-CN" dirty="0"/>
              <a:t>LCP </a:t>
            </a:r>
            <a:r>
              <a:rPr lang="zh-CN" altLang="en-US" dirty="0"/>
              <a:t>协商结果决定</a:t>
            </a:r>
          </a:p>
          <a:p>
            <a:pPr marL="989013" lvl="2" indent="-273050" fontAlgn="base">
              <a:lnSpc>
                <a:spcPct val="130000"/>
              </a:lnSpc>
              <a:buFont typeface="Microsoft YaHei" panose="020B0503020204020204" pitchFamily="34" charset="-122"/>
              <a:buChar char="−"/>
            </a:pPr>
            <a:r>
              <a:rPr lang="zh-CN" altLang="en-US" dirty="0"/>
              <a:t>认证成功后，进入</a:t>
            </a:r>
            <a:r>
              <a:rPr lang="en-US" altLang="zh-CN" dirty="0"/>
              <a:t>NCP</a:t>
            </a:r>
            <a:r>
              <a:rPr lang="zh-CN" altLang="en-US" dirty="0"/>
              <a:t>阶段。</a:t>
            </a:r>
            <a:r>
              <a:rPr lang="en-US" altLang="zh-CN" dirty="0"/>
              <a:t>NCP</a:t>
            </a:r>
            <a:r>
              <a:rPr lang="zh-CN" altLang="en-US" dirty="0"/>
              <a:t>是一个协议族，用于配置不同的网络层协议，常用的是</a:t>
            </a:r>
            <a:r>
              <a:rPr lang="en-US" altLang="zh-CN" dirty="0"/>
              <a:t>IP</a:t>
            </a:r>
            <a:r>
              <a:rPr lang="zh-CN" altLang="en-US" dirty="0"/>
              <a:t>控制协议</a:t>
            </a:r>
            <a:r>
              <a:rPr lang="en-US" altLang="zh-CN" dirty="0"/>
              <a:t>(IPCP)</a:t>
            </a:r>
            <a:r>
              <a:rPr lang="zh-CN" altLang="en-US" dirty="0"/>
              <a:t>，负责配置用户的</a:t>
            </a:r>
            <a:r>
              <a:rPr lang="en-US" altLang="zh-CN" dirty="0"/>
              <a:t>IP</a:t>
            </a:r>
            <a:r>
              <a:rPr lang="zh-CN" altLang="en-US" dirty="0"/>
              <a:t>和</a:t>
            </a:r>
            <a:r>
              <a:rPr lang="en-US" altLang="zh-CN" dirty="0"/>
              <a:t>DNS</a:t>
            </a:r>
            <a:r>
              <a:rPr lang="zh-CN" altLang="en-US" dirty="0"/>
              <a:t>等工作</a:t>
            </a:r>
            <a:endParaRPr lang="en-US" altLang="zh-CN" dirty="0"/>
          </a:p>
          <a:p>
            <a:pPr lvl="1" fontAlgn="base">
              <a:lnSpc>
                <a:spcPct val="120000"/>
              </a:lnSpc>
            </a:pPr>
            <a:r>
              <a:rPr lang="en-US" altLang="zh-CN" dirty="0"/>
              <a:t>PPP</a:t>
            </a:r>
            <a:r>
              <a:rPr lang="zh-CN" altLang="en-US" dirty="0"/>
              <a:t>报文传输阶段</a:t>
            </a:r>
            <a:endParaRPr lang="en-US" altLang="zh-CN" dirty="0"/>
          </a:p>
        </p:txBody>
      </p:sp>
      <p:grpSp>
        <p:nvGrpSpPr>
          <p:cNvPr id="35" name="组合 34">
            <a:extLst>
              <a:ext uri="{FF2B5EF4-FFF2-40B4-BE49-F238E27FC236}">
                <a16:creationId xmlns:a16="http://schemas.microsoft.com/office/drawing/2014/main" id="{23CD01F7-4ABA-4B65-871A-963500EC8FE4}"/>
              </a:ext>
            </a:extLst>
          </p:cNvPr>
          <p:cNvGrpSpPr/>
          <p:nvPr/>
        </p:nvGrpSpPr>
        <p:grpSpPr>
          <a:xfrm>
            <a:off x="7544216" y="1220833"/>
            <a:ext cx="4822951" cy="5400472"/>
            <a:chOff x="7249494" y="1220833"/>
            <a:chExt cx="4822951" cy="5400472"/>
          </a:xfrm>
        </p:grpSpPr>
        <p:pic>
          <p:nvPicPr>
            <p:cNvPr id="36" name="图片 35">
              <a:extLst>
                <a:ext uri="{FF2B5EF4-FFF2-40B4-BE49-F238E27FC236}">
                  <a16:creationId xmlns:a16="http://schemas.microsoft.com/office/drawing/2014/main" id="{B8AC2DD6-6231-4E54-80AD-D8DD46B084E8}"/>
                </a:ext>
              </a:extLst>
            </p:cNvPr>
            <p:cNvPicPr>
              <a:picLocks noChangeAspect="1"/>
            </p:cNvPicPr>
            <p:nvPr/>
          </p:nvPicPr>
          <p:blipFill>
            <a:blip r:embed="rId2"/>
            <a:stretch>
              <a:fillRect/>
            </a:stretch>
          </p:blipFill>
          <p:spPr>
            <a:xfrm>
              <a:off x="7392559" y="1565775"/>
              <a:ext cx="1100146" cy="771531"/>
            </a:xfrm>
            <a:prstGeom prst="rect">
              <a:avLst/>
            </a:prstGeom>
          </p:spPr>
        </p:pic>
        <p:pic>
          <p:nvPicPr>
            <p:cNvPr id="37" name="图片 36">
              <a:extLst>
                <a:ext uri="{FF2B5EF4-FFF2-40B4-BE49-F238E27FC236}">
                  <a16:creationId xmlns:a16="http://schemas.microsoft.com/office/drawing/2014/main" id="{BAB8309C-5033-444E-8A01-CF4FD87780AD}"/>
                </a:ext>
              </a:extLst>
            </p:cNvPr>
            <p:cNvPicPr>
              <a:picLocks noChangeAspect="1"/>
            </p:cNvPicPr>
            <p:nvPr/>
          </p:nvPicPr>
          <p:blipFill>
            <a:blip r:embed="rId2"/>
            <a:stretch>
              <a:fillRect/>
            </a:stretch>
          </p:blipFill>
          <p:spPr>
            <a:xfrm>
              <a:off x="10253654" y="1549350"/>
              <a:ext cx="1100146" cy="771531"/>
            </a:xfrm>
            <a:prstGeom prst="rect">
              <a:avLst/>
            </a:prstGeom>
          </p:spPr>
        </p:pic>
        <p:cxnSp>
          <p:nvCxnSpPr>
            <p:cNvPr id="38" name="直接箭头连接符 37">
              <a:extLst>
                <a:ext uri="{FF2B5EF4-FFF2-40B4-BE49-F238E27FC236}">
                  <a16:creationId xmlns:a16="http://schemas.microsoft.com/office/drawing/2014/main" id="{521C6DE8-6E11-4DF1-895C-A90EE0B50102}"/>
                </a:ext>
              </a:extLst>
            </p:cNvPr>
            <p:cNvCxnSpPr>
              <a:cxnSpLocks/>
              <a:stCxn id="36" idx="2"/>
            </p:cNvCxnSpPr>
            <p:nvPr/>
          </p:nvCxnSpPr>
          <p:spPr>
            <a:xfrm>
              <a:off x="7942632" y="2337305"/>
              <a:ext cx="0" cy="4284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09AA21E-92DB-4AF0-B5F1-C75A0EEF5C86}"/>
                </a:ext>
              </a:extLst>
            </p:cNvPr>
            <p:cNvCxnSpPr/>
            <p:nvPr/>
          </p:nvCxnSpPr>
          <p:spPr>
            <a:xfrm>
              <a:off x="10832728" y="2336405"/>
              <a:ext cx="0" cy="4284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474F5B37-A98C-4D4F-AFDF-F63CFF1FEB11}"/>
                </a:ext>
              </a:extLst>
            </p:cNvPr>
            <p:cNvSpPr txBox="1"/>
            <p:nvPr/>
          </p:nvSpPr>
          <p:spPr>
            <a:xfrm>
              <a:off x="8224120" y="2876127"/>
              <a:ext cx="2409634" cy="3093154"/>
            </a:xfrm>
            <a:prstGeom prst="rect">
              <a:avLst/>
            </a:prstGeom>
            <a:noFill/>
          </p:spPr>
          <p:txBody>
            <a:bodyPr wrap="none" rtlCol="0">
              <a:spAutoFit/>
            </a:bodyPr>
            <a:lstStyle/>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LCP Negotiation</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Challenge</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Response</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Success/Failure</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NCP Negotiation</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PPP</a:t>
              </a:r>
              <a:r>
                <a:rPr lang="zh-CN" altLang="en-US" dirty="0">
                  <a:latin typeface="微软雅黑" panose="020B0503020204020204" pitchFamily="34" charset="-122"/>
                  <a:ea typeface="微软雅黑" panose="020B0503020204020204" pitchFamily="34" charset="-122"/>
                </a:rPr>
                <a:t>报文传输</a:t>
              </a: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0DE02E49-14BD-4EC9-AD1C-8DF97211FAD1}"/>
                </a:ext>
              </a:extLst>
            </p:cNvPr>
            <p:cNvSpPr txBox="1"/>
            <p:nvPr/>
          </p:nvSpPr>
          <p:spPr>
            <a:xfrm>
              <a:off x="7249494" y="1247836"/>
              <a:ext cx="1949253"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Client</a:t>
              </a:r>
              <a:endParaRPr lang="zh-CN" altLang="en-US" dirty="0">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60ECD227-703E-4FB0-BAA2-E20EE69AB876}"/>
                </a:ext>
              </a:extLst>
            </p:cNvPr>
            <p:cNvSpPr txBox="1"/>
            <p:nvPr/>
          </p:nvSpPr>
          <p:spPr>
            <a:xfrm>
              <a:off x="10123192" y="1220833"/>
              <a:ext cx="1949253"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Server</a:t>
              </a:r>
              <a:endParaRPr lang="zh-CN" altLang="en-US" dirty="0">
                <a:latin typeface="微软雅黑" panose="020B0503020204020204" pitchFamily="34" charset="-122"/>
                <a:ea typeface="微软雅黑" panose="020B0503020204020204" pitchFamily="34" charset="-122"/>
              </a:endParaRPr>
            </a:p>
          </p:txBody>
        </p:sp>
        <p:cxnSp>
          <p:nvCxnSpPr>
            <p:cNvPr id="47" name="直接箭头连接符 46">
              <a:extLst>
                <a:ext uri="{FF2B5EF4-FFF2-40B4-BE49-F238E27FC236}">
                  <a16:creationId xmlns:a16="http://schemas.microsoft.com/office/drawing/2014/main" id="{80980AEA-B2BD-49E0-80F3-5902FE1128D1}"/>
                </a:ext>
              </a:extLst>
            </p:cNvPr>
            <p:cNvCxnSpPr/>
            <p:nvPr/>
          </p:nvCxnSpPr>
          <p:spPr>
            <a:xfrm>
              <a:off x="7932108" y="4295711"/>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B0ABD55B-CA14-4426-A074-1ACE00DF5E29}"/>
                </a:ext>
              </a:extLst>
            </p:cNvPr>
            <p:cNvCxnSpPr>
              <a:cxnSpLocks/>
            </p:cNvCxnSpPr>
            <p:nvPr/>
          </p:nvCxnSpPr>
          <p:spPr>
            <a:xfrm>
              <a:off x="7948535" y="3395751"/>
              <a:ext cx="2869958" cy="11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74BB7A9-03AA-429A-A9AE-1A0799114ACF}"/>
                </a:ext>
              </a:extLst>
            </p:cNvPr>
            <p:cNvCxnSpPr>
              <a:cxnSpLocks/>
            </p:cNvCxnSpPr>
            <p:nvPr/>
          </p:nvCxnSpPr>
          <p:spPr>
            <a:xfrm>
              <a:off x="7963419" y="3852946"/>
              <a:ext cx="2852146" cy="2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09D7B6EE-E9B0-4E4E-92D6-E73E48D4F42B}"/>
                </a:ext>
              </a:extLst>
            </p:cNvPr>
            <p:cNvCxnSpPr>
              <a:cxnSpLocks/>
            </p:cNvCxnSpPr>
            <p:nvPr/>
          </p:nvCxnSpPr>
          <p:spPr>
            <a:xfrm flipH="1">
              <a:off x="7948535" y="4789267"/>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704656B1-63B8-45B8-9771-BDAC1C7E2C0A}"/>
                </a:ext>
              </a:extLst>
            </p:cNvPr>
            <p:cNvCxnSpPr>
              <a:cxnSpLocks/>
            </p:cNvCxnSpPr>
            <p:nvPr/>
          </p:nvCxnSpPr>
          <p:spPr>
            <a:xfrm>
              <a:off x="7939035" y="5227823"/>
              <a:ext cx="2889500"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3DFA63D2-4D01-46D4-95D8-68C4AA9218C6}"/>
                </a:ext>
              </a:extLst>
            </p:cNvPr>
            <p:cNvCxnSpPr/>
            <p:nvPr/>
          </p:nvCxnSpPr>
          <p:spPr>
            <a:xfrm>
              <a:off x="7298405" y="2982769"/>
              <a:ext cx="4170218" cy="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DE1184FE-C237-475C-86FB-95A8744AAAE9}"/>
                </a:ext>
              </a:extLst>
            </p:cNvPr>
            <p:cNvSpPr txBox="1"/>
            <p:nvPr/>
          </p:nvSpPr>
          <p:spPr>
            <a:xfrm>
              <a:off x="8492705" y="2559926"/>
              <a:ext cx="1789951"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Discover</a:t>
              </a:r>
              <a:r>
                <a:rPr lang="zh-CN" altLang="en-US" dirty="0">
                  <a:latin typeface="微软雅黑" panose="020B0503020204020204" pitchFamily="34" charset="-122"/>
                  <a:ea typeface="微软雅黑" panose="020B0503020204020204" pitchFamily="34" charset="-122"/>
                </a:rPr>
                <a:t>阶段</a:t>
              </a:r>
            </a:p>
          </p:txBody>
        </p:sp>
      </p:grpSp>
      <p:sp>
        <p:nvSpPr>
          <p:cNvPr id="23" name="文本框 22">
            <a:extLst>
              <a:ext uri="{FF2B5EF4-FFF2-40B4-BE49-F238E27FC236}">
                <a16:creationId xmlns:a16="http://schemas.microsoft.com/office/drawing/2014/main" id="{082E9F18-BBDD-4631-A195-4CCA2A4ECA61}"/>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
        <p:nvSpPr>
          <p:cNvPr id="24"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cxnSp>
        <p:nvCxnSpPr>
          <p:cNvPr id="28" name="直接箭头连接符 27">
            <a:extLst>
              <a:ext uri="{FF2B5EF4-FFF2-40B4-BE49-F238E27FC236}">
                <a16:creationId xmlns:a16="http://schemas.microsoft.com/office/drawing/2014/main" id="{472C45C4-DB05-41FF-9C34-E62B8223F219}"/>
              </a:ext>
            </a:extLst>
          </p:cNvPr>
          <p:cNvCxnSpPr>
            <a:cxnSpLocks/>
          </p:cNvCxnSpPr>
          <p:nvPr/>
        </p:nvCxnSpPr>
        <p:spPr>
          <a:xfrm>
            <a:off x="8254518" y="5708440"/>
            <a:ext cx="2858697"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45613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E749A-3A56-4848-8201-AE952FDAE574}"/>
              </a:ext>
            </a:extLst>
          </p:cNvPr>
          <p:cNvSpPr>
            <a:spLocks noGrp="1"/>
          </p:cNvSpPr>
          <p:nvPr>
            <p:ph type="title"/>
          </p:nvPr>
        </p:nvSpPr>
        <p:spPr>
          <a:xfrm>
            <a:off x="1307508" y="352769"/>
            <a:ext cx="8220812" cy="879086"/>
          </a:xfrm>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4DD0F5DF-ACC6-EF47-8712-87783CAA3125}"/>
              </a:ext>
            </a:extLst>
          </p:cNvPr>
          <p:cNvSpPr>
            <a:spLocks noGrp="1"/>
          </p:cNvSpPr>
          <p:nvPr>
            <p:ph idx="1"/>
          </p:nvPr>
        </p:nvSpPr>
        <p:spPr>
          <a:xfrm>
            <a:off x="593125" y="1247836"/>
            <a:ext cx="6878064" cy="5108514"/>
          </a:xfrm>
        </p:spPr>
        <p:txBody>
          <a:bodyPr>
            <a:noAutofit/>
          </a:bodyPr>
          <a:lstStyle/>
          <a:p>
            <a:pPr fontAlgn="base">
              <a:lnSpc>
                <a:spcPct val="150000"/>
              </a:lnSpc>
            </a:pPr>
            <a:r>
              <a:rPr lang="en-US" altLang="zh-CN" dirty="0"/>
              <a:t>Terminate</a:t>
            </a:r>
            <a:r>
              <a:rPr lang="zh-CN" altLang="en-US" dirty="0"/>
              <a:t>阶段，终止方式有两种：</a:t>
            </a:r>
            <a:endParaRPr lang="en-US" altLang="zh-CN" dirty="0"/>
          </a:p>
          <a:p>
            <a:pPr lvl="1" fontAlgn="base">
              <a:lnSpc>
                <a:spcPct val="150000"/>
              </a:lnSpc>
            </a:pPr>
            <a:r>
              <a:rPr lang="en-US" altLang="zh-CN" dirty="0"/>
              <a:t>PPP</a:t>
            </a:r>
            <a:r>
              <a:rPr lang="zh-CN" altLang="en-US" dirty="0"/>
              <a:t>协议自身（比如</a:t>
            </a:r>
            <a:r>
              <a:rPr lang="en-US" altLang="zh-CN" dirty="0"/>
              <a:t>PPP</a:t>
            </a:r>
            <a:r>
              <a:rPr lang="zh-CN" altLang="en-US" dirty="0"/>
              <a:t>终结报文）来结束</a:t>
            </a:r>
            <a:r>
              <a:rPr lang="en-US" altLang="zh-CN" dirty="0"/>
              <a:t>PPPoE</a:t>
            </a:r>
            <a:r>
              <a:rPr lang="zh-CN" altLang="en-US" dirty="0"/>
              <a:t>会话</a:t>
            </a:r>
            <a:endParaRPr lang="en-US" altLang="zh-CN" dirty="0"/>
          </a:p>
          <a:p>
            <a:pPr lvl="1" fontAlgn="base">
              <a:lnSpc>
                <a:spcPct val="150000"/>
              </a:lnSpc>
            </a:pPr>
            <a:r>
              <a:rPr lang="zh-CN" altLang="en-US" dirty="0"/>
              <a:t>使用</a:t>
            </a:r>
            <a:r>
              <a:rPr lang="en-US" altLang="zh-CN" dirty="0"/>
              <a:t>PADT</a:t>
            </a:r>
            <a:r>
              <a:rPr lang="zh-CN" altLang="en-US" dirty="0"/>
              <a:t>报文终结会话</a:t>
            </a:r>
            <a:endParaRPr lang="en-US" altLang="zh-CN" dirty="0"/>
          </a:p>
          <a:p>
            <a:pPr lvl="2" fontAlgn="base">
              <a:lnSpc>
                <a:spcPct val="150000"/>
              </a:lnSpc>
            </a:pPr>
            <a:r>
              <a:rPr lang="zh-CN" altLang="en-US" dirty="0"/>
              <a:t>进入</a:t>
            </a:r>
            <a:r>
              <a:rPr lang="en-US" altLang="zh-CN" dirty="0"/>
              <a:t>PPPoE Session</a:t>
            </a:r>
            <a:r>
              <a:rPr lang="zh-CN" altLang="en-US" dirty="0"/>
              <a:t>阶段后，</a:t>
            </a:r>
            <a:r>
              <a:rPr lang="en-US" altLang="zh-CN" dirty="0"/>
              <a:t>PPPoE Client</a:t>
            </a:r>
            <a:r>
              <a:rPr lang="zh-CN" altLang="en-US" dirty="0"/>
              <a:t>和</a:t>
            </a:r>
            <a:r>
              <a:rPr lang="en-US" altLang="zh-CN" dirty="0"/>
              <a:t>PPPoE Server</a:t>
            </a:r>
            <a:r>
              <a:rPr lang="zh-CN" altLang="en-US" dirty="0"/>
              <a:t>都可以通过发</a:t>
            </a:r>
            <a:r>
              <a:rPr lang="en-US" altLang="zh-CN" dirty="0"/>
              <a:t>PADT</a:t>
            </a:r>
            <a:r>
              <a:rPr lang="zh-CN" altLang="en-US" dirty="0"/>
              <a:t>报文的方式来结束</a:t>
            </a:r>
            <a:r>
              <a:rPr lang="en-US" altLang="zh-CN" dirty="0" err="1"/>
              <a:t>PPPoE</a:t>
            </a:r>
            <a:r>
              <a:rPr lang="zh-CN" altLang="en-US" dirty="0"/>
              <a:t>连接</a:t>
            </a:r>
            <a:endParaRPr lang="en-US" altLang="zh-CN" dirty="0"/>
          </a:p>
          <a:p>
            <a:pPr lvl="2" fontAlgn="base">
              <a:lnSpc>
                <a:spcPct val="150000"/>
              </a:lnSpc>
            </a:pPr>
            <a:r>
              <a:rPr lang="en-US" altLang="zh-CN" dirty="0"/>
              <a:t>PADT</a:t>
            </a:r>
            <a:r>
              <a:rPr lang="zh-CN" altLang="en-US" dirty="0"/>
              <a:t>数据包可以在会话建立以后的任意时刻</a:t>
            </a:r>
            <a:r>
              <a:rPr lang="zh-CN" altLang="en-US" dirty="0">
                <a:solidFill>
                  <a:srgbClr val="C00000"/>
                </a:solidFill>
              </a:rPr>
              <a:t>单播发送</a:t>
            </a:r>
            <a:r>
              <a:rPr lang="zh-CN" altLang="en-US" dirty="0"/>
              <a:t>。</a:t>
            </a:r>
            <a:endParaRPr lang="en-US" altLang="zh-CN" dirty="0"/>
          </a:p>
        </p:txBody>
      </p:sp>
      <p:grpSp>
        <p:nvGrpSpPr>
          <p:cNvPr id="14" name="组合 13"/>
          <p:cNvGrpSpPr/>
          <p:nvPr/>
        </p:nvGrpSpPr>
        <p:grpSpPr>
          <a:xfrm>
            <a:off x="7632521" y="1193372"/>
            <a:ext cx="4559478" cy="5400472"/>
            <a:chOff x="7452694" y="1220833"/>
            <a:chExt cx="5026936" cy="5400472"/>
          </a:xfrm>
        </p:grpSpPr>
        <p:pic>
          <p:nvPicPr>
            <p:cNvPr id="81" name="图片 80">
              <a:extLst>
                <a:ext uri="{FF2B5EF4-FFF2-40B4-BE49-F238E27FC236}">
                  <a16:creationId xmlns:a16="http://schemas.microsoft.com/office/drawing/2014/main" id="{382330D0-3B02-4132-B723-FC9CDC5DC21A}"/>
                </a:ext>
              </a:extLst>
            </p:cNvPr>
            <p:cNvPicPr>
              <a:picLocks noChangeAspect="1"/>
            </p:cNvPicPr>
            <p:nvPr/>
          </p:nvPicPr>
          <p:blipFill>
            <a:blip r:embed="rId3"/>
            <a:stretch>
              <a:fillRect/>
            </a:stretch>
          </p:blipFill>
          <p:spPr>
            <a:xfrm>
              <a:off x="7595759" y="1565775"/>
              <a:ext cx="1100146" cy="771531"/>
            </a:xfrm>
            <a:prstGeom prst="rect">
              <a:avLst/>
            </a:prstGeom>
          </p:spPr>
        </p:pic>
        <p:pic>
          <p:nvPicPr>
            <p:cNvPr id="82" name="图片 81">
              <a:extLst>
                <a:ext uri="{FF2B5EF4-FFF2-40B4-BE49-F238E27FC236}">
                  <a16:creationId xmlns:a16="http://schemas.microsoft.com/office/drawing/2014/main" id="{46F3D27F-C949-47EF-A2C8-1382972C0249}"/>
                </a:ext>
              </a:extLst>
            </p:cNvPr>
            <p:cNvPicPr>
              <a:picLocks noChangeAspect="1"/>
            </p:cNvPicPr>
            <p:nvPr/>
          </p:nvPicPr>
          <p:blipFill>
            <a:blip r:embed="rId3"/>
            <a:stretch>
              <a:fillRect/>
            </a:stretch>
          </p:blipFill>
          <p:spPr>
            <a:xfrm>
              <a:off x="10456854" y="1549350"/>
              <a:ext cx="1100146" cy="771531"/>
            </a:xfrm>
            <a:prstGeom prst="rect">
              <a:avLst/>
            </a:prstGeom>
          </p:spPr>
        </p:pic>
        <p:cxnSp>
          <p:nvCxnSpPr>
            <p:cNvPr id="83" name="直接箭头连接符 82">
              <a:extLst>
                <a:ext uri="{FF2B5EF4-FFF2-40B4-BE49-F238E27FC236}">
                  <a16:creationId xmlns:a16="http://schemas.microsoft.com/office/drawing/2014/main" id="{81FC72D4-D14A-4260-A452-BFA2AD71EC36}"/>
                </a:ext>
              </a:extLst>
            </p:cNvPr>
            <p:cNvCxnSpPr>
              <a:cxnSpLocks/>
              <a:stCxn id="81" idx="2"/>
            </p:cNvCxnSpPr>
            <p:nvPr/>
          </p:nvCxnSpPr>
          <p:spPr>
            <a:xfrm>
              <a:off x="8145832" y="2337305"/>
              <a:ext cx="0" cy="4284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BE3E3146-9100-489D-85B5-BB0BA9E39121}"/>
                </a:ext>
              </a:extLst>
            </p:cNvPr>
            <p:cNvCxnSpPr/>
            <p:nvPr/>
          </p:nvCxnSpPr>
          <p:spPr>
            <a:xfrm>
              <a:off x="11035928" y="2336405"/>
              <a:ext cx="0" cy="4284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941BE211-5728-4512-8DF9-0306516E8A6C}"/>
                </a:ext>
              </a:extLst>
            </p:cNvPr>
            <p:cNvCxnSpPr/>
            <p:nvPr/>
          </p:nvCxnSpPr>
          <p:spPr>
            <a:xfrm>
              <a:off x="8159032" y="2733163"/>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56CE8204-C643-460B-AC53-5DA95643FCE9}"/>
                </a:ext>
              </a:extLst>
            </p:cNvPr>
            <p:cNvSpPr txBox="1"/>
            <p:nvPr/>
          </p:nvSpPr>
          <p:spPr>
            <a:xfrm>
              <a:off x="8788719" y="2421067"/>
              <a:ext cx="1213024" cy="3785652"/>
            </a:xfrm>
            <a:prstGeom prst="rect">
              <a:avLst/>
            </a:prstGeom>
            <a:noFill/>
          </p:spPr>
          <p:txBody>
            <a:bodyPr wrap="none" rtlCol="0">
              <a:spAutoFit/>
            </a:bodyPr>
            <a:lstStyle/>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PADI</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PADO</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PADR</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PADS</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a:lnSpc>
                  <a:spcPts val="1800"/>
                </a:lnSpc>
              </a:pPr>
              <a:r>
                <a:rPr lang="en-US" altLang="zh-CN" dirty="0">
                  <a:latin typeface="微软雅黑" panose="020B0503020204020204" pitchFamily="34" charset="-122"/>
                  <a:ea typeface="微软雅黑" panose="020B0503020204020204" pitchFamily="34" charset="-122"/>
                </a:rPr>
                <a:t>PPP</a:t>
              </a:r>
              <a:r>
                <a:rPr lang="zh-CN" altLang="en-US" dirty="0">
                  <a:latin typeface="微软雅黑" panose="020B0503020204020204" pitchFamily="34" charset="-122"/>
                  <a:ea typeface="微软雅黑" panose="020B0503020204020204" pitchFamily="34" charset="-122"/>
                </a:rPr>
                <a:t>协商</a:t>
              </a:r>
              <a:endParaRPr lang="en-US" altLang="zh-CN" dirty="0">
                <a:latin typeface="微软雅黑" panose="020B0503020204020204" pitchFamily="34" charset="-122"/>
                <a:ea typeface="微软雅黑" panose="020B0503020204020204" pitchFamily="34" charset="-122"/>
              </a:endParaRPr>
            </a:p>
            <a:p>
              <a:pPr>
                <a:lnSpc>
                  <a:spcPts val="1800"/>
                </a:lnSpc>
              </a:pPr>
              <a:endParaRPr lang="en-US" altLang="zh-CN" dirty="0">
                <a:latin typeface="微软雅黑" panose="020B0503020204020204" pitchFamily="34" charset="-122"/>
                <a:ea typeface="微软雅黑" panose="020B0503020204020204" pitchFamily="34" charset="-122"/>
              </a:endParaRPr>
            </a:p>
            <a:p>
              <a:pPr>
                <a:lnSpc>
                  <a:spcPts val="1800"/>
                </a:lnSpc>
              </a:pPr>
              <a:r>
                <a:rPr lang="zh-CN" altLang="en-US" dirty="0">
                  <a:latin typeface="微软雅黑" panose="020B0503020204020204" pitchFamily="34" charset="-122"/>
                  <a:ea typeface="微软雅黑" panose="020B0503020204020204" pitchFamily="34" charset="-122"/>
                </a:rPr>
                <a:t>数据传输</a:t>
              </a:r>
              <a:endParaRPr lang="en-US" altLang="zh-CN" dirty="0">
                <a:latin typeface="微软雅黑" panose="020B0503020204020204" pitchFamily="34" charset="-122"/>
                <a:ea typeface="微软雅黑" panose="020B0503020204020204" pitchFamily="34" charset="-122"/>
              </a:endParaRPr>
            </a:p>
            <a:p>
              <a:pPr>
                <a:lnSpc>
                  <a:spcPts val="1800"/>
                </a:lnSpc>
              </a:pPr>
              <a:endParaRPr lang="en-US" altLang="zh-CN" dirty="0">
                <a:latin typeface="微软雅黑" panose="020B0503020204020204" pitchFamily="34" charset="-122"/>
                <a:ea typeface="微软雅黑" panose="020B0503020204020204" pitchFamily="34" charset="-122"/>
              </a:endParaRPr>
            </a:p>
            <a:p>
              <a:pPr>
                <a:lnSpc>
                  <a:spcPts val="1800"/>
                </a:lnSpc>
              </a:pPr>
              <a:endParaRPr lang="en-US" altLang="zh-CN" dirty="0">
                <a:latin typeface="微软雅黑" panose="020B0503020204020204" pitchFamily="34" charset="-122"/>
                <a:ea typeface="微软雅黑" panose="020B0503020204020204" pitchFamily="34" charset="-122"/>
              </a:endParaRPr>
            </a:p>
            <a:p>
              <a:pPr>
                <a:lnSpc>
                  <a:spcPts val="1800"/>
                </a:lnSpc>
              </a:pPr>
              <a:endParaRPr lang="en-US" altLang="zh-CN" dirty="0">
                <a:latin typeface="微软雅黑" panose="020B0503020204020204" pitchFamily="34" charset="-122"/>
                <a:ea typeface="微软雅黑" panose="020B0503020204020204" pitchFamily="34" charset="-122"/>
              </a:endParaRPr>
            </a:p>
            <a:p>
              <a:pPr>
                <a:lnSpc>
                  <a:spcPts val="1800"/>
                </a:lnSpc>
              </a:pPr>
              <a:r>
                <a:rPr lang="en-US" altLang="zh-CN" dirty="0">
                  <a:latin typeface="微软雅黑" panose="020B0503020204020204" pitchFamily="34" charset="-122"/>
                  <a:ea typeface="微软雅黑" panose="020B0503020204020204" pitchFamily="34" charset="-122"/>
                </a:rPr>
                <a:t>PADT</a:t>
              </a:r>
            </a:p>
          </p:txBody>
        </p:sp>
        <p:sp>
          <p:nvSpPr>
            <p:cNvPr id="87" name="文本框 86">
              <a:extLst>
                <a:ext uri="{FF2B5EF4-FFF2-40B4-BE49-F238E27FC236}">
                  <a16:creationId xmlns:a16="http://schemas.microsoft.com/office/drawing/2014/main" id="{92993212-6DD9-4B00-A8DC-45A149CE19D6}"/>
                </a:ext>
              </a:extLst>
            </p:cNvPr>
            <p:cNvSpPr txBox="1"/>
            <p:nvPr/>
          </p:nvSpPr>
          <p:spPr>
            <a:xfrm>
              <a:off x="7452694" y="1247836"/>
              <a:ext cx="1949253"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Client</a:t>
              </a:r>
              <a:endParaRPr lang="zh-CN" altLang="en-US" dirty="0">
                <a:latin typeface="微软雅黑" panose="020B0503020204020204" pitchFamily="34" charset="-122"/>
                <a:ea typeface="微软雅黑" panose="020B0503020204020204" pitchFamily="34" charset="-122"/>
              </a:endParaRPr>
            </a:p>
          </p:txBody>
        </p:sp>
        <p:sp>
          <p:nvSpPr>
            <p:cNvPr id="88" name="文本框 87">
              <a:extLst>
                <a:ext uri="{FF2B5EF4-FFF2-40B4-BE49-F238E27FC236}">
                  <a16:creationId xmlns:a16="http://schemas.microsoft.com/office/drawing/2014/main" id="{3D4B0F35-42CF-465C-BC10-0E755B415FA6}"/>
                </a:ext>
              </a:extLst>
            </p:cNvPr>
            <p:cNvSpPr txBox="1"/>
            <p:nvPr/>
          </p:nvSpPr>
          <p:spPr>
            <a:xfrm>
              <a:off x="10326393" y="1220833"/>
              <a:ext cx="1806301"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Server</a:t>
              </a:r>
              <a:endParaRPr lang="zh-CN" altLang="en-US" dirty="0">
                <a:latin typeface="微软雅黑" panose="020B0503020204020204" pitchFamily="34" charset="-122"/>
                <a:ea typeface="微软雅黑" panose="020B0503020204020204" pitchFamily="34" charset="-122"/>
              </a:endParaRPr>
            </a:p>
          </p:txBody>
        </p:sp>
        <p:cxnSp>
          <p:nvCxnSpPr>
            <p:cNvPr id="89" name="直接箭头连接符 88">
              <a:extLst>
                <a:ext uri="{FF2B5EF4-FFF2-40B4-BE49-F238E27FC236}">
                  <a16:creationId xmlns:a16="http://schemas.microsoft.com/office/drawing/2014/main" id="{51282779-FEA6-430E-9788-2F94C2B8331C}"/>
                </a:ext>
              </a:extLst>
            </p:cNvPr>
            <p:cNvCxnSpPr/>
            <p:nvPr/>
          </p:nvCxnSpPr>
          <p:spPr>
            <a:xfrm>
              <a:off x="8174557" y="3663105"/>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a:extLst>
                <a:ext uri="{FF2B5EF4-FFF2-40B4-BE49-F238E27FC236}">
                  <a16:creationId xmlns:a16="http://schemas.microsoft.com/office/drawing/2014/main" id="{45C8C90C-31FF-45B8-8109-B9EF24E0ABB0}"/>
                </a:ext>
              </a:extLst>
            </p:cNvPr>
            <p:cNvCxnSpPr>
              <a:cxnSpLocks/>
            </p:cNvCxnSpPr>
            <p:nvPr/>
          </p:nvCxnSpPr>
          <p:spPr>
            <a:xfrm flipH="1">
              <a:off x="8141693" y="3208628"/>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2155C50D-54A2-49E1-B2A4-320F1B3B4343}"/>
                </a:ext>
              </a:extLst>
            </p:cNvPr>
            <p:cNvCxnSpPr>
              <a:cxnSpLocks/>
            </p:cNvCxnSpPr>
            <p:nvPr/>
          </p:nvCxnSpPr>
          <p:spPr>
            <a:xfrm flipH="1">
              <a:off x="8151735" y="4094734"/>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E6A9F28F-46C4-405D-9F2D-AB506A8D8722}"/>
                </a:ext>
              </a:extLst>
            </p:cNvPr>
            <p:cNvCxnSpPr>
              <a:cxnSpLocks/>
            </p:cNvCxnSpPr>
            <p:nvPr/>
          </p:nvCxnSpPr>
          <p:spPr>
            <a:xfrm>
              <a:off x="8135308" y="4743336"/>
              <a:ext cx="2852146" cy="2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F8F28CAF-EE0E-4A47-9C9A-6CA87E79FBBE}"/>
                </a:ext>
              </a:extLst>
            </p:cNvPr>
            <p:cNvCxnSpPr>
              <a:cxnSpLocks/>
            </p:cNvCxnSpPr>
            <p:nvPr/>
          </p:nvCxnSpPr>
          <p:spPr>
            <a:xfrm>
              <a:off x="8142235" y="6127302"/>
              <a:ext cx="2852146" cy="2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02E9040F-EF48-472B-8806-5DF6DE2EB07A}"/>
                </a:ext>
              </a:extLst>
            </p:cNvPr>
            <p:cNvCxnSpPr/>
            <p:nvPr/>
          </p:nvCxnSpPr>
          <p:spPr>
            <a:xfrm>
              <a:off x="7824892" y="4260585"/>
              <a:ext cx="4307802" cy="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5" name="文本框 94">
              <a:extLst>
                <a:ext uri="{FF2B5EF4-FFF2-40B4-BE49-F238E27FC236}">
                  <a16:creationId xmlns:a16="http://schemas.microsoft.com/office/drawing/2014/main" id="{7C492553-1CDD-48D3-BBE9-9E5F407345D1}"/>
                </a:ext>
              </a:extLst>
            </p:cNvPr>
            <p:cNvSpPr txBox="1"/>
            <p:nvPr/>
          </p:nvSpPr>
          <p:spPr>
            <a:xfrm>
              <a:off x="11021693" y="3352800"/>
              <a:ext cx="1298097"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Discover</a:t>
              </a:r>
              <a:endParaRPr lang="zh-CN" altLang="en-US" dirty="0">
                <a:latin typeface="微软雅黑" panose="020B0503020204020204" pitchFamily="34" charset="-122"/>
                <a:ea typeface="微软雅黑" panose="020B0503020204020204" pitchFamily="34" charset="-122"/>
              </a:endParaRPr>
            </a:p>
          </p:txBody>
        </p:sp>
        <p:sp>
          <p:nvSpPr>
            <p:cNvPr id="96" name="文本框 95">
              <a:extLst>
                <a:ext uri="{FF2B5EF4-FFF2-40B4-BE49-F238E27FC236}">
                  <a16:creationId xmlns:a16="http://schemas.microsoft.com/office/drawing/2014/main" id="{7A580967-AC33-4BE3-A0A6-39CD5FE522C7}"/>
                </a:ext>
              </a:extLst>
            </p:cNvPr>
            <p:cNvSpPr txBox="1"/>
            <p:nvPr/>
          </p:nvSpPr>
          <p:spPr>
            <a:xfrm>
              <a:off x="11021693" y="4614373"/>
              <a:ext cx="1223955"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Session</a:t>
              </a:r>
              <a:endParaRPr lang="zh-CN" altLang="en-US" dirty="0">
                <a:latin typeface="微软雅黑" panose="020B0503020204020204" pitchFamily="34" charset="-122"/>
                <a:ea typeface="微软雅黑" panose="020B0503020204020204" pitchFamily="34" charset="-122"/>
              </a:endParaRPr>
            </a:p>
          </p:txBody>
        </p:sp>
        <p:cxnSp>
          <p:nvCxnSpPr>
            <p:cNvPr id="97" name="直接箭头连接符 96">
              <a:extLst>
                <a:ext uri="{FF2B5EF4-FFF2-40B4-BE49-F238E27FC236}">
                  <a16:creationId xmlns:a16="http://schemas.microsoft.com/office/drawing/2014/main" id="{472C45C4-DB05-41FF-9C34-E62B8223F219}"/>
                </a:ext>
              </a:extLst>
            </p:cNvPr>
            <p:cNvCxnSpPr>
              <a:cxnSpLocks/>
            </p:cNvCxnSpPr>
            <p:nvPr/>
          </p:nvCxnSpPr>
          <p:spPr>
            <a:xfrm>
              <a:off x="8142235" y="5200534"/>
              <a:ext cx="2852146" cy="2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316CC565-60F3-4B5B-8A81-5CAD69B8FD07}"/>
                </a:ext>
              </a:extLst>
            </p:cNvPr>
            <p:cNvCxnSpPr/>
            <p:nvPr/>
          </p:nvCxnSpPr>
          <p:spPr>
            <a:xfrm>
              <a:off x="7824892" y="5452076"/>
              <a:ext cx="4282295" cy="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6A13955C-2E3D-491F-A0F0-3661859E8D2A}"/>
                </a:ext>
              </a:extLst>
            </p:cNvPr>
            <p:cNvSpPr txBox="1"/>
            <p:nvPr/>
          </p:nvSpPr>
          <p:spPr>
            <a:xfrm>
              <a:off x="10972801" y="5847427"/>
              <a:ext cx="150682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Terminate</a:t>
              </a:r>
              <a:endParaRPr lang="zh-CN" altLang="en-US" dirty="0">
                <a:latin typeface="微软雅黑" panose="020B0503020204020204" pitchFamily="34" charset="-122"/>
                <a:ea typeface="微软雅黑" panose="020B0503020204020204" pitchFamily="34" charset="-122"/>
              </a:endParaRPr>
            </a:p>
          </p:txBody>
        </p:sp>
      </p:grpSp>
      <p:sp>
        <p:nvSpPr>
          <p:cNvPr id="24" name="文本框 23">
            <a:extLst>
              <a:ext uri="{FF2B5EF4-FFF2-40B4-BE49-F238E27FC236}">
                <a16:creationId xmlns:a16="http://schemas.microsoft.com/office/drawing/2014/main" id="{AC63C87C-F63E-459C-B8A8-4E1DE1B3EFCD}"/>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
        <p:nvSpPr>
          <p:cNvPr id="25"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1806943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本章总结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a:bodyPr>
          <a:lstStyle/>
          <a:p>
            <a:pPr>
              <a:lnSpc>
                <a:spcPct val="130000"/>
              </a:lnSpc>
            </a:pPr>
            <a:r>
              <a:rPr kumimoji="1" lang="zh-CN" altLang="en-US" dirty="0"/>
              <a:t>通过本章学习，重点掌握如下知识点：</a:t>
            </a:r>
            <a:endParaRPr kumimoji="1" lang="en-US" altLang="zh-CN" dirty="0"/>
          </a:p>
          <a:p>
            <a:pPr lvl="1">
              <a:lnSpc>
                <a:spcPct val="130000"/>
              </a:lnSpc>
            </a:pPr>
            <a:r>
              <a:rPr kumimoji="1" lang="zh-CN" altLang="en-US" dirty="0"/>
              <a:t>理解数据链路层在五层网络体系结构中的位置及解决的问题，了解数据链路层提供的服务类型</a:t>
            </a:r>
          </a:p>
          <a:p>
            <a:pPr lvl="1">
              <a:lnSpc>
                <a:spcPct val="130000"/>
              </a:lnSpc>
            </a:pPr>
            <a:r>
              <a:rPr kumimoji="1" lang="zh-CN" altLang="en-US" dirty="0"/>
              <a:t>掌握差错检测和纠正的基本原理和典型的编码方法</a:t>
            </a:r>
          </a:p>
          <a:p>
            <a:pPr lvl="1">
              <a:lnSpc>
                <a:spcPct val="130000"/>
              </a:lnSpc>
            </a:pPr>
            <a:r>
              <a:rPr kumimoji="1" lang="zh-CN" altLang="en-US" dirty="0"/>
              <a:t>掌握无错信道和有错信道上停等协议的设计和实现方法</a:t>
            </a:r>
          </a:p>
          <a:p>
            <a:pPr lvl="1">
              <a:lnSpc>
                <a:spcPct val="130000"/>
              </a:lnSpc>
            </a:pPr>
            <a:r>
              <a:rPr kumimoji="1" lang="zh-CN" altLang="en-US" dirty="0"/>
              <a:t>理解</a:t>
            </a:r>
            <a:r>
              <a:rPr kumimoji="1" lang="zh-CN" altLang="zh-CN" dirty="0"/>
              <a:t>停等协议的性能问题及滑动窗口协议</a:t>
            </a:r>
            <a:r>
              <a:rPr kumimoji="1" lang="zh-CN" altLang="en-US" dirty="0"/>
              <a:t>的</a:t>
            </a:r>
            <a:r>
              <a:rPr kumimoji="1" lang="zh-CN" altLang="zh-CN" dirty="0"/>
              <a:t>基本思想</a:t>
            </a:r>
            <a:endParaRPr kumimoji="1" lang="en-US" altLang="zh-CN" dirty="0"/>
          </a:p>
          <a:p>
            <a:pPr lvl="1">
              <a:lnSpc>
                <a:spcPct val="130000"/>
              </a:lnSpc>
            </a:pPr>
            <a:r>
              <a:rPr kumimoji="1" lang="zh-CN" altLang="en-US" dirty="0"/>
              <a:t>掌握</a:t>
            </a:r>
            <a:r>
              <a:rPr kumimoji="1" lang="zh-CN" altLang="zh-CN" dirty="0"/>
              <a:t>回退</a:t>
            </a:r>
            <a:r>
              <a:rPr kumimoji="1" lang="en-US" altLang="zh-CN" dirty="0"/>
              <a:t>N</a:t>
            </a:r>
            <a:r>
              <a:rPr kumimoji="1" lang="zh-CN" altLang="en-US" dirty="0"/>
              <a:t>和选择重传两种典型滑动窗口协议的工作机制</a:t>
            </a:r>
          </a:p>
          <a:p>
            <a:pPr lvl="1">
              <a:lnSpc>
                <a:spcPct val="130000"/>
              </a:lnSpc>
            </a:pPr>
            <a:r>
              <a:rPr lang="zh-CN" altLang="en-US" dirty="0"/>
              <a:t>掌握</a:t>
            </a:r>
            <a:r>
              <a:rPr lang="zh-CN" altLang="zh-CN" dirty="0"/>
              <a:t>点到点链路层协议</a:t>
            </a:r>
            <a:r>
              <a:rPr lang="en-US" altLang="zh-CN" dirty="0"/>
              <a:t>PPP</a:t>
            </a:r>
            <a:r>
              <a:rPr lang="zh-CN" altLang="en-US" dirty="0"/>
              <a:t>与</a:t>
            </a:r>
            <a:r>
              <a:rPr lang="en-US" altLang="zh-CN" dirty="0" err="1"/>
              <a:t>PPPoE</a:t>
            </a:r>
            <a:r>
              <a:rPr lang="zh-CN" altLang="en-US" dirty="0"/>
              <a:t>的工作机制</a:t>
            </a:r>
            <a:endParaRPr lang="en-US" altLang="zh-CN" dirty="0"/>
          </a:p>
        </p:txBody>
      </p:sp>
      <p:sp>
        <p:nvSpPr>
          <p:cNvPr id="4" name="灯片编号占位符 3">
            <a:extLst>
              <a:ext uri="{FF2B5EF4-FFF2-40B4-BE49-F238E27FC236}">
                <a16:creationId xmlns:a16="http://schemas.microsoft.com/office/drawing/2014/main" id="{0AF2A4F9-A487-9942-BCC1-285286959B52}"/>
              </a:ext>
            </a:extLst>
          </p:cNvPr>
          <p:cNvSpPr>
            <a:spLocks noGrp="1"/>
          </p:cNvSpPr>
          <p:nvPr>
            <p:ph type="sldNum" sz="quarter" idx="12"/>
          </p:nvPr>
        </p:nvSpPr>
        <p:spPr/>
        <p:txBody>
          <a:bodyPr/>
          <a:lstStyle/>
          <a:p>
            <a:fld id="{8D4D1E41-7A09-AB4A-A4E1-09765ADA2698}" type="slidenum">
              <a:rPr kumimoji="1" lang="zh-CN" altLang="en-US" smtClean="0"/>
              <a:t>79</a:t>
            </a:fld>
            <a:endParaRPr kumimoji="1" lang="zh-CN" altLang="en-US" dirty="0"/>
          </a:p>
        </p:txBody>
      </p:sp>
      <p:sp>
        <p:nvSpPr>
          <p:cNvPr id="5" name="文本框 4">
            <a:extLst>
              <a:ext uri="{FF2B5EF4-FFF2-40B4-BE49-F238E27FC236}">
                <a16:creationId xmlns:a16="http://schemas.microsoft.com/office/drawing/2014/main" id="{F584B7A2-45B8-4FFD-A1B7-8D04D69E1961}"/>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6974612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14088</TotalTime>
  <Words>9311</Words>
  <Application>Microsoft Office PowerPoint</Application>
  <PresentationFormat>宽屏</PresentationFormat>
  <Paragraphs>1858</Paragraphs>
  <Slides>79</Slides>
  <Notes>52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79</vt:i4>
      </vt:variant>
    </vt:vector>
  </HeadingPairs>
  <TitlesOfParts>
    <vt:vector size="93" baseType="lpstr">
      <vt:lpstr>等线</vt:lpstr>
      <vt:lpstr>黑体</vt:lpstr>
      <vt:lpstr>楷体</vt:lpstr>
      <vt:lpstr>宋体</vt:lpstr>
      <vt:lpstr>微软雅黑</vt:lpstr>
      <vt:lpstr>微软雅黑</vt:lpstr>
      <vt:lpstr>Arial</vt:lpstr>
      <vt:lpstr>Calibri</vt:lpstr>
      <vt:lpstr>Courier New</vt:lpstr>
      <vt:lpstr>Segoe UI</vt:lpstr>
      <vt:lpstr>Symbol</vt:lpstr>
      <vt:lpstr>Times New Roman</vt:lpstr>
      <vt:lpstr>Wingdings</vt:lpstr>
      <vt:lpstr>Office 主题​​</vt:lpstr>
      <vt:lpstr>第三章 数据据链路层基础</vt:lpstr>
      <vt:lpstr>本章目标</vt:lpstr>
      <vt:lpstr>本章内容</vt:lpstr>
      <vt:lpstr>数据链路层在协议栈中的位置</vt:lpstr>
      <vt:lpstr>数据链路层的功能</vt:lpstr>
      <vt:lpstr>数据链路层提供的服务</vt:lpstr>
      <vt:lpstr>成帧（Framing）</vt:lpstr>
      <vt:lpstr>成帧（Framing）</vt:lpstr>
      <vt:lpstr>成帧（Framing）</vt:lpstr>
      <vt:lpstr>成帧（Framing）</vt:lpstr>
      <vt:lpstr>成帧（Framing）</vt:lpstr>
      <vt:lpstr>成帧（Framing）</vt:lpstr>
      <vt:lpstr>成帧（Framing）</vt:lpstr>
      <vt:lpstr>成帧（Framing）</vt:lpstr>
      <vt:lpstr>成帧（Framing）</vt:lpstr>
      <vt:lpstr>成帧（Framing）</vt:lpstr>
      <vt:lpstr>成帧（Framing）</vt:lpstr>
      <vt:lpstr>成帧（Framing）</vt:lpstr>
      <vt:lpstr>差错控制</vt:lpstr>
      <vt:lpstr>本章内容</vt:lpstr>
      <vt:lpstr>差错检测和纠正概述</vt:lpstr>
      <vt:lpstr>差错检测和纠正概述</vt:lpstr>
      <vt:lpstr>差错检测和纠正概述</vt:lpstr>
      <vt:lpstr>差错检测和纠正概述</vt:lpstr>
      <vt:lpstr>差错检测和纠正概述</vt:lpstr>
      <vt:lpstr>差错检测和纠正概述</vt:lpstr>
      <vt:lpstr>典型检错码</vt:lpstr>
      <vt:lpstr>典型检错码—奇偶校验</vt:lpstr>
      <vt:lpstr>典型检错码—校验和</vt:lpstr>
      <vt:lpstr>典型检错码—循环冗余校验CRC</vt:lpstr>
      <vt:lpstr>检错码—循环冗余校验CRC</vt:lpstr>
      <vt:lpstr>检错码—循环冗余校验CRC</vt:lpstr>
      <vt:lpstr>典型纠错码</vt:lpstr>
      <vt:lpstr>典型纠错码—海明码</vt:lpstr>
      <vt:lpstr>典型纠错码—海明码</vt:lpstr>
      <vt:lpstr>典型纠错码—海明码</vt:lpstr>
      <vt:lpstr>典型纠错码—海明码</vt:lpstr>
      <vt:lpstr>典型纠错码—海明码</vt:lpstr>
      <vt:lpstr>典型纠错码—海明码</vt:lpstr>
      <vt:lpstr>典型纠错码—海明码</vt:lpstr>
      <vt:lpstr>本章内容</vt:lpstr>
      <vt:lpstr>PPP协议简介</vt:lpstr>
      <vt:lpstr>PPP协议实现的功能</vt:lpstr>
      <vt:lpstr>PPP协议未实现的功能</vt:lpstr>
      <vt:lpstr>PPP协议的构成</vt:lpstr>
      <vt:lpstr>PPP协议的帧格式</vt:lpstr>
      <vt:lpstr>PPP协议的帧格式</vt:lpstr>
      <vt:lpstr>PPP协议的帧格式</vt:lpstr>
      <vt:lpstr>PPP协议的帧格式</vt:lpstr>
      <vt:lpstr>PPP协议的帧格式</vt:lpstr>
      <vt:lpstr>PPP协议的帧格式</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本章内容</vt:lpstr>
      <vt:lpstr>PPPoE概述</vt:lpstr>
      <vt:lpstr>PPPoE概述</vt:lpstr>
      <vt:lpstr>PPPoE组网方式</vt:lpstr>
      <vt:lpstr>PPPoE组网方式</vt:lpstr>
      <vt:lpstr>PPPoE报文格式</vt:lpstr>
      <vt:lpstr>PPPoE报文格式</vt:lpstr>
      <vt:lpstr>PPPoE工作过程</vt:lpstr>
      <vt:lpstr>PPPoE工作过程</vt:lpstr>
      <vt:lpstr>PPPoE工作过程</vt:lpstr>
      <vt:lpstr>PPPoE工作过程</vt:lpstr>
      <vt:lpstr>PPPoE工作过程</vt:lpstr>
      <vt:lpstr>本章总结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王津</cp:lastModifiedBy>
  <cp:revision>1291</cp:revision>
  <dcterms:created xsi:type="dcterms:W3CDTF">2021-01-06T05:35:51Z</dcterms:created>
  <dcterms:modified xsi:type="dcterms:W3CDTF">2021-04-15T05:35:44Z</dcterms:modified>
</cp:coreProperties>
</file>